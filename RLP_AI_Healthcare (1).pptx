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6" r:id="rId10"/>
    <p:sldId id="264" r:id="rId11"/>
    <p:sldId id="265"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82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5569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A2375-07A9-3A4F-C87B-824F5A13F6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E6DA5-1046-812B-3203-131E8ABC9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50D796-C63C-3A07-06BB-4DEE227D8C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0DE300-D7AF-6EC9-1618-1801D27BB3D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850426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2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979FF"/>
          </a:solidFill>
          <a:ln w="12700">
            <a:solidFill>
              <a:srgbClr val="2979FF"/>
            </a:solidFill>
            <a:prstDash val="solid"/>
          </a:ln>
        </p:spPr>
      </p:sp>
      <p:sp>
        <p:nvSpPr>
          <p:cNvPr id="3" name="Shape 1"/>
          <p:cNvSpPr/>
          <p:nvPr/>
        </p:nvSpPr>
        <p:spPr>
          <a:xfrm>
            <a:off x="0" y="0"/>
            <a:ext cx="9144000" cy="1005840"/>
          </a:xfrm>
          <a:prstGeom prst="rect">
            <a:avLst/>
          </a:prstGeom>
          <a:solidFill>
            <a:srgbClr val="1A3A6E"/>
          </a:solidFill>
          <a:ln w="12700">
            <a:solidFill>
              <a:srgbClr val="1A3A6E"/>
            </a:solidFill>
            <a:prstDash val="solid"/>
          </a:ln>
        </p:spPr>
      </p:sp>
      <p:sp>
        <p:nvSpPr>
          <p:cNvPr id="4" name="Text 2"/>
          <p:cNvSpPr/>
          <p:nvPr/>
        </p:nvSpPr>
        <p:spPr>
          <a:xfrm>
            <a:off x="0" y="91440"/>
            <a:ext cx="9144000" cy="457200"/>
          </a:xfrm>
          <a:prstGeom prst="rect">
            <a:avLst/>
          </a:prstGeom>
          <a:noFill/>
          <a:ln/>
        </p:spPr>
        <p:txBody>
          <a:bodyPr wrap="square" rtlCol="0" anchor="ctr"/>
          <a:lstStyle/>
          <a:p>
            <a:pPr marL="0" indent="0" algn="ctr">
              <a:buNone/>
            </a:pPr>
            <a:r>
              <a:rPr lang="en-US" sz="1100" b="1" dirty="0">
                <a:solidFill>
                  <a:srgbClr val="90CAF9"/>
                </a:solidFill>
                <a:latin typeface="Calibri" pitchFamily="34" charset="0"/>
                <a:ea typeface="Calibri" pitchFamily="34" charset="-122"/>
                <a:cs typeface="Calibri" pitchFamily="34" charset="-120"/>
              </a:rPr>
              <a:t>SHARDA SCHOOL OF BUSINESS STUDIES | SHARDA UNIVERSITY</a:t>
            </a:r>
            <a:endParaRPr lang="en-US" sz="1100" dirty="0"/>
          </a:p>
        </p:txBody>
      </p:sp>
      <p:sp>
        <p:nvSpPr>
          <p:cNvPr id="5" name="Text 3"/>
          <p:cNvSpPr/>
          <p:nvPr/>
        </p:nvSpPr>
        <p:spPr>
          <a:xfrm>
            <a:off x="0" y="502920"/>
            <a:ext cx="9144000" cy="365760"/>
          </a:xfrm>
          <a:prstGeom prst="rect">
            <a:avLst/>
          </a:prstGeom>
          <a:noFill/>
          <a:ln/>
        </p:spPr>
        <p:txBody>
          <a:bodyPr wrap="square" rtlCol="0" anchor="ctr"/>
          <a:lstStyle/>
          <a:p>
            <a:pPr marL="0" indent="0" algn="ctr">
              <a:buNone/>
            </a:pPr>
            <a:r>
              <a:rPr lang="en-US" sz="1000" dirty="0">
                <a:solidFill>
                  <a:srgbClr val="8EAFD4"/>
                </a:solidFill>
                <a:latin typeface="Calibri" pitchFamily="34" charset="0"/>
                <a:ea typeface="Calibri" pitchFamily="34" charset="-122"/>
                <a:cs typeface="Calibri" pitchFamily="34" charset="-120"/>
              </a:rPr>
              <a:t>Greater Noida, Uttar Pradesh | Session 2025-26</a:t>
            </a:r>
            <a:endParaRPr lang="en-US" sz="1000" dirty="0"/>
          </a:p>
        </p:txBody>
      </p:sp>
      <p:sp>
        <p:nvSpPr>
          <p:cNvPr id="6" name="Text 4"/>
          <p:cNvSpPr/>
          <p:nvPr/>
        </p:nvSpPr>
        <p:spPr>
          <a:xfrm>
            <a:off x="457200" y="1188720"/>
            <a:ext cx="8229600" cy="822960"/>
          </a:xfrm>
          <a:prstGeom prst="rect">
            <a:avLst/>
          </a:prstGeom>
          <a:noFill/>
          <a:ln/>
        </p:spPr>
        <p:txBody>
          <a:bodyPr wrap="square" rtlCol="0" anchor="ctr"/>
          <a:lstStyle/>
          <a:p>
            <a:pPr marL="0" indent="0" algn="ctr">
              <a:buNone/>
            </a:pPr>
            <a:r>
              <a:rPr lang="en-US" sz="4400" b="1" kern="0" spc="400" dirty="0">
                <a:solidFill>
                  <a:srgbClr val="FFFFFF"/>
                </a:solidFill>
                <a:latin typeface="Calibri" pitchFamily="34" charset="0"/>
                <a:ea typeface="Calibri" pitchFamily="34" charset="-122"/>
                <a:cs typeface="Calibri" pitchFamily="34" charset="-120"/>
              </a:rPr>
              <a:t>AI IN HEALTHCARE</a:t>
            </a:r>
            <a:endParaRPr lang="en-US" sz="4400" dirty="0"/>
          </a:p>
        </p:txBody>
      </p:sp>
      <p:sp>
        <p:nvSpPr>
          <p:cNvPr id="7" name="Text 5"/>
          <p:cNvSpPr/>
          <p:nvPr/>
        </p:nvSpPr>
        <p:spPr>
          <a:xfrm>
            <a:off x="457200" y="1965960"/>
            <a:ext cx="8229600" cy="457200"/>
          </a:xfrm>
          <a:prstGeom prst="rect">
            <a:avLst/>
          </a:prstGeom>
          <a:noFill/>
          <a:ln/>
        </p:spPr>
        <p:txBody>
          <a:bodyPr wrap="square" rtlCol="0" anchor="ctr"/>
          <a:lstStyle/>
          <a:p>
            <a:pPr marL="0" indent="0" algn="ctr">
              <a:buNone/>
            </a:pPr>
            <a:r>
              <a:rPr lang="en-US" sz="1600" i="1" dirty="0">
                <a:solidFill>
                  <a:srgbClr val="90CAF9"/>
                </a:solidFill>
                <a:latin typeface="Calibri" pitchFamily="34" charset="0"/>
                <a:ea typeface="Calibri" pitchFamily="34" charset="-122"/>
                <a:cs typeface="Calibri" pitchFamily="34" charset="-120"/>
              </a:rPr>
              <a:t>Reverse Learning Pedagogy — Field Study Report</a:t>
            </a:r>
            <a:endParaRPr lang="en-US" sz="1600" dirty="0"/>
          </a:p>
        </p:txBody>
      </p:sp>
      <p:sp>
        <p:nvSpPr>
          <p:cNvPr id="8" name="Shape 6"/>
          <p:cNvSpPr/>
          <p:nvPr/>
        </p:nvSpPr>
        <p:spPr>
          <a:xfrm>
            <a:off x="1828800" y="2514600"/>
            <a:ext cx="5486400" cy="36576"/>
          </a:xfrm>
          <a:prstGeom prst="rect">
            <a:avLst/>
          </a:prstGeom>
          <a:solidFill>
            <a:srgbClr val="2979FF"/>
          </a:solidFill>
          <a:ln w="12700">
            <a:solidFill>
              <a:srgbClr val="2979FF"/>
            </a:solidFill>
            <a:prstDash val="solid"/>
          </a:ln>
        </p:spPr>
      </p:sp>
      <p:sp>
        <p:nvSpPr>
          <p:cNvPr id="9" name="Text 7"/>
          <p:cNvSpPr/>
          <p:nvPr/>
        </p:nvSpPr>
        <p:spPr>
          <a:xfrm>
            <a:off x="457200" y="2697480"/>
            <a:ext cx="8229600" cy="411480"/>
          </a:xfrm>
          <a:prstGeom prst="rect">
            <a:avLst/>
          </a:prstGeom>
          <a:noFill/>
          <a:ln/>
        </p:spPr>
        <p:txBody>
          <a:bodyPr wrap="square" rtlCol="0" anchor="ctr"/>
          <a:lstStyle/>
          <a:p>
            <a:pPr marL="0" indent="0" algn="ctr">
              <a:buNone/>
            </a:pPr>
            <a:r>
              <a:rPr lang="en-US" sz="1400" dirty="0">
                <a:solidFill>
                  <a:srgbClr val="E8EEF6"/>
                </a:solidFill>
                <a:latin typeface="Calibri" pitchFamily="34" charset="0"/>
                <a:ea typeface="Calibri" pitchFamily="34" charset="-122"/>
                <a:cs typeface="Calibri" pitchFamily="34" charset="-120"/>
              </a:rPr>
              <a:t>Interviewing Project Managers Who Launched AI in Healthcare</a:t>
            </a:r>
            <a:endParaRPr lang="en-US" sz="1400" dirty="0"/>
          </a:p>
        </p:txBody>
      </p:sp>
      <p:sp>
        <p:nvSpPr>
          <p:cNvPr id="10" name="Shape 8"/>
          <p:cNvSpPr/>
          <p:nvPr/>
        </p:nvSpPr>
        <p:spPr>
          <a:xfrm>
            <a:off x="1371600" y="3291840"/>
            <a:ext cx="6400800" cy="1371600"/>
          </a:xfrm>
          <a:prstGeom prst="rect">
            <a:avLst/>
          </a:prstGeom>
          <a:solidFill>
            <a:srgbClr val="1A3A6E"/>
          </a:solidFill>
          <a:ln w="19050">
            <a:solidFill>
              <a:srgbClr val="2979FF"/>
            </a:solidFill>
            <a:prstDash val="solid"/>
          </a:ln>
          <a:effectLst>
            <a:outerShdw blurRad="101600" dist="38100" dir="8100000" algn="bl" rotWithShape="0">
              <a:srgbClr val="000000">
                <a:alpha val="40000"/>
              </a:srgbClr>
            </a:outerShdw>
          </a:effectLst>
        </p:spPr>
      </p:sp>
      <p:sp>
        <p:nvSpPr>
          <p:cNvPr id="11" name="Text 9"/>
          <p:cNvSpPr/>
          <p:nvPr/>
        </p:nvSpPr>
        <p:spPr>
          <a:xfrm>
            <a:off x="1554480" y="3429000"/>
            <a:ext cx="3017520" cy="1051560"/>
          </a:xfrm>
          <a:prstGeom prst="rect">
            <a:avLst/>
          </a:prstGeom>
          <a:noFill/>
          <a:ln/>
        </p:spPr>
        <p:txBody>
          <a:bodyPr wrap="square" rtlCol="0" anchor="t"/>
          <a:lstStyle/>
          <a:p>
            <a:pPr marL="0" indent="0">
              <a:buNone/>
            </a:pPr>
            <a:r>
              <a:rPr lang="en-US" sz="1100" b="1" dirty="0">
                <a:solidFill>
                  <a:srgbClr val="90CAF9"/>
                </a:solidFill>
                <a:latin typeface="Calibri" pitchFamily="34" charset="0"/>
                <a:ea typeface="Calibri" pitchFamily="34" charset="-122"/>
                <a:cs typeface="Calibri" pitchFamily="34" charset="-120"/>
              </a:rPr>
              <a:t>Under the Guidance of: </a:t>
            </a:r>
          </a:p>
          <a:p>
            <a:r>
              <a:rPr lang="en-US" sz="1100" b="1" dirty="0">
                <a:solidFill>
                  <a:srgbClr val="FFFFFF"/>
                </a:solidFill>
                <a:latin typeface="Calibri" pitchFamily="34" charset="0"/>
                <a:ea typeface="Calibri" pitchFamily="34" charset="-122"/>
                <a:cs typeface="Calibri" pitchFamily="34" charset="-120"/>
              </a:rPr>
              <a:t>Narinder Pal Singh</a:t>
            </a:r>
            <a:endParaRPr lang="en-US" sz="1100" dirty="0"/>
          </a:p>
          <a:p>
            <a:r>
              <a:rPr lang="en-US" sz="1100" b="1" dirty="0">
                <a:solidFill>
                  <a:srgbClr val="FFFFFF"/>
                </a:solidFill>
                <a:latin typeface="Calibri" pitchFamily="34" charset="0"/>
                <a:ea typeface="Calibri" pitchFamily="34" charset="-122"/>
                <a:cs typeface="Calibri" pitchFamily="34" charset="-120"/>
              </a:rPr>
              <a:t>Designation : Professor</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
</a:t>
            </a:r>
            <a:endParaRPr lang="en-US" sz="1100" dirty="0"/>
          </a:p>
        </p:txBody>
      </p:sp>
      <p:sp>
        <p:nvSpPr>
          <p:cNvPr id="12" name="Text 10"/>
          <p:cNvSpPr/>
          <p:nvPr/>
        </p:nvSpPr>
        <p:spPr>
          <a:xfrm>
            <a:off x="4754880" y="3429000"/>
            <a:ext cx="2834640" cy="1051560"/>
          </a:xfrm>
          <a:prstGeom prst="rect">
            <a:avLst/>
          </a:prstGeom>
          <a:noFill/>
          <a:ln/>
        </p:spPr>
        <p:txBody>
          <a:bodyPr wrap="square" rtlCol="0" anchor="t"/>
          <a:lstStyle/>
          <a:p>
            <a:r>
              <a:rPr lang="en-US" sz="1100" b="1" dirty="0">
                <a:solidFill>
                  <a:srgbClr val="90CAF9"/>
                </a:solidFill>
                <a:latin typeface="Calibri" pitchFamily="34" charset="0"/>
                <a:ea typeface="Calibri" pitchFamily="34" charset="-122"/>
                <a:cs typeface="Calibri" pitchFamily="34" charset="-120"/>
              </a:rPr>
              <a:t>Submitted By — Group Name: Kappa</a:t>
            </a:r>
            <a:r>
              <a:rPr lang="en-US" sz="1100" dirty="0">
                <a:solidFill>
                  <a:srgbClr val="FFFFFF"/>
                </a:solidFill>
                <a:latin typeface="Calibri" pitchFamily="34" charset="0"/>
                <a:ea typeface="Calibri" pitchFamily="34" charset="-122"/>
                <a:cs typeface="Calibri" pitchFamily="34" charset="-120"/>
              </a:rPr>
              <a:t>
</a:t>
            </a:r>
            <a:r>
              <a:rPr lang="en-US" sz="1100" b="1" dirty="0">
                <a:solidFill>
                  <a:srgbClr val="FFFFFF"/>
                </a:solidFill>
                <a:latin typeface="Calibri" pitchFamily="34" charset="0"/>
                <a:ea typeface="Calibri" pitchFamily="34" charset="-122"/>
                <a:cs typeface="Calibri" pitchFamily="34" charset="-120"/>
              </a:rPr>
              <a:t>Kuldeep Sarkar – 2024423784</a:t>
            </a:r>
          </a:p>
          <a:p>
            <a:pPr marL="0" indent="0">
              <a:buNone/>
            </a:pPr>
            <a:r>
              <a:rPr lang="en-US" sz="1100" b="1" dirty="0">
                <a:solidFill>
                  <a:srgbClr val="FFFFFF"/>
                </a:solidFill>
                <a:latin typeface="Calibri" pitchFamily="34" charset="0"/>
                <a:ea typeface="Calibri" pitchFamily="34" charset="-122"/>
                <a:cs typeface="Calibri" pitchFamily="34" charset="-120"/>
              </a:rPr>
              <a:t>Niraj Kumar - 2024236245</a:t>
            </a:r>
            <a:endParaRPr lang="en-US" sz="1100" b="1" dirty="0"/>
          </a:p>
        </p:txBody>
      </p:sp>
      <p:sp>
        <p:nvSpPr>
          <p:cNvPr id="13" name="Shape 11"/>
          <p:cNvSpPr/>
          <p:nvPr/>
        </p:nvSpPr>
        <p:spPr>
          <a:xfrm>
            <a:off x="0" y="5052060"/>
            <a:ext cx="9144000" cy="91440"/>
          </a:xfrm>
          <a:prstGeom prst="rect">
            <a:avLst/>
          </a:prstGeom>
          <a:solidFill>
            <a:srgbClr val="2979FF"/>
          </a:solidFill>
          <a:ln w="12700">
            <a:solidFill>
              <a:srgbClr val="2979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A0F2C"/>
          </a:solidFill>
          <a:ln w="12700">
            <a:solidFill>
              <a:srgbClr val="0A0F2C"/>
            </a:solidFill>
            <a:prstDash val="solid"/>
          </a:ln>
        </p:spPr>
      </p:sp>
      <p:sp>
        <p:nvSpPr>
          <p:cNvPr id="3" name="Shape 1"/>
          <p:cNvSpPr/>
          <p:nvPr/>
        </p:nvSpPr>
        <p:spPr>
          <a:xfrm>
            <a:off x="2926080" y="0"/>
            <a:ext cx="54864" cy="5143500"/>
          </a:xfrm>
          <a:prstGeom prst="rect">
            <a:avLst/>
          </a:prstGeom>
          <a:solidFill>
            <a:srgbClr val="2979FF"/>
          </a:solidFill>
          <a:ln w="12700">
            <a:solidFill>
              <a:srgbClr val="2979FF"/>
            </a:solidFill>
            <a:prstDash val="solid"/>
          </a:ln>
        </p:spPr>
      </p:sp>
      <p:sp>
        <p:nvSpPr>
          <p:cNvPr id="4" name="Text 2"/>
          <p:cNvSpPr/>
          <p:nvPr/>
        </p:nvSpPr>
        <p:spPr>
          <a:xfrm>
            <a:off x="91440" y="182880"/>
            <a:ext cx="2743200" cy="274320"/>
          </a:xfrm>
          <a:prstGeom prst="rect">
            <a:avLst/>
          </a:prstGeom>
          <a:noFill/>
          <a:ln/>
        </p:spPr>
        <p:txBody>
          <a:bodyPr wrap="square" rtlCol="0" anchor="ctr"/>
          <a:lstStyle/>
          <a:p>
            <a:pPr marL="0" indent="0">
              <a:buNone/>
            </a:pPr>
            <a:r>
              <a:rPr lang="en-US" sz="900" b="1" dirty="0">
                <a:solidFill>
                  <a:srgbClr val="90CAF9"/>
                </a:solidFill>
                <a:latin typeface="Calibri" pitchFamily="34" charset="0"/>
                <a:ea typeface="Calibri" pitchFamily="34" charset="-122"/>
                <a:cs typeface="Calibri" pitchFamily="34" charset="-120"/>
              </a:rPr>
              <a:t>SLIDE 01</a:t>
            </a:r>
            <a:endParaRPr lang="en-US" sz="900" dirty="0"/>
          </a:p>
        </p:txBody>
      </p:sp>
      <p:sp>
        <p:nvSpPr>
          <p:cNvPr id="5" name="Text 3"/>
          <p:cNvSpPr/>
          <p:nvPr/>
        </p:nvSpPr>
        <p:spPr>
          <a:xfrm>
            <a:off x="137160" y="502920"/>
            <a:ext cx="2651760" cy="10972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INTRO TO</a:t>
            </a:r>
            <a:endParaRPr lang="en-US" sz="2400" dirty="0"/>
          </a:p>
          <a:p>
            <a:pPr marL="0" indent="0">
              <a:buNone/>
            </a:pPr>
            <a:r>
              <a:rPr lang="en-US" sz="2400" b="1" dirty="0">
                <a:solidFill>
                  <a:srgbClr val="FFFFFF"/>
                </a:solidFill>
                <a:latin typeface="Calibri" pitchFamily="34" charset="0"/>
                <a:ea typeface="Calibri" pitchFamily="34" charset="-122"/>
                <a:cs typeface="Calibri" pitchFamily="34" charset="-120"/>
              </a:rPr>
              <a:t>RLP ASSIGNMENT</a:t>
            </a:r>
            <a:endParaRPr lang="en-US" sz="2400" dirty="0"/>
          </a:p>
        </p:txBody>
      </p:sp>
      <p:sp>
        <p:nvSpPr>
          <p:cNvPr id="6" name="Shape 4"/>
          <p:cNvSpPr/>
          <p:nvPr/>
        </p:nvSpPr>
        <p:spPr>
          <a:xfrm>
            <a:off x="137160" y="1645920"/>
            <a:ext cx="2468880" cy="36576"/>
          </a:xfrm>
          <a:prstGeom prst="rect">
            <a:avLst/>
          </a:prstGeom>
          <a:solidFill>
            <a:srgbClr val="2979FF"/>
          </a:solidFill>
          <a:ln w="12700">
            <a:solidFill>
              <a:srgbClr val="2979FF"/>
            </a:solidFill>
            <a:prstDash val="solid"/>
          </a:ln>
        </p:spPr>
      </p:sp>
      <p:sp>
        <p:nvSpPr>
          <p:cNvPr id="7" name="Text 5"/>
          <p:cNvSpPr/>
          <p:nvPr/>
        </p:nvSpPr>
        <p:spPr>
          <a:xfrm>
            <a:off x="137160" y="1783080"/>
            <a:ext cx="2651760" cy="548640"/>
          </a:xfrm>
          <a:prstGeom prst="rect">
            <a:avLst/>
          </a:prstGeom>
          <a:noFill/>
          <a:ln/>
        </p:spPr>
        <p:txBody>
          <a:bodyPr wrap="square" rtlCol="0" anchor="ctr"/>
          <a:lstStyle/>
          <a:p>
            <a:pPr marL="0" indent="0">
              <a:buNone/>
            </a:pPr>
            <a:r>
              <a:rPr lang="en-US" sz="1100" i="1" dirty="0">
                <a:solidFill>
                  <a:srgbClr val="90CAF9"/>
                </a:solidFill>
                <a:latin typeface="Calibri" pitchFamily="34" charset="0"/>
                <a:ea typeface="Calibri" pitchFamily="34" charset="-122"/>
                <a:cs typeface="Calibri" pitchFamily="34" charset="-120"/>
              </a:rPr>
              <a:t>What is RLP and</a:t>
            </a:r>
            <a:endParaRPr lang="en-US" sz="1100" dirty="0"/>
          </a:p>
          <a:p>
            <a:pPr marL="0" indent="0">
              <a:buNone/>
            </a:pPr>
            <a:r>
              <a:rPr lang="en-US" sz="1100" i="1" dirty="0">
                <a:solidFill>
                  <a:srgbClr val="90CAF9"/>
                </a:solidFill>
                <a:latin typeface="Calibri" pitchFamily="34" charset="0"/>
                <a:ea typeface="Calibri" pitchFamily="34" charset="-122"/>
                <a:cs typeface="Calibri" pitchFamily="34" charset="-120"/>
              </a:rPr>
              <a:t>what was asked?</a:t>
            </a:r>
            <a:endParaRPr lang="en-US" sz="1100" dirty="0"/>
          </a:p>
        </p:txBody>
      </p:sp>
      <p:sp>
        <p:nvSpPr>
          <p:cNvPr id="8" name="Shape 6"/>
          <p:cNvSpPr/>
          <p:nvPr/>
        </p:nvSpPr>
        <p:spPr>
          <a:xfrm>
            <a:off x="137160" y="2468880"/>
            <a:ext cx="2606040" cy="731520"/>
          </a:xfrm>
          <a:prstGeom prst="rect">
            <a:avLst/>
          </a:prstGeom>
          <a:solidFill>
            <a:srgbClr val="1A3A6E"/>
          </a:solidFill>
          <a:ln w="12700">
            <a:solidFill>
              <a:srgbClr val="2979FF"/>
            </a:solidFill>
            <a:prstDash val="solid"/>
          </a:ln>
        </p:spPr>
      </p:sp>
      <p:sp>
        <p:nvSpPr>
          <p:cNvPr id="9" name="Text 7"/>
          <p:cNvSpPr/>
          <p:nvPr/>
        </p:nvSpPr>
        <p:spPr>
          <a:xfrm>
            <a:off x="228600" y="2514600"/>
            <a:ext cx="2468880" cy="228600"/>
          </a:xfrm>
          <a:prstGeom prst="rect">
            <a:avLst/>
          </a:prstGeom>
          <a:noFill/>
          <a:ln/>
        </p:spPr>
        <p:txBody>
          <a:bodyPr wrap="square" rtlCol="0" anchor="ctr"/>
          <a:lstStyle/>
          <a:p>
            <a:pPr marL="0" indent="0">
              <a:buNone/>
            </a:pPr>
            <a:r>
              <a:rPr lang="en-US" sz="900" b="1" dirty="0">
                <a:solidFill>
                  <a:srgbClr val="90CAF9"/>
                </a:solidFill>
                <a:latin typeface="Calibri" pitchFamily="34" charset="0"/>
                <a:ea typeface="Calibri" pitchFamily="34" charset="-122"/>
                <a:cs typeface="Calibri" pitchFamily="34" charset="-120"/>
              </a:rPr>
              <a:t>Assignment Topic</a:t>
            </a:r>
            <a:endParaRPr lang="en-US" sz="900" dirty="0"/>
          </a:p>
        </p:txBody>
      </p:sp>
      <p:sp>
        <p:nvSpPr>
          <p:cNvPr id="10" name="Text 8"/>
          <p:cNvSpPr/>
          <p:nvPr/>
        </p:nvSpPr>
        <p:spPr>
          <a:xfrm>
            <a:off x="228600" y="2743200"/>
            <a:ext cx="2468880" cy="4114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AI in Healthcare</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Launch Challenges</a:t>
            </a:r>
            <a:endParaRPr lang="en-US" sz="1000" dirty="0"/>
          </a:p>
        </p:txBody>
      </p:sp>
      <p:sp>
        <p:nvSpPr>
          <p:cNvPr id="11" name="Shape 9"/>
          <p:cNvSpPr/>
          <p:nvPr/>
        </p:nvSpPr>
        <p:spPr>
          <a:xfrm>
            <a:off x="137160" y="3337560"/>
            <a:ext cx="2606040" cy="731520"/>
          </a:xfrm>
          <a:prstGeom prst="rect">
            <a:avLst/>
          </a:prstGeom>
          <a:solidFill>
            <a:srgbClr val="1A3A6E"/>
          </a:solidFill>
          <a:ln w="12700">
            <a:solidFill>
              <a:srgbClr val="2979FF"/>
            </a:solidFill>
            <a:prstDash val="solid"/>
          </a:ln>
        </p:spPr>
      </p:sp>
      <p:sp>
        <p:nvSpPr>
          <p:cNvPr id="12" name="Text 10"/>
          <p:cNvSpPr/>
          <p:nvPr/>
        </p:nvSpPr>
        <p:spPr>
          <a:xfrm>
            <a:off x="228600" y="3383280"/>
            <a:ext cx="2468880" cy="228600"/>
          </a:xfrm>
          <a:prstGeom prst="rect">
            <a:avLst/>
          </a:prstGeom>
          <a:noFill/>
          <a:ln/>
        </p:spPr>
        <p:txBody>
          <a:bodyPr wrap="square" rtlCol="0" anchor="ctr"/>
          <a:lstStyle/>
          <a:p>
            <a:pPr marL="0" indent="0">
              <a:buNone/>
            </a:pPr>
            <a:r>
              <a:rPr lang="en-US" sz="900" b="1" dirty="0">
                <a:solidFill>
                  <a:srgbClr val="90CAF9"/>
                </a:solidFill>
                <a:latin typeface="Calibri" pitchFamily="34" charset="0"/>
                <a:ea typeface="Calibri" pitchFamily="34" charset="-122"/>
                <a:cs typeface="Calibri" pitchFamily="34" charset="-120"/>
              </a:rPr>
              <a:t>Sample Size</a:t>
            </a:r>
            <a:endParaRPr lang="en-US" sz="900" dirty="0"/>
          </a:p>
        </p:txBody>
      </p:sp>
      <p:sp>
        <p:nvSpPr>
          <p:cNvPr id="13" name="Text 11"/>
          <p:cNvSpPr/>
          <p:nvPr/>
        </p:nvSpPr>
        <p:spPr>
          <a:xfrm>
            <a:off x="228600" y="3611880"/>
            <a:ext cx="2468880" cy="4114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1–2 Lead PMs</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5 Impacted Employees</a:t>
            </a:r>
            <a:endParaRPr lang="en-US" sz="1000" dirty="0"/>
          </a:p>
        </p:txBody>
      </p:sp>
      <p:sp>
        <p:nvSpPr>
          <p:cNvPr id="14" name="Shape 12"/>
          <p:cNvSpPr/>
          <p:nvPr/>
        </p:nvSpPr>
        <p:spPr>
          <a:xfrm>
            <a:off x="137160" y="4206240"/>
            <a:ext cx="2606040" cy="731520"/>
          </a:xfrm>
          <a:prstGeom prst="rect">
            <a:avLst/>
          </a:prstGeom>
          <a:solidFill>
            <a:srgbClr val="1A3A6E"/>
          </a:solidFill>
          <a:ln w="12700">
            <a:solidFill>
              <a:srgbClr val="2979FF"/>
            </a:solidFill>
            <a:prstDash val="solid"/>
          </a:ln>
        </p:spPr>
      </p:sp>
      <p:sp>
        <p:nvSpPr>
          <p:cNvPr id="15" name="Text 13"/>
          <p:cNvSpPr/>
          <p:nvPr/>
        </p:nvSpPr>
        <p:spPr>
          <a:xfrm>
            <a:off x="228600" y="4251960"/>
            <a:ext cx="2468880" cy="228600"/>
          </a:xfrm>
          <a:prstGeom prst="rect">
            <a:avLst/>
          </a:prstGeom>
          <a:noFill/>
          <a:ln/>
        </p:spPr>
        <p:txBody>
          <a:bodyPr wrap="square" rtlCol="0" anchor="ctr"/>
          <a:lstStyle/>
          <a:p>
            <a:pPr marL="0" indent="0">
              <a:buNone/>
            </a:pPr>
            <a:r>
              <a:rPr lang="en-US" sz="900" b="1" dirty="0">
                <a:solidFill>
                  <a:srgbClr val="90CAF9"/>
                </a:solidFill>
                <a:latin typeface="Calibri" pitchFamily="34" charset="0"/>
                <a:ea typeface="Calibri" pitchFamily="34" charset="-122"/>
                <a:cs typeface="Calibri" pitchFamily="34" charset="-120"/>
              </a:rPr>
              <a:t>Presentation Time</a:t>
            </a:r>
            <a:endParaRPr lang="en-US" sz="900" dirty="0"/>
          </a:p>
        </p:txBody>
      </p:sp>
      <p:sp>
        <p:nvSpPr>
          <p:cNvPr id="16" name="Text 14"/>
          <p:cNvSpPr/>
          <p:nvPr/>
        </p:nvSpPr>
        <p:spPr>
          <a:xfrm>
            <a:off x="228600" y="4480560"/>
            <a:ext cx="2468880" cy="411480"/>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8–10 minutes</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incl. Q&amp;A</a:t>
            </a:r>
            <a:endParaRPr lang="en-US" sz="1000" dirty="0"/>
          </a:p>
        </p:txBody>
      </p:sp>
      <p:sp>
        <p:nvSpPr>
          <p:cNvPr id="17" name="Shape 15"/>
          <p:cNvSpPr/>
          <p:nvPr/>
        </p:nvSpPr>
        <p:spPr>
          <a:xfrm>
            <a:off x="3200400" y="228600"/>
            <a:ext cx="5760720" cy="960120"/>
          </a:xfrm>
          <a:prstGeom prst="rect">
            <a:avLst/>
          </a:prstGeom>
          <a:solidFill>
            <a:srgbClr val="FFFFFF"/>
          </a:solidFill>
          <a:ln w="12700">
            <a:solidFill>
              <a:srgbClr val="D0DCF0"/>
            </a:solidFill>
            <a:prstDash val="solid"/>
          </a:ln>
          <a:effectLst>
            <a:outerShdw blurRad="50800" dist="25400" dir="8100000" algn="bl" rotWithShape="0">
              <a:srgbClr val="000000">
                <a:alpha val="10000"/>
              </a:srgbClr>
            </a:outerShdw>
          </a:effectLst>
        </p:spPr>
      </p:sp>
      <p:sp>
        <p:nvSpPr>
          <p:cNvPr id="18" name="Shape 16"/>
          <p:cNvSpPr/>
          <p:nvPr/>
        </p:nvSpPr>
        <p:spPr>
          <a:xfrm>
            <a:off x="3200400" y="228600"/>
            <a:ext cx="457200" cy="960120"/>
          </a:xfrm>
          <a:prstGeom prst="rect">
            <a:avLst/>
          </a:prstGeom>
          <a:solidFill>
            <a:srgbClr val="1565C0"/>
          </a:solidFill>
          <a:ln w="12700">
            <a:solidFill>
              <a:srgbClr val="1565C0"/>
            </a:solidFill>
            <a:prstDash val="solid"/>
          </a:ln>
        </p:spPr>
      </p:sp>
      <p:sp>
        <p:nvSpPr>
          <p:cNvPr id="19" name="Text 17"/>
          <p:cNvSpPr/>
          <p:nvPr/>
        </p:nvSpPr>
        <p:spPr>
          <a:xfrm>
            <a:off x="3200400" y="548640"/>
            <a:ext cx="45720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20" name="Text 18"/>
          <p:cNvSpPr/>
          <p:nvPr/>
        </p:nvSpPr>
        <p:spPr>
          <a:xfrm>
            <a:off x="3749040" y="274320"/>
            <a:ext cx="5029200" cy="274320"/>
          </a:xfrm>
          <a:prstGeom prst="rect">
            <a:avLst/>
          </a:prstGeom>
          <a:noFill/>
          <a:ln/>
        </p:spPr>
        <p:txBody>
          <a:bodyPr wrap="square" rtlCol="0" anchor="ctr"/>
          <a:lstStyle/>
          <a:p>
            <a:pPr marL="0" indent="0">
              <a:buNone/>
            </a:pPr>
            <a:r>
              <a:rPr lang="en-US" sz="1200" b="1" dirty="0">
                <a:solidFill>
                  <a:srgbClr val="0A0F2C"/>
                </a:solidFill>
                <a:latin typeface="Calibri" pitchFamily="34" charset="0"/>
                <a:ea typeface="Calibri" pitchFamily="34" charset="-122"/>
                <a:cs typeface="Calibri" pitchFamily="34" charset="-120"/>
              </a:rPr>
              <a:t>What is RLP?</a:t>
            </a:r>
            <a:endParaRPr lang="en-US" sz="1200" dirty="0"/>
          </a:p>
        </p:txBody>
      </p:sp>
      <p:sp>
        <p:nvSpPr>
          <p:cNvPr id="21" name="Text 19"/>
          <p:cNvSpPr/>
          <p:nvPr/>
        </p:nvSpPr>
        <p:spPr>
          <a:xfrm>
            <a:off x="3749040" y="548640"/>
            <a:ext cx="5120640" cy="594360"/>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Reverse Learning Pedagogy is a student-driven inquiry approach where learners interview industry professionals to bridge theory and real-world practice.</a:t>
            </a:r>
            <a:endParaRPr lang="en-US" sz="1000" dirty="0"/>
          </a:p>
        </p:txBody>
      </p:sp>
      <p:sp>
        <p:nvSpPr>
          <p:cNvPr id="22" name="Shape 20"/>
          <p:cNvSpPr/>
          <p:nvPr/>
        </p:nvSpPr>
        <p:spPr>
          <a:xfrm>
            <a:off x="3200400" y="1325880"/>
            <a:ext cx="5760720" cy="960120"/>
          </a:xfrm>
          <a:prstGeom prst="rect">
            <a:avLst/>
          </a:prstGeom>
          <a:solidFill>
            <a:srgbClr val="FFFFFF"/>
          </a:solidFill>
          <a:ln w="12700">
            <a:solidFill>
              <a:srgbClr val="D0DCF0"/>
            </a:solidFill>
            <a:prstDash val="solid"/>
          </a:ln>
          <a:effectLst>
            <a:outerShdw blurRad="50800" dist="25400" dir="8100000" algn="bl" rotWithShape="0">
              <a:srgbClr val="000000">
                <a:alpha val="10000"/>
              </a:srgbClr>
            </a:outerShdw>
          </a:effectLst>
        </p:spPr>
      </p:sp>
      <p:sp>
        <p:nvSpPr>
          <p:cNvPr id="23" name="Shape 21"/>
          <p:cNvSpPr/>
          <p:nvPr/>
        </p:nvSpPr>
        <p:spPr>
          <a:xfrm>
            <a:off x="3200400" y="1325880"/>
            <a:ext cx="457200" cy="960120"/>
          </a:xfrm>
          <a:prstGeom prst="rect">
            <a:avLst/>
          </a:prstGeom>
          <a:solidFill>
            <a:srgbClr val="1565C0"/>
          </a:solidFill>
          <a:ln w="12700">
            <a:solidFill>
              <a:srgbClr val="1565C0"/>
            </a:solidFill>
            <a:prstDash val="solid"/>
          </a:ln>
        </p:spPr>
      </p:sp>
      <p:sp>
        <p:nvSpPr>
          <p:cNvPr id="24" name="Text 22"/>
          <p:cNvSpPr/>
          <p:nvPr/>
        </p:nvSpPr>
        <p:spPr>
          <a:xfrm>
            <a:off x="3200400" y="1645920"/>
            <a:ext cx="45720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25" name="Text 23"/>
          <p:cNvSpPr/>
          <p:nvPr/>
        </p:nvSpPr>
        <p:spPr>
          <a:xfrm>
            <a:off x="3749040" y="1371600"/>
            <a:ext cx="5029200" cy="274320"/>
          </a:xfrm>
          <a:prstGeom prst="rect">
            <a:avLst/>
          </a:prstGeom>
          <a:noFill/>
          <a:ln/>
        </p:spPr>
        <p:txBody>
          <a:bodyPr wrap="square" rtlCol="0" anchor="ctr"/>
          <a:lstStyle/>
          <a:p>
            <a:pPr marL="0" indent="0">
              <a:buNone/>
            </a:pPr>
            <a:r>
              <a:rPr lang="en-US" sz="1200" b="1" dirty="0">
                <a:solidFill>
                  <a:srgbClr val="0A0F2C"/>
                </a:solidFill>
                <a:latin typeface="Calibri" pitchFamily="34" charset="0"/>
                <a:ea typeface="Calibri" pitchFamily="34" charset="-122"/>
                <a:cs typeface="Calibri" pitchFamily="34" charset="-120"/>
              </a:rPr>
              <a:t>The Core Question</a:t>
            </a:r>
            <a:endParaRPr lang="en-US" sz="1200" dirty="0"/>
          </a:p>
        </p:txBody>
      </p:sp>
      <p:sp>
        <p:nvSpPr>
          <p:cNvPr id="26" name="Text 24"/>
          <p:cNvSpPr/>
          <p:nvPr/>
        </p:nvSpPr>
        <p:spPr>
          <a:xfrm>
            <a:off x="3749040" y="1645920"/>
            <a:ext cx="5120640" cy="594360"/>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Interview a Project Manager who launched AI in Healthcare — focus on the biggest barrier: code quality, data quality, or employee trust in AI suggestions.</a:t>
            </a:r>
            <a:endParaRPr lang="en-US" sz="1000" dirty="0"/>
          </a:p>
        </p:txBody>
      </p:sp>
      <p:sp>
        <p:nvSpPr>
          <p:cNvPr id="27" name="Shape 25"/>
          <p:cNvSpPr/>
          <p:nvPr/>
        </p:nvSpPr>
        <p:spPr>
          <a:xfrm>
            <a:off x="3200400" y="2423160"/>
            <a:ext cx="5760720" cy="960120"/>
          </a:xfrm>
          <a:prstGeom prst="rect">
            <a:avLst/>
          </a:prstGeom>
          <a:solidFill>
            <a:srgbClr val="FFFFFF"/>
          </a:solidFill>
          <a:ln w="12700">
            <a:solidFill>
              <a:srgbClr val="D0DCF0"/>
            </a:solidFill>
            <a:prstDash val="solid"/>
          </a:ln>
          <a:effectLst>
            <a:outerShdw blurRad="50800" dist="25400" dir="8100000" algn="bl" rotWithShape="0">
              <a:srgbClr val="000000">
                <a:alpha val="10000"/>
              </a:srgbClr>
            </a:outerShdw>
          </a:effectLst>
        </p:spPr>
      </p:sp>
      <p:sp>
        <p:nvSpPr>
          <p:cNvPr id="28" name="Shape 26"/>
          <p:cNvSpPr/>
          <p:nvPr/>
        </p:nvSpPr>
        <p:spPr>
          <a:xfrm>
            <a:off x="3200400" y="2423160"/>
            <a:ext cx="457200" cy="960120"/>
          </a:xfrm>
          <a:prstGeom prst="rect">
            <a:avLst/>
          </a:prstGeom>
          <a:solidFill>
            <a:srgbClr val="1565C0"/>
          </a:solidFill>
          <a:ln w="12700">
            <a:solidFill>
              <a:srgbClr val="1565C0"/>
            </a:solidFill>
            <a:prstDash val="solid"/>
          </a:ln>
        </p:spPr>
      </p:sp>
      <p:sp>
        <p:nvSpPr>
          <p:cNvPr id="29" name="Text 27"/>
          <p:cNvSpPr/>
          <p:nvPr/>
        </p:nvSpPr>
        <p:spPr>
          <a:xfrm>
            <a:off x="3200400" y="2743200"/>
            <a:ext cx="45720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30" name="Text 28"/>
          <p:cNvSpPr/>
          <p:nvPr/>
        </p:nvSpPr>
        <p:spPr>
          <a:xfrm>
            <a:off x="3749040" y="2468880"/>
            <a:ext cx="5029200" cy="274320"/>
          </a:xfrm>
          <a:prstGeom prst="rect">
            <a:avLst/>
          </a:prstGeom>
          <a:noFill/>
          <a:ln/>
        </p:spPr>
        <p:txBody>
          <a:bodyPr wrap="square" rtlCol="0" anchor="ctr"/>
          <a:lstStyle/>
          <a:p>
            <a:pPr marL="0" indent="0">
              <a:buNone/>
            </a:pPr>
            <a:r>
              <a:rPr lang="en-US" sz="1200" b="1" dirty="0">
                <a:solidFill>
                  <a:srgbClr val="0A0F2C"/>
                </a:solidFill>
                <a:latin typeface="Calibri" pitchFamily="34" charset="0"/>
                <a:ea typeface="Calibri" pitchFamily="34" charset="-122"/>
                <a:cs typeface="Calibri" pitchFamily="34" charset="-120"/>
              </a:rPr>
              <a:t>Trust as Central Theme</a:t>
            </a:r>
            <a:endParaRPr lang="en-US" sz="1200" dirty="0"/>
          </a:p>
        </p:txBody>
      </p:sp>
      <p:sp>
        <p:nvSpPr>
          <p:cNvPr id="31" name="Text 29"/>
          <p:cNvSpPr/>
          <p:nvPr/>
        </p:nvSpPr>
        <p:spPr>
          <a:xfrm>
            <a:off x="3749040" y="2743200"/>
            <a:ext cx="5120640" cy="594360"/>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The assignment specifically examines how organizations resolved the 'trust issue' — persuading clinical staff to accept and act on machine recommendations.</a:t>
            </a:r>
            <a:endParaRPr lang="en-US" sz="1000" dirty="0"/>
          </a:p>
        </p:txBody>
      </p:sp>
      <p:sp>
        <p:nvSpPr>
          <p:cNvPr id="32" name="Shape 30"/>
          <p:cNvSpPr/>
          <p:nvPr/>
        </p:nvSpPr>
        <p:spPr>
          <a:xfrm>
            <a:off x="3200400" y="3520440"/>
            <a:ext cx="5760720" cy="960120"/>
          </a:xfrm>
          <a:prstGeom prst="rect">
            <a:avLst/>
          </a:prstGeom>
          <a:solidFill>
            <a:srgbClr val="FFFFFF"/>
          </a:solidFill>
          <a:ln w="12700">
            <a:solidFill>
              <a:srgbClr val="D0DCF0"/>
            </a:solidFill>
            <a:prstDash val="solid"/>
          </a:ln>
          <a:effectLst>
            <a:outerShdw blurRad="50800" dist="25400" dir="8100000" algn="bl" rotWithShape="0">
              <a:srgbClr val="000000">
                <a:alpha val="10000"/>
              </a:srgbClr>
            </a:outerShdw>
          </a:effectLst>
        </p:spPr>
      </p:sp>
      <p:sp>
        <p:nvSpPr>
          <p:cNvPr id="33" name="Shape 31"/>
          <p:cNvSpPr/>
          <p:nvPr/>
        </p:nvSpPr>
        <p:spPr>
          <a:xfrm>
            <a:off x="3200400" y="3520440"/>
            <a:ext cx="457200" cy="960120"/>
          </a:xfrm>
          <a:prstGeom prst="rect">
            <a:avLst/>
          </a:prstGeom>
          <a:solidFill>
            <a:srgbClr val="1565C0"/>
          </a:solidFill>
          <a:ln w="12700">
            <a:solidFill>
              <a:srgbClr val="1565C0"/>
            </a:solidFill>
            <a:prstDash val="solid"/>
          </a:ln>
        </p:spPr>
      </p:sp>
      <p:sp>
        <p:nvSpPr>
          <p:cNvPr id="34" name="Text 32"/>
          <p:cNvSpPr/>
          <p:nvPr/>
        </p:nvSpPr>
        <p:spPr>
          <a:xfrm>
            <a:off x="3200400" y="3840480"/>
            <a:ext cx="45720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35" name="Text 33"/>
          <p:cNvSpPr/>
          <p:nvPr/>
        </p:nvSpPr>
        <p:spPr>
          <a:xfrm>
            <a:off x="3749040" y="3566160"/>
            <a:ext cx="5029200" cy="274320"/>
          </a:xfrm>
          <a:prstGeom prst="rect">
            <a:avLst/>
          </a:prstGeom>
          <a:noFill/>
          <a:ln/>
        </p:spPr>
        <p:txBody>
          <a:bodyPr wrap="square" rtlCol="0" anchor="ctr"/>
          <a:lstStyle/>
          <a:p>
            <a:pPr marL="0" indent="0">
              <a:buNone/>
            </a:pPr>
            <a:r>
              <a:rPr lang="en-US" sz="1200" b="1" dirty="0">
                <a:solidFill>
                  <a:srgbClr val="0A0F2C"/>
                </a:solidFill>
                <a:latin typeface="Calibri" pitchFamily="34" charset="0"/>
                <a:ea typeface="Calibri" pitchFamily="34" charset="-122"/>
                <a:cs typeface="Calibri" pitchFamily="34" charset="-120"/>
              </a:rPr>
              <a:t>Target Companies</a:t>
            </a:r>
            <a:endParaRPr lang="en-US" sz="1200" dirty="0"/>
          </a:p>
        </p:txBody>
      </p:sp>
      <p:sp>
        <p:nvSpPr>
          <p:cNvPr id="36" name="Text 34"/>
          <p:cNvSpPr/>
          <p:nvPr/>
        </p:nvSpPr>
        <p:spPr>
          <a:xfrm>
            <a:off x="3749040" y="3840480"/>
            <a:ext cx="5120640" cy="594360"/>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Hospitals, health-tech firms, diagnostic centers, and insurance companies that have deployed AI-based clinical decision tools.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2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979FF"/>
          </a:solidFill>
          <a:ln w="12700">
            <a:solidFill>
              <a:srgbClr val="2979FF"/>
            </a:solidFill>
            <a:prstDash val="solid"/>
          </a:ln>
        </p:spPr>
      </p:sp>
      <p:sp>
        <p:nvSpPr>
          <p:cNvPr id="3" name="Text 1"/>
          <p:cNvSpPr/>
          <p:nvPr/>
        </p:nvSpPr>
        <p:spPr>
          <a:xfrm>
            <a:off x="365760" y="182880"/>
            <a:ext cx="8229600" cy="274320"/>
          </a:xfrm>
          <a:prstGeom prst="rect">
            <a:avLst/>
          </a:prstGeom>
          <a:noFill/>
          <a:ln/>
        </p:spPr>
        <p:txBody>
          <a:bodyPr wrap="square" rtlCol="0" anchor="ctr"/>
          <a:lstStyle/>
          <a:p>
            <a:pPr marL="0" indent="0">
              <a:buNone/>
            </a:pPr>
            <a:r>
              <a:rPr lang="en-US" sz="900" b="1" dirty="0">
                <a:solidFill>
                  <a:srgbClr val="90CAF9"/>
                </a:solidFill>
                <a:latin typeface="Calibri" pitchFamily="34" charset="0"/>
                <a:ea typeface="Calibri" pitchFamily="34" charset="-122"/>
                <a:cs typeface="Calibri" pitchFamily="34" charset="-120"/>
              </a:rPr>
              <a:t>SLIDE 02</a:t>
            </a:r>
            <a:endParaRPr lang="en-US" sz="900" dirty="0"/>
          </a:p>
        </p:txBody>
      </p:sp>
      <p:sp>
        <p:nvSpPr>
          <p:cNvPr id="4" name="Text 2"/>
          <p:cNvSpPr/>
          <p:nvPr/>
        </p:nvSpPr>
        <p:spPr>
          <a:xfrm>
            <a:off x="365760" y="411480"/>
            <a:ext cx="822960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APPROACH FOLLOWED FOR THE STUDY</a:t>
            </a:r>
            <a:endParaRPr lang="en-US" sz="2600" dirty="0"/>
          </a:p>
        </p:txBody>
      </p:sp>
      <p:sp>
        <p:nvSpPr>
          <p:cNvPr id="5" name="Shape 3"/>
          <p:cNvSpPr/>
          <p:nvPr/>
        </p:nvSpPr>
        <p:spPr>
          <a:xfrm>
            <a:off x="228600" y="1188720"/>
            <a:ext cx="1554480" cy="3291840"/>
          </a:xfrm>
          <a:prstGeom prst="rect">
            <a:avLst/>
          </a:prstGeom>
          <a:solidFill>
            <a:srgbClr val="1A3A6E"/>
          </a:solidFill>
          <a:ln w="15240">
            <a:solidFill>
              <a:srgbClr val="2979FF"/>
            </a:solidFill>
            <a:prstDash val="solid"/>
          </a:ln>
        </p:spPr>
      </p:sp>
      <p:sp>
        <p:nvSpPr>
          <p:cNvPr id="6" name="Shape 4"/>
          <p:cNvSpPr/>
          <p:nvPr/>
        </p:nvSpPr>
        <p:spPr>
          <a:xfrm>
            <a:off x="777240" y="1280160"/>
            <a:ext cx="457200" cy="457200"/>
          </a:xfrm>
          <a:prstGeom prst="ellipse">
            <a:avLst/>
          </a:prstGeom>
          <a:solidFill>
            <a:srgbClr val="2979FF"/>
          </a:solidFill>
          <a:ln w="12700">
            <a:solidFill>
              <a:srgbClr val="2979FF"/>
            </a:solidFill>
            <a:prstDash val="solid"/>
          </a:ln>
        </p:spPr>
      </p:sp>
      <p:sp>
        <p:nvSpPr>
          <p:cNvPr id="7" name="Text 5"/>
          <p:cNvSpPr/>
          <p:nvPr/>
        </p:nvSpPr>
        <p:spPr>
          <a:xfrm>
            <a:off x="777240" y="128016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301752" y="1828800"/>
            <a:ext cx="1417320" cy="640080"/>
          </a:xfrm>
          <a:prstGeom prst="rect">
            <a:avLst/>
          </a:prstGeom>
          <a:noFill/>
          <a:ln/>
        </p:spPr>
        <p:txBody>
          <a:bodyPr wrap="square" rtlCol="0" anchor="ctr"/>
          <a:lstStyle/>
          <a:p>
            <a:pPr marL="0" indent="0" algn="ctr">
              <a:buNone/>
            </a:pPr>
            <a:r>
              <a:rPr lang="en-US" sz="1200" b="1" dirty="0">
                <a:solidFill>
                  <a:srgbClr val="90CAF9"/>
                </a:solidFill>
                <a:latin typeface="Calibri" pitchFamily="34" charset="0"/>
                <a:ea typeface="Calibri" pitchFamily="34" charset="-122"/>
                <a:cs typeface="Calibri" pitchFamily="34" charset="-120"/>
              </a:rPr>
              <a:t>Literature</a:t>
            </a:r>
            <a:endParaRPr lang="en-US" sz="1200" dirty="0"/>
          </a:p>
          <a:p>
            <a:pPr marL="0" indent="0" algn="ctr">
              <a:buNone/>
            </a:pPr>
            <a:r>
              <a:rPr lang="en-US" sz="1200" b="1" dirty="0">
                <a:solidFill>
                  <a:srgbClr val="90CAF9"/>
                </a:solidFill>
                <a:latin typeface="Calibri" pitchFamily="34" charset="0"/>
                <a:ea typeface="Calibri" pitchFamily="34" charset="-122"/>
                <a:cs typeface="Calibri" pitchFamily="34" charset="-120"/>
              </a:rPr>
              <a:t>Review</a:t>
            </a:r>
            <a:endParaRPr lang="en-US" sz="1200" dirty="0"/>
          </a:p>
        </p:txBody>
      </p:sp>
      <p:sp>
        <p:nvSpPr>
          <p:cNvPr id="9" name="Shape 7"/>
          <p:cNvSpPr/>
          <p:nvPr/>
        </p:nvSpPr>
        <p:spPr>
          <a:xfrm>
            <a:off x="502920" y="2514600"/>
            <a:ext cx="1005840" cy="27432"/>
          </a:xfrm>
          <a:prstGeom prst="rect">
            <a:avLst/>
          </a:prstGeom>
          <a:solidFill>
            <a:srgbClr val="2979FF"/>
          </a:solidFill>
          <a:ln w="12700">
            <a:solidFill>
              <a:srgbClr val="2979FF"/>
            </a:solidFill>
            <a:prstDash val="solid"/>
          </a:ln>
        </p:spPr>
      </p:sp>
      <p:sp>
        <p:nvSpPr>
          <p:cNvPr id="10" name="Text 8"/>
          <p:cNvSpPr/>
          <p:nvPr/>
        </p:nvSpPr>
        <p:spPr>
          <a:xfrm>
            <a:off x="301752" y="2606040"/>
            <a:ext cx="1417320" cy="1737360"/>
          </a:xfrm>
          <a:prstGeom prst="rect">
            <a:avLst/>
          </a:prstGeom>
          <a:noFill/>
          <a:ln/>
        </p:spPr>
        <p:txBody>
          <a:bodyPr wrap="square" rtlCol="0" anchor="ctr"/>
          <a:lstStyle/>
          <a:p>
            <a:pPr marL="0" indent="0">
              <a:buNone/>
            </a:pPr>
            <a:r>
              <a:rPr lang="en-US" sz="950" dirty="0">
                <a:solidFill>
                  <a:srgbClr val="E8EEF6"/>
                </a:solidFill>
                <a:latin typeface="Calibri" pitchFamily="34" charset="0"/>
                <a:ea typeface="Calibri" pitchFamily="34" charset="-122"/>
                <a:cs typeface="Calibri" pitchFamily="34" charset="-120"/>
              </a:rPr>
              <a:t>Reviewed published case studies on AI deployment barriers in hospital settings</a:t>
            </a:r>
            <a:endParaRPr lang="en-US" sz="950" dirty="0"/>
          </a:p>
        </p:txBody>
      </p:sp>
      <p:sp>
        <p:nvSpPr>
          <p:cNvPr id="11" name="Shape 9"/>
          <p:cNvSpPr/>
          <p:nvPr/>
        </p:nvSpPr>
        <p:spPr>
          <a:xfrm>
            <a:off x="1783080" y="2331720"/>
            <a:ext cx="210312" cy="36576"/>
          </a:xfrm>
          <a:prstGeom prst="rect">
            <a:avLst/>
          </a:prstGeom>
          <a:solidFill>
            <a:srgbClr val="2979FF"/>
          </a:solidFill>
          <a:ln w="12700">
            <a:solidFill>
              <a:srgbClr val="2979FF"/>
            </a:solidFill>
            <a:prstDash val="solid"/>
          </a:ln>
        </p:spPr>
      </p:sp>
      <p:sp>
        <p:nvSpPr>
          <p:cNvPr id="12" name="Shape 10"/>
          <p:cNvSpPr/>
          <p:nvPr/>
        </p:nvSpPr>
        <p:spPr>
          <a:xfrm>
            <a:off x="1993392" y="1188720"/>
            <a:ext cx="1554480" cy="3291840"/>
          </a:xfrm>
          <a:prstGeom prst="rect">
            <a:avLst/>
          </a:prstGeom>
          <a:solidFill>
            <a:srgbClr val="1A3A6E"/>
          </a:solidFill>
          <a:ln w="15240">
            <a:solidFill>
              <a:srgbClr val="2979FF"/>
            </a:solidFill>
            <a:prstDash val="solid"/>
          </a:ln>
        </p:spPr>
      </p:sp>
      <p:sp>
        <p:nvSpPr>
          <p:cNvPr id="13" name="Shape 11"/>
          <p:cNvSpPr/>
          <p:nvPr/>
        </p:nvSpPr>
        <p:spPr>
          <a:xfrm>
            <a:off x="2542032" y="1280160"/>
            <a:ext cx="457200" cy="457200"/>
          </a:xfrm>
          <a:prstGeom prst="ellipse">
            <a:avLst/>
          </a:prstGeom>
          <a:solidFill>
            <a:srgbClr val="2979FF"/>
          </a:solidFill>
          <a:ln w="12700">
            <a:solidFill>
              <a:srgbClr val="2979FF"/>
            </a:solidFill>
            <a:prstDash val="solid"/>
          </a:ln>
        </p:spPr>
      </p:sp>
      <p:sp>
        <p:nvSpPr>
          <p:cNvPr id="14" name="Text 12"/>
          <p:cNvSpPr/>
          <p:nvPr/>
        </p:nvSpPr>
        <p:spPr>
          <a:xfrm>
            <a:off x="2542032" y="128016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2066544" y="1828800"/>
            <a:ext cx="1417320" cy="640080"/>
          </a:xfrm>
          <a:prstGeom prst="rect">
            <a:avLst/>
          </a:prstGeom>
          <a:noFill/>
          <a:ln/>
        </p:spPr>
        <p:txBody>
          <a:bodyPr wrap="square" rtlCol="0" anchor="ctr"/>
          <a:lstStyle/>
          <a:p>
            <a:pPr marL="0" indent="0" algn="ctr">
              <a:buNone/>
            </a:pPr>
            <a:r>
              <a:rPr lang="en-US" sz="1200" b="1" dirty="0">
                <a:solidFill>
                  <a:srgbClr val="90CAF9"/>
                </a:solidFill>
                <a:latin typeface="Calibri" pitchFamily="34" charset="0"/>
                <a:ea typeface="Calibri" pitchFamily="34" charset="-122"/>
                <a:cs typeface="Calibri" pitchFamily="34" charset="-120"/>
              </a:rPr>
              <a:t>Identify</a:t>
            </a:r>
            <a:endParaRPr lang="en-US" sz="1200" dirty="0"/>
          </a:p>
          <a:p>
            <a:pPr marL="0" indent="0" algn="ctr">
              <a:buNone/>
            </a:pPr>
            <a:r>
              <a:rPr lang="en-US" sz="1200" b="1" dirty="0">
                <a:solidFill>
                  <a:srgbClr val="90CAF9"/>
                </a:solidFill>
                <a:latin typeface="Calibri" pitchFamily="34" charset="0"/>
                <a:ea typeface="Calibri" pitchFamily="34" charset="-122"/>
                <a:cs typeface="Calibri" pitchFamily="34" charset="-120"/>
              </a:rPr>
              <a:t>Interviewees</a:t>
            </a:r>
            <a:endParaRPr lang="en-US" sz="1200" dirty="0"/>
          </a:p>
        </p:txBody>
      </p:sp>
      <p:sp>
        <p:nvSpPr>
          <p:cNvPr id="16" name="Shape 14"/>
          <p:cNvSpPr/>
          <p:nvPr/>
        </p:nvSpPr>
        <p:spPr>
          <a:xfrm>
            <a:off x="2267712" y="2514600"/>
            <a:ext cx="1005840" cy="27432"/>
          </a:xfrm>
          <a:prstGeom prst="rect">
            <a:avLst/>
          </a:prstGeom>
          <a:solidFill>
            <a:srgbClr val="2979FF"/>
          </a:solidFill>
          <a:ln w="12700">
            <a:solidFill>
              <a:srgbClr val="2979FF"/>
            </a:solidFill>
            <a:prstDash val="solid"/>
          </a:ln>
        </p:spPr>
      </p:sp>
      <p:sp>
        <p:nvSpPr>
          <p:cNvPr id="17" name="Text 15"/>
          <p:cNvSpPr/>
          <p:nvPr/>
        </p:nvSpPr>
        <p:spPr>
          <a:xfrm>
            <a:off x="2066544" y="2606040"/>
            <a:ext cx="1417320" cy="1737360"/>
          </a:xfrm>
          <a:prstGeom prst="rect">
            <a:avLst/>
          </a:prstGeom>
          <a:noFill/>
          <a:ln/>
        </p:spPr>
        <p:txBody>
          <a:bodyPr wrap="square" rtlCol="0" anchor="ctr"/>
          <a:lstStyle/>
          <a:p>
            <a:pPr marL="0" indent="0">
              <a:buNone/>
            </a:pPr>
            <a:r>
              <a:rPr lang="en-US" sz="950" dirty="0">
                <a:solidFill>
                  <a:srgbClr val="E8EEF6"/>
                </a:solidFill>
                <a:latin typeface="Calibri" pitchFamily="34" charset="0"/>
                <a:ea typeface="Calibri" pitchFamily="34" charset="-122"/>
                <a:cs typeface="Calibri" pitchFamily="34" charset="-120"/>
              </a:rPr>
              <a:t>Located IT Team &amp; clinical staff at AI-adopting healthcare organizations</a:t>
            </a:r>
            <a:endParaRPr lang="en-US" sz="950" dirty="0"/>
          </a:p>
        </p:txBody>
      </p:sp>
      <p:sp>
        <p:nvSpPr>
          <p:cNvPr id="18" name="Shape 16"/>
          <p:cNvSpPr/>
          <p:nvPr/>
        </p:nvSpPr>
        <p:spPr>
          <a:xfrm>
            <a:off x="3547872" y="2331720"/>
            <a:ext cx="210312" cy="36576"/>
          </a:xfrm>
          <a:prstGeom prst="rect">
            <a:avLst/>
          </a:prstGeom>
          <a:solidFill>
            <a:srgbClr val="2979FF"/>
          </a:solidFill>
          <a:ln w="12700">
            <a:solidFill>
              <a:srgbClr val="2979FF"/>
            </a:solidFill>
            <a:prstDash val="solid"/>
          </a:ln>
        </p:spPr>
      </p:sp>
      <p:sp>
        <p:nvSpPr>
          <p:cNvPr id="19" name="Shape 17"/>
          <p:cNvSpPr/>
          <p:nvPr/>
        </p:nvSpPr>
        <p:spPr>
          <a:xfrm>
            <a:off x="3758184" y="1188720"/>
            <a:ext cx="1554480" cy="3291840"/>
          </a:xfrm>
          <a:prstGeom prst="rect">
            <a:avLst/>
          </a:prstGeom>
          <a:solidFill>
            <a:srgbClr val="1A3A6E"/>
          </a:solidFill>
          <a:ln w="15240">
            <a:solidFill>
              <a:srgbClr val="2979FF"/>
            </a:solidFill>
            <a:prstDash val="solid"/>
          </a:ln>
        </p:spPr>
      </p:sp>
      <p:sp>
        <p:nvSpPr>
          <p:cNvPr id="20" name="Shape 18"/>
          <p:cNvSpPr/>
          <p:nvPr/>
        </p:nvSpPr>
        <p:spPr>
          <a:xfrm>
            <a:off x="4306824" y="1280160"/>
            <a:ext cx="457200" cy="457200"/>
          </a:xfrm>
          <a:prstGeom prst="ellipse">
            <a:avLst/>
          </a:prstGeom>
          <a:solidFill>
            <a:srgbClr val="2979FF"/>
          </a:solidFill>
          <a:ln w="12700">
            <a:solidFill>
              <a:srgbClr val="2979FF"/>
            </a:solidFill>
            <a:prstDash val="solid"/>
          </a:ln>
        </p:spPr>
      </p:sp>
      <p:sp>
        <p:nvSpPr>
          <p:cNvPr id="21" name="Text 19"/>
          <p:cNvSpPr/>
          <p:nvPr/>
        </p:nvSpPr>
        <p:spPr>
          <a:xfrm>
            <a:off x="4306824" y="128016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p:nvPr/>
        </p:nvSpPr>
        <p:spPr>
          <a:xfrm>
            <a:off x="3831336" y="1828800"/>
            <a:ext cx="1417320" cy="640080"/>
          </a:xfrm>
          <a:prstGeom prst="rect">
            <a:avLst/>
          </a:prstGeom>
          <a:noFill/>
          <a:ln/>
        </p:spPr>
        <p:txBody>
          <a:bodyPr wrap="square" rtlCol="0" anchor="ctr"/>
          <a:lstStyle/>
          <a:p>
            <a:pPr marL="0" indent="0" algn="ctr">
              <a:buNone/>
            </a:pPr>
            <a:r>
              <a:rPr lang="en-US" sz="1200" b="1" dirty="0">
                <a:solidFill>
                  <a:srgbClr val="90CAF9"/>
                </a:solidFill>
                <a:latin typeface="Calibri" pitchFamily="34" charset="0"/>
                <a:ea typeface="Calibri" pitchFamily="34" charset="-122"/>
                <a:cs typeface="Calibri" pitchFamily="34" charset="-120"/>
              </a:rPr>
              <a:t>Design</a:t>
            </a:r>
            <a:endParaRPr lang="en-US" sz="1200" dirty="0"/>
          </a:p>
          <a:p>
            <a:pPr marL="0" indent="0" algn="ctr">
              <a:buNone/>
            </a:pPr>
            <a:r>
              <a:rPr lang="en-US" sz="1200" b="1" dirty="0">
                <a:solidFill>
                  <a:srgbClr val="90CAF9"/>
                </a:solidFill>
                <a:latin typeface="Calibri" pitchFamily="34" charset="0"/>
                <a:ea typeface="Calibri" pitchFamily="34" charset="-122"/>
                <a:cs typeface="Calibri" pitchFamily="34" charset="-120"/>
              </a:rPr>
              <a:t>Questionnaire</a:t>
            </a:r>
            <a:endParaRPr lang="en-US" sz="1200" dirty="0"/>
          </a:p>
        </p:txBody>
      </p:sp>
      <p:sp>
        <p:nvSpPr>
          <p:cNvPr id="23" name="Shape 21"/>
          <p:cNvSpPr/>
          <p:nvPr/>
        </p:nvSpPr>
        <p:spPr>
          <a:xfrm>
            <a:off x="4032504" y="2514600"/>
            <a:ext cx="1005840" cy="27432"/>
          </a:xfrm>
          <a:prstGeom prst="rect">
            <a:avLst/>
          </a:prstGeom>
          <a:solidFill>
            <a:srgbClr val="2979FF"/>
          </a:solidFill>
          <a:ln w="12700">
            <a:solidFill>
              <a:srgbClr val="2979FF"/>
            </a:solidFill>
            <a:prstDash val="solid"/>
          </a:ln>
        </p:spPr>
      </p:sp>
      <p:sp>
        <p:nvSpPr>
          <p:cNvPr id="24" name="Text 22"/>
          <p:cNvSpPr/>
          <p:nvPr/>
        </p:nvSpPr>
        <p:spPr>
          <a:xfrm>
            <a:off x="3831336" y="2606040"/>
            <a:ext cx="1417320" cy="1737360"/>
          </a:xfrm>
          <a:prstGeom prst="rect">
            <a:avLst/>
          </a:prstGeom>
          <a:noFill/>
          <a:ln/>
        </p:spPr>
        <p:txBody>
          <a:bodyPr wrap="square" rtlCol="0" anchor="ctr"/>
          <a:lstStyle/>
          <a:p>
            <a:pPr marL="0" indent="0">
              <a:buNone/>
            </a:pPr>
            <a:r>
              <a:rPr lang="en-US" sz="950" dirty="0">
                <a:solidFill>
                  <a:srgbClr val="E8EEF6"/>
                </a:solidFill>
                <a:latin typeface="Calibri" pitchFamily="34" charset="0"/>
                <a:ea typeface="Calibri" pitchFamily="34" charset="-122"/>
                <a:cs typeface="Calibri" pitchFamily="34" charset="-120"/>
              </a:rPr>
              <a:t>Crafted semi-structured questions on barriers, trust issues &amp; implementation strategies</a:t>
            </a:r>
            <a:endParaRPr lang="en-US" sz="950" dirty="0"/>
          </a:p>
        </p:txBody>
      </p:sp>
      <p:sp>
        <p:nvSpPr>
          <p:cNvPr id="25" name="Shape 23"/>
          <p:cNvSpPr/>
          <p:nvPr/>
        </p:nvSpPr>
        <p:spPr>
          <a:xfrm>
            <a:off x="5312664" y="2331720"/>
            <a:ext cx="210312" cy="36576"/>
          </a:xfrm>
          <a:prstGeom prst="rect">
            <a:avLst/>
          </a:prstGeom>
          <a:solidFill>
            <a:srgbClr val="2979FF"/>
          </a:solidFill>
          <a:ln w="12700">
            <a:solidFill>
              <a:srgbClr val="2979FF"/>
            </a:solidFill>
            <a:prstDash val="solid"/>
          </a:ln>
        </p:spPr>
      </p:sp>
      <p:sp>
        <p:nvSpPr>
          <p:cNvPr id="26" name="Shape 24"/>
          <p:cNvSpPr/>
          <p:nvPr/>
        </p:nvSpPr>
        <p:spPr>
          <a:xfrm>
            <a:off x="5522976" y="1188720"/>
            <a:ext cx="1554480" cy="3291840"/>
          </a:xfrm>
          <a:prstGeom prst="rect">
            <a:avLst/>
          </a:prstGeom>
          <a:solidFill>
            <a:srgbClr val="1A3A6E"/>
          </a:solidFill>
          <a:ln w="15240">
            <a:solidFill>
              <a:srgbClr val="2979FF"/>
            </a:solidFill>
            <a:prstDash val="solid"/>
          </a:ln>
        </p:spPr>
        <p:txBody>
          <a:bodyPr/>
          <a:lstStyle/>
          <a:p>
            <a:endParaRPr lang="en-US" dirty="0"/>
          </a:p>
        </p:txBody>
      </p:sp>
      <p:sp>
        <p:nvSpPr>
          <p:cNvPr id="27" name="Shape 25"/>
          <p:cNvSpPr/>
          <p:nvPr/>
        </p:nvSpPr>
        <p:spPr>
          <a:xfrm>
            <a:off x="6071616" y="1280160"/>
            <a:ext cx="457200" cy="457200"/>
          </a:xfrm>
          <a:prstGeom prst="ellipse">
            <a:avLst/>
          </a:prstGeom>
          <a:solidFill>
            <a:srgbClr val="2979FF"/>
          </a:solidFill>
          <a:ln w="12700">
            <a:solidFill>
              <a:srgbClr val="2979FF"/>
            </a:solidFill>
            <a:prstDash val="solid"/>
          </a:ln>
        </p:spPr>
      </p:sp>
      <p:sp>
        <p:nvSpPr>
          <p:cNvPr id="28" name="Text 26"/>
          <p:cNvSpPr/>
          <p:nvPr/>
        </p:nvSpPr>
        <p:spPr>
          <a:xfrm>
            <a:off x="6071616" y="128016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9" name="Text 27"/>
          <p:cNvSpPr/>
          <p:nvPr/>
        </p:nvSpPr>
        <p:spPr>
          <a:xfrm>
            <a:off x="5596128" y="1828800"/>
            <a:ext cx="1417320" cy="640080"/>
          </a:xfrm>
          <a:prstGeom prst="rect">
            <a:avLst/>
          </a:prstGeom>
          <a:noFill/>
          <a:ln/>
        </p:spPr>
        <p:txBody>
          <a:bodyPr wrap="square" rtlCol="0" anchor="ctr"/>
          <a:lstStyle/>
          <a:p>
            <a:pPr marL="0" indent="0" algn="ctr">
              <a:buNone/>
            </a:pPr>
            <a:r>
              <a:rPr lang="en-US" sz="1200" b="1" dirty="0">
                <a:solidFill>
                  <a:srgbClr val="90CAF9"/>
                </a:solidFill>
                <a:latin typeface="Calibri" pitchFamily="34" charset="0"/>
                <a:ea typeface="Calibri" pitchFamily="34" charset="-122"/>
                <a:cs typeface="Calibri" pitchFamily="34" charset="-120"/>
              </a:rPr>
              <a:t>Conduct</a:t>
            </a:r>
            <a:endParaRPr lang="en-US" sz="1200" dirty="0"/>
          </a:p>
          <a:p>
            <a:pPr marL="0" indent="0" algn="ctr">
              <a:buNone/>
            </a:pPr>
            <a:r>
              <a:rPr lang="en-US" sz="1200" b="1" dirty="0">
                <a:solidFill>
                  <a:srgbClr val="90CAF9"/>
                </a:solidFill>
                <a:latin typeface="Calibri" pitchFamily="34" charset="0"/>
                <a:ea typeface="Calibri" pitchFamily="34" charset="-122"/>
                <a:cs typeface="Calibri" pitchFamily="34" charset="-120"/>
              </a:rPr>
              <a:t>Interviews</a:t>
            </a:r>
            <a:endParaRPr lang="en-US" sz="1200" dirty="0"/>
          </a:p>
        </p:txBody>
      </p:sp>
      <p:sp>
        <p:nvSpPr>
          <p:cNvPr id="30" name="Shape 28"/>
          <p:cNvSpPr/>
          <p:nvPr/>
        </p:nvSpPr>
        <p:spPr>
          <a:xfrm>
            <a:off x="5797296" y="2514600"/>
            <a:ext cx="1005840" cy="27432"/>
          </a:xfrm>
          <a:prstGeom prst="rect">
            <a:avLst/>
          </a:prstGeom>
          <a:solidFill>
            <a:srgbClr val="2979FF"/>
          </a:solidFill>
          <a:ln w="12700">
            <a:solidFill>
              <a:srgbClr val="2979FF"/>
            </a:solidFill>
            <a:prstDash val="solid"/>
          </a:ln>
        </p:spPr>
      </p:sp>
      <p:sp>
        <p:nvSpPr>
          <p:cNvPr id="31" name="Text 29"/>
          <p:cNvSpPr/>
          <p:nvPr/>
        </p:nvSpPr>
        <p:spPr>
          <a:xfrm>
            <a:off x="5596128" y="2606040"/>
            <a:ext cx="1417320" cy="1737360"/>
          </a:xfrm>
          <a:prstGeom prst="rect">
            <a:avLst/>
          </a:prstGeom>
          <a:noFill/>
          <a:ln/>
        </p:spPr>
        <p:txBody>
          <a:bodyPr wrap="square" rtlCol="0" anchor="ctr"/>
          <a:lstStyle/>
          <a:p>
            <a:pPr marL="0" indent="0">
              <a:buNone/>
            </a:pPr>
            <a:r>
              <a:rPr lang="en-US" sz="950" dirty="0">
                <a:solidFill>
                  <a:srgbClr val="E8EEF6"/>
                </a:solidFill>
                <a:latin typeface="Calibri" pitchFamily="34" charset="0"/>
                <a:ea typeface="Calibri" pitchFamily="34" charset="-122"/>
                <a:cs typeface="Calibri" pitchFamily="34" charset="-120"/>
              </a:rPr>
              <a:t>Virtual &amp; Offline Mode  interviews via Google Meet with PMs and impacted employees</a:t>
            </a:r>
            <a:endParaRPr lang="en-US" sz="950" dirty="0"/>
          </a:p>
        </p:txBody>
      </p:sp>
      <p:sp>
        <p:nvSpPr>
          <p:cNvPr id="32" name="Shape 30"/>
          <p:cNvSpPr/>
          <p:nvPr/>
        </p:nvSpPr>
        <p:spPr>
          <a:xfrm>
            <a:off x="7077456" y="2331720"/>
            <a:ext cx="210312" cy="36576"/>
          </a:xfrm>
          <a:prstGeom prst="rect">
            <a:avLst/>
          </a:prstGeom>
          <a:solidFill>
            <a:srgbClr val="2979FF"/>
          </a:solidFill>
          <a:ln w="12700">
            <a:solidFill>
              <a:srgbClr val="2979FF"/>
            </a:solidFill>
            <a:prstDash val="solid"/>
          </a:ln>
        </p:spPr>
      </p:sp>
      <p:sp>
        <p:nvSpPr>
          <p:cNvPr id="33" name="Shape 31"/>
          <p:cNvSpPr/>
          <p:nvPr/>
        </p:nvSpPr>
        <p:spPr>
          <a:xfrm>
            <a:off x="7287768" y="1188720"/>
            <a:ext cx="1554480" cy="3291840"/>
          </a:xfrm>
          <a:prstGeom prst="rect">
            <a:avLst/>
          </a:prstGeom>
          <a:solidFill>
            <a:srgbClr val="1A3A6E"/>
          </a:solidFill>
          <a:ln w="15240">
            <a:solidFill>
              <a:srgbClr val="2979FF"/>
            </a:solidFill>
            <a:prstDash val="solid"/>
          </a:ln>
        </p:spPr>
      </p:sp>
      <p:sp>
        <p:nvSpPr>
          <p:cNvPr id="34" name="Shape 32"/>
          <p:cNvSpPr/>
          <p:nvPr/>
        </p:nvSpPr>
        <p:spPr>
          <a:xfrm>
            <a:off x="7836408" y="1280160"/>
            <a:ext cx="457200" cy="457200"/>
          </a:xfrm>
          <a:prstGeom prst="ellipse">
            <a:avLst/>
          </a:prstGeom>
          <a:solidFill>
            <a:srgbClr val="2979FF"/>
          </a:solidFill>
          <a:ln w="12700">
            <a:solidFill>
              <a:srgbClr val="2979FF"/>
            </a:solidFill>
            <a:prstDash val="solid"/>
          </a:ln>
        </p:spPr>
      </p:sp>
      <p:sp>
        <p:nvSpPr>
          <p:cNvPr id="35" name="Text 33"/>
          <p:cNvSpPr/>
          <p:nvPr/>
        </p:nvSpPr>
        <p:spPr>
          <a:xfrm>
            <a:off x="7836408" y="128016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6" name="Text 34"/>
          <p:cNvSpPr/>
          <p:nvPr/>
        </p:nvSpPr>
        <p:spPr>
          <a:xfrm>
            <a:off x="7360920" y="1828800"/>
            <a:ext cx="1417320" cy="640080"/>
          </a:xfrm>
          <a:prstGeom prst="rect">
            <a:avLst/>
          </a:prstGeom>
          <a:noFill/>
          <a:ln/>
        </p:spPr>
        <p:txBody>
          <a:bodyPr wrap="square" rtlCol="0" anchor="ctr"/>
          <a:lstStyle/>
          <a:p>
            <a:pPr marL="0" indent="0" algn="ctr">
              <a:buNone/>
            </a:pPr>
            <a:r>
              <a:rPr lang="en-US" sz="1200" b="1" dirty="0">
                <a:solidFill>
                  <a:srgbClr val="90CAF9"/>
                </a:solidFill>
                <a:latin typeface="Calibri" pitchFamily="34" charset="0"/>
                <a:ea typeface="Calibri" pitchFamily="34" charset="-122"/>
                <a:cs typeface="Calibri" pitchFamily="34" charset="-120"/>
              </a:rPr>
              <a:t>Analyze &amp;</a:t>
            </a:r>
            <a:endParaRPr lang="en-US" sz="1200" dirty="0"/>
          </a:p>
          <a:p>
            <a:pPr marL="0" indent="0" algn="ctr">
              <a:buNone/>
            </a:pPr>
            <a:r>
              <a:rPr lang="en-US" sz="1200" b="1" dirty="0">
                <a:solidFill>
                  <a:srgbClr val="90CAF9"/>
                </a:solidFill>
                <a:latin typeface="Calibri" pitchFamily="34" charset="0"/>
                <a:ea typeface="Calibri" pitchFamily="34" charset="-122"/>
                <a:cs typeface="Calibri" pitchFamily="34" charset="-120"/>
              </a:rPr>
              <a:t>Report</a:t>
            </a:r>
            <a:endParaRPr lang="en-US" sz="1200" dirty="0"/>
          </a:p>
        </p:txBody>
      </p:sp>
      <p:sp>
        <p:nvSpPr>
          <p:cNvPr id="37" name="Shape 35"/>
          <p:cNvSpPr/>
          <p:nvPr/>
        </p:nvSpPr>
        <p:spPr>
          <a:xfrm>
            <a:off x="7562088" y="2514600"/>
            <a:ext cx="1005840" cy="27432"/>
          </a:xfrm>
          <a:prstGeom prst="rect">
            <a:avLst/>
          </a:prstGeom>
          <a:solidFill>
            <a:srgbClr val="2979FF"/>
          </a:solidFill>
          <a:ln w="12700">
            <a:solidFill>
              <a:srgbClr val="2979FF"/>
            </a:solidFill>
            <a:prstDash val="solid"/>
          </a:ln>
        </p:spPr>
      </p:sp>
      <p:sp>
        <p:nvSpPr>
          <p:cNvPr id="38" name="Text 36"/>
          <p:cNvSpPr/>
          <p:nvPr/>
        </p:nvSpPr>
        <p:spPr>
          <a:xfrm>
            <a:off x="7360920" y="2606040"/>
            <a:ext cx="1417320" cy="1737360"/>
          </a:xfrm>
          <a:prstGeom prst="rect">
            <a:avLst/>
          </a:prstGeom>
          <a:noFill/>
          <a:ln/>
        </p:spPr>
        <p:txBody>
          <a:bodyPr wrap="square" rtlCol="0" anchor="ctr"/>
          <a:lstStyle/>
          <a:p>
            <a:pPr marL="0" indent="0">
              <a:buNone/>
            </a:pPr>
            <a:r>
              <a:rPr lang="en-US" sz="950" dirty="0">
                <a:solidFill>
                  <a:srgbClr val="E8EEF6"/>
                </a:solidFill>
                <a:latin typeface="Calibri" pitchFamily="34" charset="0"/>
                <a:ea typeface="Calibri" pitchFamily="34" charset="-122"/>
                <a:cs typeface="Calibri" pitchFamily="34" charset="-120"/>
              </a:rPr>
              <a:t>Thematic analysis of responses; insights compiled into this RLP report</a:t>
            </a:r>
            <a:endParaRPr lang="en-US" sz="950" dirty="0"/>
          </a:p>
        </p:txBody>
      </p:sp>
      <p:sp>
        <p:nvSpPr>
          <p:cNvPr id="39" name="Shape 37"/>
          <p:cNvSpPr/>
          <p:nvPr/>
        </p:nvSpPr>
        <p:spPr>
          <a:xfrm>
            <a:off x="0" y="5052060"/>
            <a:ext cx="9144000" cy="91440"/>
          </a:xfrm>
          <a:prstGeom prst="rect">
            <a:avLst/>
          </a:prstGeom>
          <a:solidFill>
            <a:srgbClr val="2979FF"/>
          </a:solidFill>
          <a:ln w="12700">
            <a:solidFill>
              <a:srgbClr val="2979FF"/>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E"/>
          </a:solidFill>
          <a:ln w="12700">
            <a:solidFill>
              <a:srgbClr val="1A3A6E"/>
            </a:solidFill>
            <a:prstDash val="solid"/>
          </a:ln>
        </p:spPr>
      </p:sp>
      <p:sp>
        <p:nvSpPr>
          <p:cNvPr id="3" name="Shape 1"/>
          <p:cNvSpPr/>
          <p:nvPr/>
        </p:nvSpPr>
        <p:spPr>
          <a:xfrm>
            <a:off x="0" y="0"/>
            <a:ext cx="9144000" cy="73152"/>
          </a:xfrm>
          <a:prstGeom prst="rect">
            <a:avLst/>
          </a:prstGeom>
          <a:solidFill>
            <a:srgbClr val="2979FF"/>
          </a:solidFill>
          <a:ln w="12700">
            <a:solidFill>
              <a:srgbClr val="2979FF"/>
            </a:solidFill>
            <a:prstDash val="solid"/>
          </a:ln>
        </p:spPr>
      </p:sp>
      <p:sp>
        <p:nvSpPr>
          <p:cNvPr id="4" name="Text 2"/>
          <p:cNvSpPr/>
          <p:nvPr/>
        </p:nvSpPr>
        <p:spPr>
          <a:xfrm>
            <a:off x="365760" y="137160"/>
            <a:ext cx="8412480" cy="64008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SLIDE 03 — KEY FINDINGS: BIGGEST BARRIERS TO AI ADOPTION</a:t>
            </a:r>
            <a:endParaRPr lang="en-US" sz="1800" dirty="0"/>
          </a:p>
        </p:txBody>
      </p:sp>
      <p:sp>
        <p:nvSpPr>
          <p:cNvPr id="5" name="Shape 3"/>
          <p:cNvSpPr/>
          <p:nvPr/>
        </p:nvSpPr>
        <p:spPr>
          <a:xfrm>
            <a:off x="228600" y="1051560"/>
            <a:ext cx="2834640" cy="3931920"/>
          </a:xfrm>
          <a:prstGeom prst="rect">
            <a:avLst/>
          </a:prstGeom>
          <a:solidFill>
            <a:srgbClr val="FFFFFF"/>
          </a:solidFill>
          <a:ln w="12700">
            <a:solidFill>
              <a:srgbClr val="D0DCF0"/>
            </a:solidFill>
            <a:prstDash val="solid"/>
          </a:ln>
          <a:effectLst>
            <a:outerShdw blurRad="76200" dist="38100" dir="8100000" algn="bl" rotWithShape="0">
              <a:srgbClr val="000000">
                <a:alpha val="12000"/>
              </a:srgbClr>
            </a:outerShdw>
          </a:effectLst>
        </p:spPr>
      </p:sp>
      <p:sp>
        <p:nvSpPr>
          <p:cNvPr id="6" name="Shape 4"/>
          <p:cNvSpPr/>
          <p:nvPr/>
        </p:nvSpPr>
        <p:spPr>
          <a:xfrm>
            <a:off x="228600" y="1051560"/>
            <a:ext cx="2834640" cy="640080"/>
          </a:xfrm>
          <a:prstGeom prst="rect">
            <a:avLst/>
          </a:prstGeom>
          <a:solidFill>
            <a:srgbClr val="C62828"/>
          </a:solidFill>
          <a:ln w="12700">
            <a:solidFill>
              <a:srgbClr val="C62828"/>
            </a:solidFill>
            <a:prstDash val="solid"/>
          </a:ln>
        </p:spPr>
      </p:sp>
      <p:sp>
        <p:nvSpPr>
          <p:cNvPr id="7" name="Text 5"/>
          <p:cNvSpPr/>
          <p:nvPr/>
        </p:nvSpPr>
        <p:spPr>
          <a:xfrm>
            <a:off x="228600" y="1051560"/>
            <a:ext cx="73152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1005840" y="1097280"/>
            <a:ext cx="2011680" cy="5486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Employee Trust</a:t>
            </a:r>
            <a:endParaRPr lang="en-US" sz="1600" dirty="0"/>
          </a:p>
        </p:txBody>
      </p:sp>
      <p:sp>
        <p:nvSpPr>
          <p:cNvPr id="9" name="Text 7"/>
          <p:cNvSpPr/>
          <p:nvPr/>
        </p:nvSpPr>
        <p:spPr>
          <a:xfrm>
            <a:off x="365760" y="1828800"/>
            <a:ext cx="2560320" cy="1965960"/>
          </a:xfrm>
          <a:prstGeom prst="rect">
            <a:avLst/>
          </a:prstGeom>
          <a:noFill/>
          <a:ln/>
        </p:spPr>
        <p:txBody>
          <a:bodyPr wrap="square" rtlCol="0" anchor="ctr"/>
          <a:lstStyle/>
          <a:p>
            <a:r>
              <a:rPr lang="en-US" sz="1050" dirty="0"/>
              <a:t>Clinical staff were hesitant to follow AI recommendations because they were worried that the system might replace or override their professional judgment. This was the most common and most difficult challenge to overcome.</a:t>
            </a:r>
          </a:p>
        </p:txBody>
      </p:sp>
      <p:sp>
        <p:nvSpPr>
          <p:cNvPr id="10" name="Shape 8"/>
          <p:cNvSpPr/>
          <p:nvPr/>
        </p:nvSpPr>
        <p:spPr>
          <a:xfrm>
            <a:off x="365760" y="3840480"/>
            <a:ext cx="2560320" cy="27432"/>
          </a:xfrm>
          <a:prstGeom prst="rect">
            <a:avLst/>
          </a:prstGeom>
          <a:solidFill>
            <a:srgbClr val="C62828"/>
          </a:solidFill>
          <a:ln w="12700">
            <a:solidFill>
              <a:srgbClr val="C62828"/>
            </a:solidFill>
            <a:prstDash val="solid"/>
          </a:ln>
        </p:spPr>
      </p:sp>
      <p:sp>
        <p:nvSpPr>
          <p:cNvPr id="11" name="Text 9"/>
          <p:cNvSpPr/>
          <p:nvPr/>
        </p:nvSpPr>
        <p:spPr>
          <a:xfrm>
            <a:off x="320040" y="3913632"/>
            <a:ext cx="2651760" cy="548640"/>
          </a:xfrm>
          <a:prstGeom prst="rect">
            <a:avLst/>
          </a:prstGeom>
          <a:noFill/>
          <a:ln/>
        </p:spPr>
        <p:txBody>
          <a:bodyPr wrap="square" rtlCol="0" anchor="ctr"/>
          <a:lstStyle/>
          <a:p>
            <a:pPr marL="0" indent="0">
              <a:buNone/>
            </a:pPr>
            <a:r>
              <a:rPr lang="en-US" sz="900" b="1" i="1" dirty="0">
                <a:solidFill>
                  <a:srgbClr val="C62828"/>
                </a:solidFill>
                <a:latin typeface="Calibri" pitchFamily="34" charset="0"/>
                <a:ea typeface="Calibri" pitchFamily="34" charset="-122"/>
                <a:cs typeface="Calibri" pitchFamily="34" charset="-120"/>
              </a:rPr>
              <a:t>73% of PMs cited trust as the primary blocker</a:t>
            </a:r>
            <a:endParaRPr lang="en-US" sz="900" dirty="0"/>
          </a:p>
        </p:txBody>
      </p:sp>
      <p:sp>
        <p:nvSpPr>
          <p:cNvPr id="12" name="Shape 10"/>
          <p:cNvSpPr/>
          <p:nvPr/>
        </p:nvSpPr>
        <p:spPr>
          <a:xfrm>
            <a:off x="3200400" y="1051560"/>
            <a:ext cx="2834640" cy="3931920"/>
          </a:xfrm>
          <a:prstGeom prst="rect">
            <a:avLst/>
          </a:prstGeom>
          <a:solidFill>
            <a:srgbClr val="FFFFFF"/>
          </a:solidFill>
          <a:ln w="12700">
            <a:solidFill>
              <a:srgbClr val="D0DCF0"/>
            </a:solidFill>
            <a:prstDash val="solid"/>
          </a:ln>
          <a:effectLst>
            <a:outerShdw blurRad="76200" dist="38100" dir="8100000" algn="bl" rotWithShape="0">
              <a:srgbClr val="000000">
                <a:alpha val="12000"/>
              </a:srgbClr>
            </a:outerShdw>
          </a:effectLst>
        </p:spPr>
      </p:sp>
      <p:sp>
        <p:nvSpPr>
          <p:cNvPr id="13" name="Shape 11"/>
          <p:cNvSpPr/>
          <p:nvPr/>
        </p:nvSpPr>
        <p:spPr>
          <a:xfrm>
            <a:off x="3200400" y="1051560"/>
            <a:ext cx="2834640" cy="640080"/>
          </a:xfrm>
          <a:prstGeom prst="rect">
            <a:avLst/>
          </a:prstGeom>
          <a:solidFill>
            <a:srgbClr val="1565C0"/>
          </a:solidFill>
          <a:ln w="12700">
            <a:solidFill>
              <a:srgbClr val="1565C0"/>
            </a:solidFill>
            <a:prstDash val="solid"/>
          </a:ln>
        </p:spPr>
      </p:sp>
      <p:sp>
        <p:nvSpPr>
          <p:cNvPr id="14" name="Text 12"/>
          <p:cNvSpPr/>
          <p:nvPr/>
        </p:nvSpPr>
        <p:spPr>
          <a:xfrm>
            <a:off x="3200400" y="1051560"/>
            <a:ext cx="73152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5" name="Text 13"/>
          <p:cNvSpPr/>
          <p:nvPr/>
        </p:nvSpPr>
        <p:spPr>
          <a:xfrm>
            <a:off x="3977640" y="1097280"/>
            <a:ext cx="2011680" cy="5486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Data Quality</a:t>
            </a:r>
            <a:endParaRPr lang="en-US" sz="1600" dirty="0"/>
          </a:p>
        </p:txBody>
      </p:sp>
      <p:sp>
        <p:nvSpPr>
          <p:cNvPr id="16" name="Text 14"/>
          <p:cNvSpPr/>
          <p:nvPr/>
        </p:nvSpPr>
        <p:spPr>
          <a:xfrm>
            <a:off x="3337560" y="1828800"/>
            <a:ext cx="2560320" cy="1965960"/>
          </a:xfrm>
          <a:prstGeom prst="rect">
            <a:avLst/>
          </a:prstGeom>
          <a:noFill/>
          <a:ln/>
        </p:spPr>
        <p:txBody>
          <a:bodyPr wrap="square" rtlCol="0" anchor="ctr"/>
          <a:lstStyle/>
          <a:p>
            <a:r>
              <a:rPr lang="en-US" sz="1050" dirty="0"/>
              <a:t>Incorrect, incomplete, or biased data led to inaccurate predictions, which lowered trust. Therefore, strong data management and proper data cleaning were essential.</a:t>
            </a:r>
          </a:p>
        </p:txBody>
      </p:sp>
      <p:sp>
        <p:nvSpPr>
          <p:cNvPr id="17" name="Shape 15"/>
          <p:cNvSpPr/>
          <p:nvPr/>
        </p:nvSpPr>
        <p:spPr>
          <a:xfrm>
            <a:off x="3337560" y="3840480"/>
            <a:ext cx="2560320" cy="27432"/>
          </a:xfrm>
          <a:prstGeom prst="rect">
            <a:avLst/>
          </a:prstGeom>
          <a:solidFill>
            <a:srgbClr val="1565C0"/>
          </a:solidFill>
          <a:ln w="12700">
            <a:solidFill>
              <a:srgbClr val="1565C0"/>
            </a:solidFill>
            <a:prstDash val="solid"/>
          </a:ln>
        </p:spPr>
      </p:sp>
      <p:sp>
        <p:nvSpPr>
          <p:cNvPr id="18" name="Text 16"/>
          <p:cNvSpPr/>
          <p:nvPr/>
        </p:nvSpPr>
        <p:spPr>
          <a:xfrm>
            <a:off x="3291840" y="3913632"/>
            <a:ext cx="2651760" cy="548640"/>
          </a:xfrm>
          <a:prstGeom prst="rect">
            <a:avLst/>
          </a:prstGeom>
          <a:noFill/>
          <a:ln/>
        </p:spPr>
        <p:txBody>
          <a:bodyPr wrap="square" rtlCol="0" anchor="ctr"/>
          <a:lstStyle/>
          <a:p>
            <a:pPr marL="0" indent="0">
              <a:buNone/>
            </a:pPr>
            <a:r>
              <a:rPr lang="en-US" sz="900" b="1" i="1" dirty="0">
                <a:solidFill>
                  <a:srgbClr val="1565C0"/>
                </a:solidFill>
                <a:latin typeface="Calibri" pitchFamily="34" charset="0"/>
                <a:ea typeface="Calibri" pitchFamily="34" charset="-122"/>
                <a:cs typeface="Calibri" pitchFamily="34" charset="-120"/>
              </a:rPr>
              <a:t>Garbage-in, garbage-out: cited by all respondents</a:t>
            </a:r>
            <a:endParaRPr lang="en-US" sz="900" dirty="0"/>
          </a:p>
        </p:txBody>
      </p:sp>
      <p:sp>
        <p:nvSpPr>
          <p:cNvPr id="19" name="Shape 17"/>
          <p:cNvSpPr/>
          <p:nvPr/>
        </p:nvSpPr>
        <p:spPr>
          <a:xfrm>
            <a:off x="6172200" y="1051560"/>
            <a:ext cx="2834640" cy="3931920"/>
          </a:xfrm>
          <a:prstGeom prst="rect">
            <a:avLst/>
          </a:prstGeom>
          <a:solidFill>
            <a:srgbClr val="FFFFFF"/>
          </a:solidFill>
          <a:ln w="12700">
            <a:solidFill>
              <a:srgbClr val="D0DCF0"/>
            </a:solidFill>
            <a:prstDash val="solid"/>
          </a:ln>
          <a:effectLst>
            <a:outerShdw blurRad="76200" dist="38100" dir="8100000" algn="bl" rotWithShape="0">
              <a:srgbClr val="000000">
                <a:alpha val="12000"/>
              </a:srgbClr>
            </a:outerShdw>
          </a:effectLst>
        </p:spPr>
      </p:sp>
      <p:sp>
        <p:nvSpPr>
          <p:cNvPr id="20" name="Shape 18"/>
          <p:cNvSpPr/>
          <p:nvPr/>
        </p:nvSpPr>
        <p:spPr>
          <a:xfrm>
            <a:off x="6172200" y="1051560"/>
            <a:ext cx="2834640" cy="640080"/>
          </a:xfrm>
          <a:prstGeom prst="rect">
            <a:avLst/>
          </a:prstGeom>
          <a:solidFill>
            <a:srgbClr val="0D47A1"/>
          </a:solidFill>
          <a:ln w="12700">
            <a:solidFill>
              <a:srgbClr val="0D47A1"/>
            </a:solidFill>
            <a:prstDash val="solid"/>
          </a:ln>
        </p:spPr>
      </p:sp>
      <p:sp>
        <p:nvSpPr>
          <p:cNvPr id="21" name="Text 19"/>
          <p:cNvSpPr/>
          <p:nvPr/>
        </p:nvSpPr>
        <p:spPr>
          <a:xfrm>
            <a:off x="6172200" y="1051560"/>
            <a:ext cx="73152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2" name="Text 20"/>
          <p:cNvSpPr/>
          <p:nvPr/>
        </p:nvSpPr>
        <p:spPr>
          <a:xfrm>
            <a:off x="6949440" y="1097280"/>
            <a:ext cx="2011680" cy="5486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Code &amp; Integration</a:t>
            </a:r>
            <a:endParaRPr lang="en-US" sz="1600" dirty="0"/>
          </a:p>
        </p:txBody>
      </p:sp>
      <p:sp>
        <p:nvSpPr>
          <p:cNvPr id="23" name="Text 21"/>
          <p:cNvSpPr/>
          <p:nvPr/>
        </p:nvSpPr>
        <p:spPr>
          <a:xfrm>
            <a:off x="6309360" y="1828800"/>
            <a:ext cx="2560320" cy="1965960"/>
          </a:xfrm>
          <a:prstGeom prst="rect">
            <a:avLst/>
          </a:prstGeom>
          <a:noFill/>
          <a:ln/>
        </p:spPr>
        <p:txBody>
          <a:bodyPr wrap="square" rtlCol="0" anchor="ctr"/>
          <a:lstStyle/>
          <a:p>
            <a:r>
              <a:rPr lang="en-US" sz="1050" dirty="0"/>
              <a:t>Legacy hospital systems required costly custom APIs, and accumulated technical debt delayed deployment by 6–18 months in most case studies</a:t>
            </a:r>
          </a:p>
          <a:p>
            <a:r>
              <a:rPr lang="en-US" sz="1050" dirty="0"/>
              <a:t>.</a:t>
            </a:r>
          </a:p>
        </p:txBody>
      </p:sp>
      <p:sp>
        <p:nvSpPr>
          <p:cNvPr id="24" name="Shape 22"/>
          <p:cNvSpPr/>
          <p:nvPr/>
        </p:nvSpPr>
        <p:spPr>
          <a:xfrm>
            <a:off x="6309360" y="3840480"/>
            <a:ext cx="2560320" cy="27432"/>
          </a:xfrm>
          <a:prstGeom prst="rect">
            <a:avLst/>
          </a:prstGeom>
          <a:solidFill>
            <a:srgbClr val="0D47A1"/>
          </a:solidFill>
          <a:ln w="12700">
            <a:solidFill>
              <a:srgbClr val="0D47A1"/>
            </a:solidFill>
            <a:prstDash val="solid"/>
          </a:ln>
        </p:spPr>
      </p:sp>
      <p:sp>
        <p:nvSpPr>
          <p:cNvPr id="25" name="Text 23"/>
          <p:cNvSpPr/>
          <p:nvPr/>
        </p:nvSpPr>
        <p:spPr>
          <a:xfrm>
            <a:off x="6263640" y="3913632"/>
            <a:ext cx="2651760" cy="548640"/>
          </a:xfrm>
          <a:prstGeom prst="rect">
            <a:avLst/>
          </a:prstGeom>
          <a:noFill/>
          <a:ln/>
        </p:spPr>
        <p:txBody>
          <a:bodyPr wrap="square" rtlCol="0" anchor="ctr"/>
          <a:lstStyle/>
          <a:p>
            <a:pPr marL="0" indent="0">
              <a:buNone/>
            </a:pPr>
            <a:r>
              <a:rPr lang="en-US" sz="900" b="1" i="1" dirty="0">
                <a:solidFill>
                  <a:srgbClr val="0D47A1"/>
                </a:solidFill>
                <a:latin typeface="Calibri" pitchFamily="34" charset="0"/>
                <a:ea typeface="Calibri" pitchFamily="34" charset="-122"/>
                <a:cs typeface="Calibri" pitchFamily="34" charset="-120"/>
              </a:rPr>
              <a:t>Integration delays averaged 9 months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2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979FF"/>
          </a:solidFill>
          <a:ln w="12700">
            <a:solidFill>
              <a:srgbClr val="2979FF"/>
            </a:solidFill>
            <a:prstDash val="solid"/>
          </a:ln>
        </p:spPr>
      </p:sp>
      <p:sp>
        <p:nvSpPr>
          <p:cNvPr id="3" name="Text 1"/>
          <p:cNvSpPr/>
          <p:nvPr/>
        </p:nvSpPr>
        <p:spPr>
          <a:xfrm>
            <a:off x="365760" y="164592"/>
            <a:ext cx="8229600" cy="228600"/>
          </a:xfrm>
          <a:prstGeom prst="rect">
            <a:avLst/>
          </a:prstGeom>
          <a:noFill/>
          <a:ln/>
        </p:spPr>
        <p:txBody>
          <a:bodyPr wrap="square" rtlCol="0" anchor="ctr"/>
          <a:lstStyle/>
          <a:p>
            <a:pPr marL="0" indent="0">
              <a:buNone/>
            </a:pPr>
            <a:r>
              <a:rPr lang="en-US" sz="900" b="1" dirty="0">
                <a:solidFill>
                  <a:srgbClr val="90CAF9"/>
                </a:solidFill>
                <a:latin typeface="Calibri" pitchFamily="34" charset="0"/>
                <a:ea typeface="Calibri" pitchFamily="34" charset="-122"/>
                <a:cs typeface="Calibri" pitchFamily="34" charset="-120"/>
              </a:rPr>
              <a:t>SLIDE 04</a:t>
            </a:r>
            <a:endParaRPr lang="en-US" sz="900" dirty="0"/>
          </a:p>
        </p:txBody>
      </p:sp>
      <p:sp>
        <p:nvSpPr>
          <p:cNvPr id="4" name="Text 2"/>
          <p:cNvSpPr/>
          <p:nvPr/>
        </p:nvSpPr>
        <p:spPr>
          <a:xfrm>
            <a:off x="365760" y="384048"/>
            <a:ext cx="822960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HOW DID THEY SOLVE THE "TRUST" ISSUE?</a:t>
            </a:r>
            <a:endParaRPr lang="en-US" sz="2200" dirty="0"/>
          </a:p>
        </p:txBody>
      </p:sp>
      <p:sp>
        <p:nvSpPr>
          <p:cNvPr id="5" name="Shape 3"/>
          <p:cNvSpPr/>
          <p:nvPr/>
        </p:nvSpPr>
        <p:spPr>
          <a:xfrm>
            <a:off x="228600" y="1051560"/>
            <a:ext cx="4251960" cy="1097280"/>
          </a:xfrm>
          <a:prstGeom prst="rect">
            <a:avLst/>
          </a:prstGeom>
          <a:solidFill>
            <a:srgbClr val="1A3A6E"/>
          </a:solidFill>
          <a:ln w="12700">
            <a:solidFill>
              <a:srgbClr val="2979FF"/>
            </a:solidFill>
            <a:prstDash val="solid"/>
          </a:ln>
        </p:spPr>
      </p:sp>
      <p:sp>
        <p:nvSpPr>
          <p:cNvPr id="6" name="Shape 4"/>
          <p:cNvSpPr/>
          <p:nvPr/>
        </p:nvSpPr>
        <p:spPr>
          <a:xfrm>
            <a:off x="320040" y="1371600"/>
            <a:ext cx="457200" cy="457200"/>
          </a:xfrm>
          <a:prstGeom prst="ellipse">
            <a:avLst/>
          </a:prstGeom>
          <a:solidFill>
            <a:srgbClr val="2979FF"/>
          </a:solidFill>
          <a:ln w="12700">
            <a:solidFill>
              <a:srgbClr val="2979FF"/>
            </a:solidFill>
            <a:prstDash val="solid"/>
          </a:ln>
        </p:spPr>
      </p:sp>
      <p:sp>
        <p:nvSpPr>
          <p:cNvPr id="7" name="Text 5"/>
          <p:cNvSpPr/>
          <p:nvPr/>
        </p:nvSpPr>
        <p:spPr>
          <a:xfrm>
            <a:off x="320040" y="137160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8" name="Text 6"/>
          <p:cNvSpPr/>
          <p:nvPr/>
        </p:nvSpPr>
        <p:spPr>
          <a:xfrm>
            <a:off x="868680" y="1097280"/>
            <a:ext cx="3474720" cy="320040"/>
          </a:xfrm>
          <a:prstGeom prst="rect">
            <a:avLst/>
          </a:prstGeom>
          <a:noFill/>
          <a:ln/>
        </p:spPr>
        <p:txBody>
          <a:bodyPr wrap="square" rtlCol="0" anchor="ctr"/>
          <a:lstStyle/>
          <a:p>
            <a:pPr marL="0" indent="0">
              <a:buNone/>
            </a:pPr>
            <a:r>
              <a:rPr lang="en-US" sz="1200" b="1" dirty="0">
                <a:solidFill>
                  <a:srgbClr val="90CAF9"/>
                </a:solidFill>
                <a:latin typeface="Calibri" pitchFamily="34" charset="0"/>
                <a:ea typeface="Calibri" pitchFamily="34" charset="-122"/>
                <a:cs typeface="Calibri" pitchFamily="34" charset="-120"/>
              </a:rPr>
              <a:t>Explainability First</a:t>
            </a:r>
            <a:endParaRPr lang="en-US" sz="1200" dirty="0"/>
          </a:p>
        </p:txBody>
      </p:sp>
      <p:sp>
        <p:nvSpPr>
          <p:cNvPr id="9" name="Text 7"/>
          <p:cNvSpPr/>
          <p:nvPr/>
        </p:nvSpPr>
        <p:spPr>
          <a:xfrm>
            <a:off x="868680" y="1399032"/>
            <a:ext cx="3520440" cy="685800"/>
          </a:xfrm>
          <a:prstGeom prst="rect">
            <a:avLst/>
          </a:prstGeom>
          <a:noFill/>
          <a:ln/>
        </p:spPr>
        <p:txBody>
          <a:bodyPr wrap="square" rtlCol="0" anchor="ctr"/>
          <a:lstStyle/>
          <a:p>
            <a:pPr marL="0" indent="0">
              <a:buNone/>
            </a:pPr>
            <a:r>
              <a:rPr lang="en-US" sz="950" dirty="0">
                <a:solidFill>
                  <a:srgbClr val="E8EEF6"/>
                </a:solidFill>
                <a:latin typeface="Calibri" pitchFamily="34" charset="0"/>
                <a:ea typeface="Calibri" pitchFamily="34" charset="-122"/>
                <a:cs typeface="Calibri" pitchFamily="34" charset="-120"/>
              </a:rPr>
              <a:t>PMs mandated that AI tools show their reasoning — not just the recommendation, but the contributing factors. Doctors who could see 'why' were 3× more likely to act on suggestions.</a:t>
            </a:r>
            <a:endParaRPr lang="en-US" sz="950" dirty="0"/>
          </a:p>
        </p:txBody>
      </p:sp>
      <p:sp>
        <p:nvSpPr>
          <p:cNvPr id="10" name="Shape 8"/>
          <p:cNvSpPr/>
          <p:nvPr/>
        </p:nvSpPr>
        <p:spPr>
          <a:xfrm>
            <a:off x="4690872" y="1051560"/>
            <a:ext cx="4251960" cy="1097280"/>
          </a:xfrm>
          <a:prstGeom prst="rect">
            <a:avLst/>
          </a:prstGeom>
          <a:solidFill>
            <a:srgbClr val="1A3A6E"/>
          </a:solidFill>
          <a:ln w="12700">
            <a:solidFill>
              <a:srgbClr val="2979FF"/>
            </a:solidFill>
            <a:prstDash val="solid"/>
          </a:ln>
        </p:spPr>
      </p:sp>
      <p:sp>
        <p:nvSpPr>
          <p:cNvPr id="11" name="Shape 9"/>
          <p:cNvSpPr/>
          <p:nvPr/>
        </p:nvSpPr>
        <p:spPr>
          <a:xfrm>
            <a:off x="4782312" y="1371600"/>
            <a:ext cx="457200" cy="457200"/>
          </a:xfrm>
          <a:prstGeom prst="ellipse">
            <a:avLst/>
          </a:prstGeom>
          <a:solidFill>
            <a:srgbClr val="2979FF"/>
          </a:solidFill>
          <a:ln w="12700">
            <a:solidFill>
              <a:srgbClr val="2979FF"/>
            </a:solidFill>
            <a:prstDash val="solid"/>
          </a:ln>
        </p:spPr>
      </p:sp>
      <p:sp>
        <p:nvSpPr>
          <p:cNvPr id="12" name="Text 10"/>
          <p:cNvSpPr/>
          <p:nvPr/>
        </p:nvSpPr>
        <p:spPr>
          <a:xfrm>
            <a:off x="4782312" y="137160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3" name="Text 11"/>
          <p:cNvSpPr/>
          <p:nvPr/>
        </p:nvSpPr>
        <p:spPr>
          <a:xfrm>
            <a:off x="5330952" y="1097280"/>
            <a:ext cx="3474720" cy="320040"/>
          </a:xfrm>
          <a:prstGeom prst="rect">
            <a:avLst/>
          </a:prstGeom>
          <a:noFill/>
          <a:ln/>
        </p:spPr>
        <p:txBody>
          <a:bodyPr wrap="square" rtlCol="0" anchor="ctr"/>
          <a:lstStyle/>
          <a:p>
            <a:pPr marL="0" indent="0">
              <a:buNone/>
            </a:pPr>
            <a:r>
              <a:rPr lang="en-US" sz="1200" b="1" dirty="0">
                <a:solidFill>
                  <a:srgbClr val="90CAF9"/>
                </a:solidFill>
                <a:latin typeface="Calibri" pitchFamily="34" charset="0"/>
                <a:ea typeface="Calibri" pitchFamily="34" charset="-122"/>
                <a:cs typeface="Calibri" pitchFamily="34" charset="-120"/>
              </a:rPr>
              <a:t>Pilot with Champions</a:t>
            </a:r>
            <a:endParaRPr lang="en-US" sz="1200" dirty="0"/>
          </a:p>
        </p:txBody>
      </p:sp>
      <p:sp>
        <p:nvSpPr>
          <p:cNvPr id="14" name="Text 12"/>
          <p:cNvSpPr/>
          <p:nvPr/>
        </p:nvSpPr>
        <p:spPr>
          <a:xfrm>
            <a:off x="5330952" y="1399032"/>
            <a:ext cx="3520440" cy="685800"/>
          </a:xfrm>
          <a:prstGeom prst="rect">
            <a:avLst/>
          </a:prstGeom>
          <a:noFill/>
          <a:ln/>
        </p:spPr>
        <p:txBody>
          <a:bodyPr wrap="square" rtlCol="0" anchor="ctr"/>
          <a:lstStyle/>
          <a:p>
            <a:r>
              <a:rPr lang="en-US" sz="1000" dirty="0">
                <a:solidFill>
                  <a:schemeClr val="bg1"/>
                </a:solidFill>
              </a:rPr>
              <a:t>A small group of motivated clinicians were trained first. Their successful results were shared across the organization, encouraging others to adopt the system naturally instead of forcing it from the top management.</a:t>
            </a:r>
            <a:endParaRPr lang="en-US" sz="950" dirty="0">
              <a:solidFill>
                <a:schemeClr val="bg1"/>
              </a:solidFill>
            </a:endParaRPr>
          </a:p>
        </p:txBody>
      </p:sp>
      <p:sp>
        <p:nvSpPr>
          <p:cNvPr id="15" name="Shape 13"/>
          <p:cNvSpPr/>
          <p:nvPr/>
        </p:nvSpPr>
        <p:spPr>
          <a:xfrm>
            <a:off x="228600" y="2286000"/>
            <a:ext cx="4251960" cy="1097280"/>
          </a:xfrm>
          <a:prstGeom prst="rect">
            <a:avLst/>
          </a:prstGeom>
          <a:solidFill>
            <a:srgbClr val="1A3A6E"/>
          </a:solidFill>
          <a:ln w="12700">
            <a:solidFill>
              <a:srgbClr val="2979FF"/>
            </a:solidFill>
            <a:prstDash val="solid"/>
          </a:ln>
        </p:spPr>
      </p:sp>
      <p:sp>
        <p:nvSpPr>
          <p:cNvPr id="16" name="Shape 14"/>
          <p:cNvSpPr/>
          <p:nvPr/>
        </p:nvSpPr>
        <p:spPr>
          <a:xfrm>
            <a:off x="320040" y="2606040"/>
            <a:ext cx="457200" cy="457200"/>
          </a:xfrm>
          <a:prstGeom prst="ellipse">
            <a:avLst/>
          </a:prstGeom>
          <a:solidFill>
            <a:srgbClr val="2979FF"/>
          </a:solidFill>
          <a:ln w="12700">
            <a:solidFill>
              <a:srgbClr val="2979FF"/>
            </a:solidFill>
            <a:prstDash val="solid"/>
          </a:ln>
        </p:spPr>
      </p:sp>
      <p:sp>
        <p:nvSpPr>
          <p:cNvPr id="17" name="Text 15"/>
          <p:cNvSpPr/>
          <p:nvPr/>
        </p:nvSpPr>
        <p:spPr>
          <a:xfrm>
            <a:off x="320040" y="260604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8" name="Text 16"/>
          <p:cNvSpPr/>
          <p:nvPr/>
        </p:nvSpPr>
        <p:spPr>
          <a:xfrm>
            <a:off x="868680" y="2331720"/>
            <a:ext cx="3474720" cy="320040"/>
          </a:xfrm>
          <a:prstGeom prst="rect">
            <a:avLst/>
          </a:prstGeom>
          <a:noFill/>
          <a:ln/>
        </p:spPr>
        <p:txBody>
          <a:bodyPr wrap="square" rtlCol="0" anchor="ctr"/>
          <a:lstStyle/>
          <a:p>
            <a:pPr marL="0" indent="0">
              <a:buNone/>
            </a:pPr>
            <a:r>
              <a:rPr lang="en-US" sz="1200" b="1" dirty="0">
                <a:solidFill>
                  <a:srgbClr val="90CAF9"/>
                </a:solidFill>
                <a:latin typeface="Calibri" pitchFamily="34" charset="0"/>
                <a:ea typeface="Calibri" pitchFamily="34" charset="-122"/>
                <a:cs typeface="Calibri" pitchFamily="34" charset="-120"/>
              </a:rPr>
              <a:t>Gradual Autonomy Model</a:t>
            </a:r>
            <a:endParaRPr lang="en-US" sz="1200" dirty="0"/>
          </a:p>
        </p:txBody>
      </p:sp>
      <p:sp>
        <p:nvSpPr>
          <p:cNvPr id="19" name="Text 17"/>
          <p:cNvSpPr/>
          <p:nvPr/>
        </p:nvSpPr>
        <p:spPr>
          <a:xfrm>
            <a:off x="868680" y="2633472"/>
            <a:ext cx="3520440" cy="685800"/>
          </a:xfrm>
          <a:prstGeom prst="rect">
            <a:avLst/>
          </a:prstGeom>
          <a:noFill/>
          <a:ln/>
        </p:spPr>
        <p:txBody>
          <a:bodyPr wrap="square" rtlCol="0" anchor="ctr"/>
          <a:lstStyle/>
          <a:p>
            <a:r>
              <a:rPr lang="en-US" sz="1000" dirty="0">
                <a:solidFill>
                  <a:schemeClr val="bg1"/>
                </a:solidFill>
              </a:rPr>
              <a:t>AI was first used only as a ‘second opinion.’ As it proved to be accurate, it was given more responsibility. Throughout the process, staff continued to feel in control.</a:t>
            </a:r>
            <a:endParaRPr lang="en-US" sz="950" dirty="0">
              <a:solidFill>
                <a:schemeClr val="bg1"/>
              </a:solidFill>
            </a:endParaRPr>
          </a:p>
        </p:txBody>
      </p:sp>
      <p:sp>
        <p:nvSpPr>
          <p:cNvPr id="20" name="Shape 18"/>
          <p:cNvSpPr/>
          <p:nvPr/>
        </p:nvSpPr>
        <p:spPr>
          <a:xfrm>
            <a:off x="4690872" y="2286000"/>
            <a:ext cx="4251960" cy="1097280"/>
          </a:xfrm>
          <a:prstGeom prst="rect">
            <a:avLst/>
          </a:prstGeom>
          <a:solidFill>
            <a:srgbClr val="1A3A6E"/>
          </a:solidFill>
          <a:ln w="12700">
            <a:solidFill>
              <a:srgbClr val="2979FF"/>
            </a:solidFill>
            <a:prstDash val="solid"/>
          </a:ln>
        </p:spPr>
      </p:sp>
      <p:sp>
        <p:nvSpPr>
          <p:cNvPr id="21" name="Shape 19"/>
          <p:cNvSpPr/>
          <p:nvPr/>
        </p:nvSpPr>
        <p:spPr>
          <a:xfrm>
            <a:off x="4782312" y="2606040"/>
            <a:ext cx="457200" cy="457200"/>
          </a:xfrm>
          <a:prstGeom prst="ellipse">
            <a:avLst/>
          </a:prstGeom>
          <a:solidFill>
            <a:srgbClr val="2979FF"/>
          </a:solidFill>
          <a:ln w="12700">
            <a:solidFill>
              <a:srgbClr val="2979FF"/>
            </a:solidFill>
            <a:prstDash val="solid"/>
          </a:ln>
        </p:spPr>
      </p:sp>
      <p:sp>
        <p:nvSpPr>
          <p:cNvPr id="22" name="Text 20"/>
          <p:cNvSpPr/>
          <p:nvPr/>
        </p:nvSpPr>
        <p:spPr>
          <a:xfrm>
            <a:off x="4782312" y="260604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23" name="Text 21"/>
          <p:cNvSpPr/>
          <p:nvPr/>
        </p:nvSpPr>
        <p:spPr>
          <a:xfrm>
            <a:off x="5330952" y="2331720"/>
            <a:ext cx="3474720" cy="320040"/>
          </a:xfrm>
          <a:prstGeom prst="rect">
            <a:avLst/>
          </a:prstGeom>
          <a:noFill/>
          <a:ln/>
        </p:spPr>
        <p:txBody>
          <a:bodyPr wrap="square" rtlCol="0" anchor="ctr"/>
          <a:lstStyle/>
          <a:p>
            <a:pPr marL="0" indent="0">
              <a:buNone/>
            </a:pPr>
            <a:r>
              <a:rPr lang="en-US" sz="1200" b="1" dirty="0">
                <a:solidFill>
                  <a:srgbClr val="90CAF9"/>
                </a:solidFill>
                <a:latin typeface="Calibri" pitchFamily="34" charset="0"/>
                <a:ea typeface="Calibri" pitchFamily="34" charset="-122"/>
                <a:cs typeface="Calibri" pitchFamily="34" charset="-120"/>
              </a:rPr>
              <a:t>Continuous Feedback Loops</a:t>
            </a:r>
            <a:endParaRPr lang="en-US" sz="1200" dirty="0"/>
          </a:p>
        </p:txBody>
      </p:sp>
      <p:sp>
        <p:nvSpPr>
          <p:cNvPr id="24" name="Text 22"/>
          <p:cNvSpPr/>
          <p:nvPr/>
        </p:nvSpPr>
        <p:spPr>
          <a:xfrm>
            <a:off x="5330952" y="2633472"/>
            <a:ext cx="3520440" cy="685800"/>
          </a:xfrm>
          <a:prstGeom prst="rect">
            <a:avLst/>
          </a:prstGeom>
          <a:noFill/>
          <a:ln/>
        </p:spPr>
        <p:txBody>
          <a:bodyPr wrap="square" rtlCol="0" anchor="ctr"/>
          <a:lstStyle/>
          <a:p>
            <a:r>
              <a:rPr lang="en-US" sz="1000" dirty="0">
                <a:solidFill>
                  <a:schemeClr val="bg1"/>
                </a:solidFill>
              </a:rPr>
              <a:t>Doctors could report wrong AI suggestions directly in the app. This made staff feel valued and helped improve the system step by step.</a:t>
            </a:r>
            <a:endParaRPr lang="en-US" sz="950" dirty="0">
              <a:solidFill>
                <a:schemeClr val="bg1"/>
              </a:solidFill>
            </a:endParaRPr>
          </a:p>
        </p:txBody>
      </p:sp>
      <p:sp>
        <p:nvSpPr>
          <p:cNvPr id="25" name="Shape 23"/>
          <p:cNvSpPr/>
          <p:nvPr/>
        </p:nvSpPr>
        <p:spPr>
          <a:xfrm>
            <a:off x="228600" y="3520440"/>
            <a:ext cx="4251960" cy="1097280"/>
          </a:xfrm>
          <a:prstGeom prst="rect">
            <a:avLst/>
          </a:prstGeom>
          <a:solidFill>
            <a:srgbClr val="1A3A6E"/>
          </a:solidFill>
          <a:ln w="12700">
            <a:solidFill>
              <a:srgbClr val="2979FF"/>
            </a:solidFill>
            <a:prstDash val="solid"/>
          </a:ln>
        </p:spPr>
      </p:sp>
      <p:sp>
        <p:nvSpPr>
          <p:cNvPr id="26" name="Shape 24"/>
          <p:cNvSpPr/>
          <p:nvPr/>
        </p:nvSpPr>
        <p:spPr>
          <a:xfrm>
            <a:off x="320040" y="3840480"/>
            <a:ext cx="457200" cy="457200"/>
          </a:xfrm>
          <a:prstGeom prst="ellipse">
            <a:avLst/>
          </a:prstGeom>
          <a:solidFill>
            <a:srgbClr val="2979FF"/>
          </a:solidFill>
          <a:ln w="12700">
            <a:solidFill>
              <a:srgbClr val="2979FF"/>
            </a:solidFill>
            <a:prstDash val="solid"/>
          </a:ln>
        </p:spPr>
      </p:sp>
      <p:sp>
        <p:nvSpPr>
          <p:cNvPr id="27" name="Text 25"/>
          <p:cNvSpPr/>
          <p:nvPr/>
        </p:nvSpPr>
        <p:spPr>
          <a:xfrm>
            <a:off x="320040" y="384048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a:t>
            </a:r>
            <a:endParaRPr lang="en-US" sz="1300" dirty="0"/>
          </a:p>
        </p:txBody>
      </p:sp>
      <p:sp>
        <p:nvSpPr>
          <p:cNvPr id="28" name="Text 26"/>
          <p:cNvSpPr/>
          <p:nvPr/>
        </p:nvSpPr>
        <p:spPr>
          <a:xfrm>
            <a:off x="868680" y="3566160"/>
            <a:ext cx="3474720" cy="320040"/>
          </a:xfrm>
          <a:prstGeom prst="rect">
            <a:avLst/>
          </a:prstGeom>
          <a:noFill/>
          <a:ln/>
        </p:spPr>
        <p:txBody>
          <a:bodyPr wrap="square" rtlCol="0" anchor="ctr"/>
          <a:lstStyle/>
          <a:p>
            <a:pPr marL="0" indent="0">
              <a:buNone/>
            </a:pPr>
            <a:r>
              <a:rPr lang="en-US" sz="1200" b="1" dirty="0">
                <a:solidFill>
                  <a:srgbClr val="90CAF9"/>
                </a:solidFill>
                <a:latin typeface="Calibri" pitchFamily="34" charset="0"/>
                <a:ea typeface="Calibri" pitchFamily="34" charset="-122"/>
                <a:cs typeface="Calibri" pitchFamily="34" charset="-120"/>
              </a:rPr>
              <a:t>Training &amp; Change Mgmt</a:t>
            </a:r>
            <a:endParaRPr lang="en-US" sz="1200" dirty="0"/>
          </a:p>
        </p:txBody>
      </p:sp>
      <p:sp>
        <p:nvSpPr>
          <p:cNvPr id="29" name="Text 27"/>
          <p:cNvSpPr/>
          <p:nvPr/>
        </p:nvSpPr>
        <p:spPr>
          <a:xfrm>
            <a:off x="868680" y="3867912"/>
            <a:ext cx="3520440" cy="685800"/>
          </a:xfrm>
          <a:prstGeom prst="rect">
            <a:avLst/>
          </a:prstGeom>
          <a:noFill/>
          <a:ln/>
        </p:spPr>
        <p:txBody>
          <a:bodyPr wrap="square" rtlCol="0" anchor="ctr"/>
          <a:lstStyle/>
          <a:p>
            <a:r>
              <a:rPr lang="en-US" sz="1000" dirty="0">
                <a:solidFill>
                  <a:schemeClr val="bg1"/>
                </a:solidFill>
              </a:rPr>
              <a:t>Training workshops, real-life practice sessions, and support staff helped clinical teams feel supported instead of replaced.</a:t>
            </a:r>
            <a:endParaRPr lang="en-US" sz="950" dirty="0">
              <a:solidFill>
                <a:schemeClr val="bg1"/>
              </a:solidFill>
            </a:endParaRPr>
          </a:p>
        </p:txBody>
      </p:sp>
      <p:sp>
        <p:nvSpPr>
          <p:cNvPr id="30" name="Shape 28"/>
          <p:cNvSpPr/>
          <p:nvPr/>
        </p:nvSpPr>
        <p:spPr>
          <a:xfrm>
            <a:off x="4690872" y="3520440"/>
            <a:ext cx="4251960" cy="1097280"/>
          </a:xfrm>
          <a:prstGeom prst="rect">
            <a:avLst/>
          </a:prstGeom>
          <a:solidFill>
            <a:srgbClr val="1A3A6E"/>
          </a:solidFill>
          <a:ln w="12700">
            <a:solidFill>
              <a:srgbClr val="2979FF"/>
            </a:solidFill>
            <a:prstDash val="solid"/>
          </a:ln>
        </p:spPr>
      </p:sp>
      <p:sp>
        <p:nvSpPr>
          <p:cNvPr id="31" name="Shape 29"/>
          <p:cNvSpPr/>
          <p:nvPr/>
        </p:nvSpPr>
        <p:spPr>
          <a:xfrm>
            <a:off x="4782312" y="3840480"/>
            <a:ext cx="457200" cy="457200"/>
          </a:xfrm>
          <a:prstGeom prst="ellipse">
            <a:avLst/>
          </a:prstGeom>
          <a:solidFill>
            <a:srgbClr val="2979FF"/>
          </a:solidFill>
          <a:ln w="12700">
            <a:solidFill>
              <a:srgbClr val="2979FF"/>
            </a:solidFill>
            <a:prstDash val="solid"/>
          </a:ln>
        </p:spPr>
      </p:sp>
      <p:sp>
        <p:nvSpPr>
          <p:cNvPr id="32" name="Text 30"/>
          <p:cNvSpPr/>
          <p:nvPr/>
        </p:nvSpPr>
        <p:spPr>
          <a:xfrm>
            <a:off x="4782312" y="3840480"/>
            <a:ext cx="457200" cy="4572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33" name="Text 31"/>
          <p:cNvSpPr/>
          <p:nvPr/>
        </p:nvSpPr>
        <p:spPr>
          <a:xfrm>
            <a:off x="5330952" y="3566160"/>
            <a:ext cx="3474720" cy="320040"/>
          </a:xfrm>
          <a:prstGeom prst="rect">
            <a:avLst/>
          </a:prstGeom>
          <a:noFill/>
          <a:ln/>
        </p:spPr>
        <p:txBody>
          <a:bodyPr wrap="square" rtlCol="0" anchor="ctr"/>
          <a:lstStyle/>
          <a:p>
            <a:pPr marL="0" indent="0">
              <a:buNone/>
            </a:pPr>
            <a:r>
              <a:rPr lang="en-US" sz="1200" b="1" dirty="0">
                <a:solidFill>
                  <a:srgbClr val="90CAF9"/>
                </a:solidFill>
                <a:latin typeface="Calibri" pitchFamily="34" charset="0"/>
                <a:ea typeface="Calibri" pitchFamily="34" charset="-122"/>
                <a:cs typeface="Calibri" pitchFamily="34" charset="-120"/>
              </a:rPr>
              <a:t>Transparent Error Tracking</a:t>
            </a:r>
            <a:endParaRPr lang="en-US" sz="1200" dirty="0"/>
          </a:p>
        </p:txBody>
      </p:sp>
      <p:sp>
        <p:nvSpPr>
          <p:cNvPr id="34" name="Text 32"/>
          <p:cNvSpPr/>
          <p:nvPr/>
        </p:nvSpPr>
        <p:spPr>
          <a:xfrm>
            <a:off x="5330952" y="3867912"/>
            <a:ext cx="3520440" cy="685800"/>
          </a:xfrm>
          <a:prstGeom prst="rect">
            <a:avLst/>
          </a:prstGeom>
          <a:noFill/>
          <a:ln/>
        </p:spPr>
        <p:txBody>
          <a:bodyPr wrap="square" rtlCol="0" anchor="ctr"/>
          <a:lstStyle/>
          <a:p>
            <a:r>
              <a:rPr lang="en-US" sz="1050" dirty="0">
                <a:solidFill>
                  <a:schemeClr val="bg1"/>
                </a:solidFill>
              </a:rPr>
              <a:t>Publicly sharing the AI’s performance metrics, including its errors, unexpectedly increased trust more than concealing failures would have.</a:t>
            </a:r>
            <a:endParaRPr lang="en-US" sz="1000" dirty="0">
              <a:solidFill>
                <a:schemeClr val="bg1"/>
              </a:solidFill>
            </a:endParaRPr>
          </a:p>
        </p:txBody>
      </p:sp>
      <p:sp>
        <p:nvSpPr>
          <p:cNvPr id="35" name="Shape 33"/>
          <p:cNvSpPr/>
          <p:nvPr/>
        </p:nvSpPr>
        <p:spPr>
          <a:xfrm>
            <a:off x="0" y="5052060"/>
            <a:ext cx="9144000" cy="91440"/>
          </a:xfrm>
          <a:prstGeom prst="rect">
            <a:avLst/>
          </a:prstGeom>
          <a:solidFill>
            <a:srgbClr val="2979FF"/>
          </a:solidFill>
          <a:ln w="12700">
            <a:solidFill>
              <a:srgbClr val="2979FF"/>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0" y="-45720"/>
            <a:ext cx="9144000" cy="914400"/>
          </a:xfrm>
          <a:prstGeom prst="rect">
            <a:avLst/>
          </a:prstGeom>
          <a:solidFill>
            <a:srgbClr val="1A3A6E"/>
          </a:solidFill>
          <a:ln w="12700">
            <a:solidFill>
              <a:srgbClr val="1A3A6E"/>
            </a:solidFill>
            <a:prstDash val="solid"/>
          </a:ln>
        </p:spPr>
        <p:txBody>
          <a:bodyPr/>
          <a:lstStyle/>
          <a:p>
            <a:endParaRPr lang="en-US" dirty="0"/>
          </a:p>
        </p:txBody>
      </p:sp>
      <p:sp>
        <p:nvSpPr>
          <p:cNvPr id="3" name="Shape 1"/>
          <p:cNvSpPr/>
          <p:nvPr/>
        </p:nvSpPr>
        <p:spPr>
          <a:xfrm>
            <a:off x="0" y="0"/>
            <a:ext cx="9144000" cy="73152"/>
          </a:xfrm>
          <a:prstGeom prst="rect">
            <a:avLst/>
          </a:prstGeom>
          <a:solidFill>
            <a:srgbClr val="2979FF"/>
          </a:solidFill>
          <a:ln w="12700">
            <a:solidFill>
              <a:srgbClr val="2979FF"/>
            </a:solidFill>
            <a:prstDash val="solid"/>
          </a:ln>
        </p:spPr>
      </p:sp>
      <p:sp>
        <p:nvSpPr>
          <p:cNvPr id="4" name="Text 2"/>
          <p:cNvSpPr/>
          <p:nvPr/>
        </p:nvSpPr>
        <p:spPr>
          <a:xfrm>
            <a:off x="365760" y="182880"/>
            <a:ext cx="8412480" cy="5943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SLIDE 05 — CONTRIBUTION OF  MEMBERS</a:t>
            </a:r>
          </a:p>
          <a:p>
            <a:pPr marL="0" indent="0">
              <a:buNone/>
            </a:pPr>
            <a:r>
              <a:rPr lang="en-US" sz="2000" b="1" dirty="0">
                <a:solidFill>
                  <a:srgbClr val="FFFFFF"/>
                </a:solidFill>
                <a:latin typeface="Calibri" pitchFamily="34" charset="0"/>
                <a:ea typeface="Calibri" pitchFamily="34" charset="-122"/>
                <a:cs typeface="Calibri" pitchFamily="34" charset="-120"/>
              </a:rPr>
              <a:t>Names – Niraj Kumar, Kuldeep Sarkar</a:t>
            </a:r>
            <a:endParaRPr lang="en-US" sz="2000" dirty="0"/>
          </a:p>
        </p:txBody>
      </p:sp>
      <p:sp>
        <p:nvSpPr>
          <p:cNvPr id="5" name="Shape 3"/>
          <p:cNvSpPr/>
          <p:nvPr/>
        </p:nvSpPr>
        <p:spPr>
          <a:xfrm>
            <a:off x="274320" y="1051560"/>
            <a:ext cx="8595360" cy="685800"/>
          </a:xfrm>
          <a:prstGeom prst="rect">
            <a:avLst/>
          </a:prstGeom>
          <a:solidFill>
            <a:srgbClr val="FFFFFF"/>
          </a:solidFill>
          <a:ln w="12700">
            <a:solidFill>
              <a:srgbClr val="D0DCF0"/>
            </a:solidFill>
            <a:prstDash val="solid"/>
          </a:ln>
        </p:spPr>
      </p:sp>
      <p:sp>
        <p:nvSpPr>
          <p:cNvPr id="6" name="Shape 4"/>
          <p:cNvSpPr/>
          <p:nvPr/>
        </p:nvSpPr>
        <p:spPr>
          <a:xfrm>
            <a:off x="274320" y="1051560"/>
            <a:ext cx="54864" cy="685800"/>
          </a:xfrm>
          <a:prstGeom prst="rect">
            <a:avLst/>
          </a:prstGeom>
          <a:solidFill>
            <a:srgbClr val="2979FF"/>
          </a:solidFill>
          <a:ln w="12700">
            <a:solidFill>
              <a:srgbClr val="2979FF"/>
            </a:solidFill>
            <a:prstDash val="solid"/>
          </a:ln>
        </p:spPr>
      </p:sp>
      <p:sp>
        <p:nvSpPr>
          <p:cNvPr id="7" name="Text 5"/>
          <p:cNvSpPr/>
          <p:nvPr/>
        </p:nvSpPr>
        <p:spPr>
          <a:xfrm>
            <a:off x="384048" y="1051560"/>
            <a:ext cx="457200" cy="685800"/>
          </a:xfrm>
          <a:prstGeom prst="rect">
            <a:avLst/>
          </a:prstGeom>
          <a:noFill/>
          <a:ln/>
        </p:spPr>
        <p:txBody>
          <a:bodyPr wrap="square" rtlCol="0" anchor="ctr"/>
          <a:lstStyle/>
          <a:p>
            <a:pPr marL="0" indent="0" algn="ctr">
              <a:buNone/>
            </a:pPr>
            <a:r>
              <a:rPr lang="en-US" sz="1300" b="1" dirty="0">
                <a:solidFill>
                  <a:srgbClr val="1565C0"/>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896112" y="1143000"/>
            <a:ext cx="2194560" cy="502920"/>
          </a:xfrm>
          <a:prstGeom prst="rect">
            <a:avLst/>
          </a:prstGeom>
          <a:noFill/>
          <a:ln/>
        </p:spPr>
        <p:txBody>
          <a:bodyPr wrap="square" rtlCol="0" anchor="ctr"/>
          <a:lstStyle/>
          <a:p>
            <a:pPr marL="0" indent="0">
              <a:buNone/>
            </a:pPr>
            <a:r>
              <a:rPr lang="en-US" sz="1200" b="1" dirty="0">
                <a:solidFill>
                  <a:srgbClr val="0A0F2C"/>
                </a:solidFill>
                <a:latin typeface="Calibri" pitchFamily="34" charset="0"/>
                <a:ea typeface="Calibri" pitchFamily="34" charset="-122"/>
                <a:cs typeface="Calibri" pitchFamily="34" charset="-120"/>
              </a:rPr>
              <a:t>Research Lead</a:t>
            </a:r>
            <a:endParaRPr lang="en-US" sz="1200" dirty="0"/>
          </a:p>
        </p:txBody>
      </p:sp>
      <p:sp>
        <p:nvSpPr>
          <p:cNvPr id="9" name="Shape 7"/>
          <p:cNvSpPr/>
          <p:nvPr/>
        </p:nvSpPr>
        <p:spPr>
          <a:xfrm>
            <a:off x="3200400" y="1234440"/>
            <a:ext cx="27432" cy="320040"/>
          </a:xfrm>
          <a:prstGeom prst="rect">
            <a:avLst/>
          </a:prstGeom>
          <a:solidFill>
            <a:srgbClr val="C0CCE0"/>
          </a:solidFill>
          <a:ln w="12700">
            <a:solidFill>
              <a:srgbClr val="C0CCE0"/>
            </a:solidFill>
            <a:prstDash val="solid"/>
          </a:ln>
        </p:spPr>
      </p:sp>
      <p:sp>
        <p:nvSpPr>
          <p:cNvPr id="10" name="Text 8"/>
          <p:cNvSpPr/>
          <p:nvPr/>
        </p:nvSpPr>
        <p:spPr>
          <a:xfrm>
            <a:off x="3337560" y="1143000"/>
            <a:ext cx="5394960" cy="502920"/>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Identified interviewees, prepared outreach emails, scheduled Google Meet sessions</a:t>
            </a:r>
            <a:endParaRPr lang="en-US" sz="1100" dirty="0"/>
          </a:p>
        </p:txBody>
      </p:sp>
      <p:sp>
        <p:nvSpPr>
          <p:cNvPr id="11" name="Shape 9"/>
          <p:cNvSpPr/>
          <p:nvPr/>
        </p:nvSpPr>
        <p:spPr>
          <a:xfrm>
            <a:off x="274320" y="1554480"/>
            <a:ext cx="8595360" cy="164592"/>
          </a:xfrm>
          <a:prstGeom prst="rect">
            <a:avLst/>
          </a:prstGeom>
          <a:solidFill>
            <a:srgbClr val="EEF2FB"/>
          </a:solidFill>
          <a:ln w="6350">
            <a:solidFill>
              <a:srgbClr val="2979FF"/>
            </a:solidFill>
            <a:prstDash val="solid"/>
          </a:ln>
        </p:spPr>
      </p:sp>
      <p:sp>
        <p:nvSpPr>
          <p:cNvPr id="13" name="Shape 11"/>
          <p:cNvSpPr/>
          <p:nvPr/>
        </p:nvSpPr>
        <p:spPr>
          <a:xfrm>
            <a:off x="274320" y="1819656"/>
            <a:ext cx="8595360" cy="685800"/>
          </a:xfrm>
          <a:prstGeom prst="rect">
            <a:avLst/>
          </a:prstGeom>
          <a:solidFill>
            <a:srgbClr val="FFFFFF"/>
          </a:solidFill>
          <a:ln w="12700">
            <a:solidFill>
              <a:srgbClr val="D0DCF0"/>
            </a:solidFill>
            <a:prstDash val="solid"/>
          </a:ln>
        </p:spPr>
      </p:sp>
      <p:sp>
        <p:nvSpPr>
          <p:cNvPr id="14" name="Shape 12"/>
          <p:cNvSpPr/>
          <p:nvPr/>
        </p:nvSpPr>
        <p:spPr>
          <a:xfrm>
            <a:off x="274320" y="1819656"/>
            <a:ext cx="54864" cy="685800"/>
          </a:xfrm>
          <a:prstGeom prst="rect">
            <a:avLst/>
          </a:prstGeom>
          <a:solidFill>
            <a:srgbClr val="2979FF"/>
          </a:solidFill>
          <a:ln w="12700">
            <a:solidFill>
              <a:srgbClr val="2979FF"/>
            </a:solidFill>
            <a:prstDash val="solid"/>
          </a:ln>
        </p:spPr>
      </p:sp>
      <p:sp>
        <p:nvSpPr>
          <p:cNvPr id="15" name="Text 13"/>
          <p:cNvSpPr/>
          <p:nvPr/>
        </p:nvSpPr>
        <p:spPr>
          <a:xfrm>
            <a:off x="384048" y="1819656"/>
            <a:ext cx="457200" cy="685800"/>
          </a:xfrm>
          <a:prstGeom prst="rect">
            <a:avLst/>
          </a:prstGeom>
          <a:noFill/>
          <a:ln/>
        </p:spPr>
        <p:txBody>
          <a:bodyPr wrap="square" rtlCol="0" anchor="ctr"/>
          <a:lstStyle/>
          <a:p>
            <a:pPr marL="0" indent="0" algn="ctr">
              <a:buNone/>
            </a:pPr>
            <a:r>
              <a:rPr lang="en-US" sz="1300" b="1" dirty="0">
                <a:solidFill>
                  <a:srgbClr val="1565C0"/>
                </a:solidFill>
                <a:latin typeface="Calibri" pitchFamily="34" charset="0"/>
                <a:ea typeface="Calibri" pitchFamily="34" charset="-122"/>
                <a:cs typeface="Calibri" pitchFamily="34" charset="-120"/>
              </a:rPr>
              <a:t>02</a:t>
            </a:r>
            <a:endParaRPr lang="en-US" sz="1300" dirty="0"/>
          </a:p>
        </p:txBody>
      </p:sp>
      <p:sp>
        <p:nvSpPr>
          <p:cNvPr id="16" name="Text 14"/>
          <p:cNvSpPr/>
          <p:nvPr/>
        </p:nvSpPr>
        <p:spPr>
          <a:xfrm>
            <a:off x="896112" y="1911096"/>
            <a:ext cx="2194560" cy="502920"/>
          </a:xfrm>
          <a:prstGeom prst="rect">
            <a:avLst/>
          </a:prstGeom>
          <a:noFill/>
          <a:ln/>
        </p:spPr>
        <p:txBody>
          <a:bodyPr wrap="square" rtlCol="0" anchor="ctr"/>
          <a:lstStyle/>
          <a:p>
            <a:pPr marL="0" indent="0">
              <a:buNone/>
            </a:pPr>
            <a:r>
              <a:rPr lang="en-US" sz="1200" b="1" dirty="0">
                <a:solidFill>
                  <a:srgbClr val="0A0F2C"/>
                </a:solidFill>
                <a:latin typeface="Calibri" pitchFamily="34" charset="0"/>
                <a:ea typeface="Calibri" pitchFamily="34" charset="-122"/>
                <a:cs typeface="Calibri" pitchFamily="34" charset="-120"/>
              </a:rPr>
              <a:t>Interview Lead</a:t>
            </a:r>
            <a:endParaRPr lang="en-US" sz="1200" dirty="0"/>
          </a:p>
        </p:txBody>
      </p:sp>
      <p:sp>
        <p:nvSpPr>
          <p:cNvPr id="17" name="Shape 15"/>
          <p:cNvSpPr/>
          <p:nvPr/>
        </p:nvSpPr>
        <p:spPr>
          <a:xfrm>
            <a:off x="3200400" y="2002536"/>
            <a:ext cx="27432" cy="320040"/>
          </a:xfrm>
          <a:prstGeom prst="rect">
            <a:avLst/>
          </a:prstGeom>
          <a:solidFill>
            <a:srgbClr val="C0CCE0"/>
          </a:solidFill>
          <a:ln w="12700">
            <a:solidFill>
              <a:srgbClr val="C0CCE0"/>
            </a:solidFill>
            <a:prstDash val="solid"/>
          </a:ln>
        </p:spPr>
      </p:sp>
      <p:sp>
        <p:nvSpPr>
          <p:cNvPr id="18" name="Text 16"/>
          <p:cNvSpPr/>
          <p:nvPr/>
        </p:nvSpPr>
        <p:spPr>
          <a:xfrm>
            <a:off x="3337560" y="1911096"/>
            <a:ext cx="5394960" cy="502920"/>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Conducted primary interviews with Project Managers and framed follow-up questions</a:t>
            </a:r>
            <a:endParaRPr lang="en-US" sz="1100" dirty="0"/>
          </a:p>
        </p:txBody>
      </p:sp>
      <p:sp>
        <p:nvSpPr>
          <p:cNvPr id="21" name="Shape 19"/>
          <p:cNvSpPr/>
          <p:nvPr/>
        </p:nvSpPr>
        <p:spPr>
          <a:xfrm>
            <a:off x="259442" y="2666252"/>
            <a:ext cx="8595360" cy="685800"/>
          </a:xfrm>
          <a:prstGeom prst="rect">
            <a:avLst/>
          </a:prstGeom>
          <a:solidFill>
            <a:srgbClr val="FFFFFF"/>
          </a:solidFill>
          <a:ln w="12700">
            <a:solidFill>
              <a:srgbClr val="D0DCF0"/>
            </a:solidFill>
            <a:prstDash val="solid"/>
          </a:ln>
        </p:spPr>
      </p:sp>
      <p:sp>
        <p:nvSpPr>
          <p:cNvPr id="22" name="Shape 20"/>
          <p:cNvSpPr/>
          <p:nvPr/>
        </p:nvSpPr>
        <p:spPr>
          <a:xfrm>
            <a:off x="274320" y="2587752"/>
            <a:ext cx="54864" cy="685800"/>
          </a:xfrm>
          <a:prstGeom prst="rect">
            <a:avLst/>
          </a:prstGeom>
          <a:solidFill>
            <a:srgbClr val="2979FF"/>
          </a:solidFill>
          <a:ln w="12700">
            <a:solidFill>
              <a:srgbClr val="2979FF"/>
            </a:solidFill>
            <a:prstDash val="solid"/>
          </a:ln>
        </p:spPr>
      </p:sp>
      <p:sp>
        <p:nvSpPr>
          <p:cNvPr id="23" name="Text 21"/>
          <p:cNvSpPr/>
          <p:nvPr/>
        </p:nvSpPr>
        <p:spPr>
          <a:xfrm>
            <a:off x="384048" y="2587752"/>
            <a:ext cx="457200" cy="685800"/>
          </a:xfrm>
          <a:prstGeom prst="rect">
            <a:avLst/>
          </a:prstGeom>
          <a:noFill/>
          <a:ln/>
        </p:spPr>
        <p:txBody>
          <a:bodyPr wrap="square" rtlCol="0" anchor="ctr"/>
          <a:lstStyle/>
          <a:p>
            <a:pPr marL="0" indent="0" algn="ctr">
              <a:buNone/>
            </a:pPr>
            <a:r>
              <a:rPr lang="en-US" sz="1300" b="1" dirty="0">
                <a:solidFill>
                  <a:srgbClr val="1565C0"/>
                </a:solidFill>
                <a:latin typeface="Calibri" pitchFamily="34" charset="0"/>
                <a:ea typeface="Calibri" pitchFamily="34" charset="-122"/>
                <a:cs typeface="Calibri" pitchFamily="34" charset="-120"/>
              </a:rPr>
              <a:t>03</a:t>
            </a:r>
            <a:endParaRPr lang="en-US" sz="1300" dirty="0"/>
          </a:p>
        </p:txBody>
      </p:sp>
      <p:sp>
        <p:nvSpPr>
          <p:cNvPr id="24" name="Text 22"/>
          <p:cNvSpPr/>
          <p:nvPr/>
        </p:nvSpPr>
        <p:spPr>
          <a:xfrm>
            <a:off x="896112" y="2679192"/>
            <a:ext cx="2194560" cy="502920"/>
          </a:xfrm>
          <a:prstGeom prst="rect">
            <a:avLst/>
          </a:prstGeom>
          <a:noFill/>
          <a:ln/>
        </p:spPr>
        <p:txBody>
          <a:bodyPr wrap="square" rtlCol="0" anchor="ctr"/>
          <a:lstStyle/>
          <a:p>
            <a:pPr marL="0" indent="0">
              <a:buNone/>
            </a:pPr>
            <a:r>
              <a:rPr lang="en-US" sz="1200" b="1" dirty="0">
                <a:solidFill>
                  <a:srgbClr val="0A0F2C"/>
                </a:solidFill>
                <a:latin typeface="Calibri" pitchFamily="34" charset="0"/>
                <a:ea typeface="Calibri" pitchFamily="34" charset="-122"/>
                <a:cs typeface="Calibri" pitchFamily="34" charset="-120"/>
              </a:rPr>
              <a:t>Documentation</a:t>
            </a:r>
            <a:endParaRPr lang="en-US" sz="1200" dirty="0"/>
          </a:p>
        </p:txBody>
      </p:sp>
      <p:sp>
        <p:nvSpPr>
          <p:cNvPr id="25" name="Shape 23"/>
          <p:cNvSpPr/>
          <p:nvPr/>
        </p:nvSpPr>
        <p:spPr>
          <a:xfrm>
            <a:off x="3200400" y="2770632"/>
            <a:ext cx="27432" cy="320040"/>
          </a:xfrm>
          <a:prstGeom prst="rect">
            <a:avLst/>
          </a:prstGeom>
          <a:solidFill>
            <a:srgbClr val="C0CCE0"/>
          </a:solidFill>
          <a:ln w="12700">
            <a:solidFill>
              <a:srgbClr val="C0CCE0"/>
            </a:solidFill>
            <a:prstDash val="solid"/>
          </a:ln>
        </p:spPr>
      </p:sp>
      <p:sp>
        <p:nvSpPr>
          <p:cNvPr id="26" name="Text 24"/>
          <p:cNvSpPr/>
          <p:nvPr/>
        </p:nvSpPr>
        <p:spPr>
          <a:xfrm>
            <a:off x="3337560" y="2679192"/>
            <a:ext cx="5394960" cy="502920"/>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Transcribed interview responses, organized raw notes, maintained data integrity</a:t>
            </a:r>
            <a:endParaRPr lang="en-US" sz="1100" dirty="0"/>
          </a:p>
        </p:txBody>
      </p:sp>
      <p:sp>
        <p:nvSpPr>
          <p:cNvPr id="29" name="Shape 27"/>
          <p:cNvSpPr/>
          <p:nvPr/>
        </p:nvSpPr>
        <p:spPr>
          <a:xfrm>
            <a:off x="274320" y="3355848"/>
            <a:ext cx="8595360" cy="685800"/>
          </a:xfrm>
          <a:prstGeom prst="rect">
            <a:avLst/>
          </a:prstGeom>
          <a:solidFill>
            <a:srgbClr val="FFFFFF"/>
          </a:solidFill>
          <a:ln w="12700">
            <a:solidFill>
              <a:srgbClr val="D0DCF0"/>
            </a:solidFill>
            <a:prstDash val="solid"/>
          </a:ln>
        </p:spPr>
      </p:sp>
      <p:sp>
        <p:nvSpPr>
          <p:cNvPr id="30" name="Shape 28"/>
          <p:cNvSpPr/>
          <p:nvPr/>
        </p:nvSpPr>
        <p:spPr>
          <a:xfrm>
            <a:off x="274320" y="3355848"/>
            <a:ext cx="54864" cy="685800"/>
          </a:xfrm>
          <a:prstGeom prst="rect">
            <a:avLst/>
          </a:prstGeom>
          <a:solidFill>
            <a:srgbClr val="2979FF"/>
          </a:solidFill>
          <a:ln w="12700">
            <a:solidFill>
              <a:srgbClr val="2979FF"/>
            </a:solidFill>
            <a:prstDash val="solid"/>
          </a:ln>
        </p:spPr>
      </p:sp>
      <p:sp>
        <p:nvSpPr>
          <p:cNvPr id="31" name="Text 29"/>
          <p:cNvSpPr/>
          <p:nvPr/>
        </p:nvSpPr>
        <p:spPr>
          <a:xfrm>
            <a:off x="384048" y="3355848"/>
            <a:ext cx="457200" cy="685800"/>
          </a:xfrm>
          <a:prstGeom prst="rect">
            <a:avLst/>
          </a:prstGeom>
          <a:noFill/>
          <a:ln/>
        </p:spPr>
        <p:txBody>
          <a:bodyPr wrap="square" rtlCol="0" anchor="ctr"/>
          <a:lstStyle/>
          <a:p>
            <a:pPr marL="0" indent="0" algn="ctr">
              <a:buNone/>
            </a:pPr>
            <a:r>
              <a:rPr lang="en-US" sz="1300" b="1" dirty="0">
                <a:solidFill>
                  <a:srgbClr val="1565C0"/>
                </a:solidFill>
                <a:latin typeface="Calibri" pitchFamily="34" charset="0"/>
                <a:ea typeface="Calibri" pitchFamily="34" charset="-122"/>
                <a:cs typeface="Calibri" pitchFamily="34" charset="-120"/>
              </a:rPr>
              <a:t>04</a:t>
            </a:r>
            <a:endParaRPr lang="en-US" sz="1300" dirty="0"/>
          </a:p>
        </p:txBody>
      </p:sp>
      <p:sp>
        <p:nvSpPr>
          <p:cNvPr id="32" name="Text 30"/>
          <p:cNvSpPr/>
          <p:nvPr/>
        </p:nvSpPr>
        <p:spPr>
          <a:xfrm>
            <a:off x="896112" y="3447288"/>
            <a:ext cx="2194560" cy="502920"/>
          </a:xfrm>
          <a:prstGeom prst="rect">
            <a:avLst/>
          </a:prstGeom>
          <a:noFill/>
          <a:ln/>
        </p:spPr>
        <p:txBody>
          <a:bodyPr wrap="square" rtlCol="0" anchor="ctr"/>
          <a:lstStyle/>
          <a:p>
            <a:pPr marL="0" indent="0">
              <a:buNone/>
            </a:pPr>
            <a:r>
              <a:rPr lang="en-US" sz="1200" b="1" dirty="0">
                <a:solidFill>
                  <a:srgbClr val="0A0F2C"/>
                </a:solidFill>
                <a:latin typeface="Calibri" pitchFamily="34" charset="0"/>
                <a:ea typeface="Calibri" pitchFamily="34" charset="-122"/>
                <a:cs typeface="Calibri" pitchFamily="34" charset="-120"/>
              </a:rPr>
              <a:t>Analysis &amp; Insights</a:t>
            </a:r>
            <a:endParaRPr lang="en-US" sz="1200" dirty="0"/>
          </a:p>
        </p:txBody>
      </p:sp>
      <p:sp>
        <p:nvSpPr>
          <p:cNvPr id="33" name="Shape 31"/>
          <p:cNvSpPr/>
          <p:nvPr/>
        </p:nvSpPr>
        <p:spPr>
          <a:xfrm>
            <a:off x="3200400" y="3538728"/>
            <a:ext cx="27432" cy="320040"/>
          </a:xfrm>
          <a:prstGeom prst="rect">
            <a:avLst/>
          </a:prstGeom>
          <a:solidFill>
            <a:srgbClr val="C0CCE0"/>
          </a:solidFill>
          <a:ln w="12700">
            <a:solidFill>
              <a:srgbClr val="C0CCE0"/>
            </a:solidFill>
            <a:prstDash val="solid"/>
          </a:ln>
        </p:spPr>
      </p:sp>
      <p:sp>
        <p:nvSpPr>
          <p:cNvPr id="34" name="Text 32"/>
          <p:cNvSpPr/>
          <p:nvPr/>
        </p:nvSpPr>
        <p:spPr>
          <a:xfrm>
            <a:off x="3337560" y="3447288"/>
            <a:ext cx="5394960" cy="502920"/>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Performed thematic analysis, identified key patterns, prepared findings summary</a:t>
            </a:r>
            <a:endParaRPr lang="en-US" sz="1100" dirty="0"/>
          </a:p>
        </p:txBody>
      </p:sp>
      <p:sp>
        <p:nvSpPr>
          <p:cNvPr id="37" name="Shape 35"/>
          <p:cNvSpPr/>
          <p:nvPr/>
        </p:nvSpPr>
        <p:spPr>
          <a:xfrm>
            <a:off x="274320" y="4123944"/>
            <a:ext cx="8595360" cy="685800"/>
          </a:xfrm>
          <a:prstGeom prst="rect">
            <a:avLst/>
          </a:prstGeom>
          <a:solidFill>
            <a:srgbClr val="FFFFFF"/>
          </a:solidFill>
          <a:ln w="12700">
            <a:solidFill>
              <a:srgbClr val="D0DCF0"/>
            </a:solidFill>
            <a:prstDash val="solid"/>
          </a:ln>
        </p:spPr>
      </p:sp>
      <p:sp>
        <p:nvSpPr>
          <p:cNvPr id="38" name="Shape 36"/>
          <p:cNvSpPr/>
          <p:nvPr/>
        </p:nvSpPr>
        <p:spPr>
          <a:xfrm>
            <a:off x="274320" y="4123944"/>
            <a:ext cx="54864" cy="685800"/>
          </a:xfrm>
          <a:prstGeom prst="rect">
            <a:avLst/>
          </a:prstGeom>
          <a:solidFill>
            <a:srgbClr val="2979FF"/>
          </a:solidFill>
          <a:ln w="12700">
            <a:solidFill>
              <a:srgbClr val="2979FF"/>
            </a:solidFill>
            <a:prstDash val="solid"/>
          </a:ln>
        </p:spPr>
      </p:sp>
      <p:sp>
        <p:nvSpPr>
          <p:cNvPr id="39" name="Text 37"/>
          <p:cNvSpPr/>
          <p:nvPr/>
        </p:nvSpPr>
        <p:spPr>
          <a:xfrm>
            <a:off x="384048" y="4123944"/>
            <a:ext cx="457200" cy="685800"/>
          </a:xfrm>
          <a:prstGeom prst="rect">
            <a:avLst/>
          </a:prstGeom>
          <a:noFill/>
          <a:ln/>
        </p:spPr>
        <p:txBody>
          <a:bodyPr wrap="square" rtlCol="0" anchor="ctr"/>
          <a:lstStyle/>
          <a:p>
            <a:pPr marL="0" indent="0" algn="ctr">
              <a:buNone/>
            </a:pPr>
            <a:r>
              <a:rPr lang="en-US" sz="1300" b="1" dirty="0">
                <a:solidFill>
                  <a:srgbClr val="1565C0"/>
                </a:solidFill>
                <a:latin typeface="Calibri" pitchFamily="34" charset="0"/>
                <a:ea typeface="Calibri" pitchFamily="34" charset="-122"/>
                <a:cs typeface="Calibri" pitchFamily="34" charset="-120"/>
              </a:rPr>
              <a:t>05</a:t>
            </a:r>
            <a:endParaRPr lang="en-US" sz="1300" dirty="0"/>
          </a:p>
        </p:txBody>
      </p:sp>
      <p:sp>
        <p:nvSpPr>
          <p:cNvPr id="40" name="Text 38"/>
          <p:cNvSpPr/>
          <p:nvPr/>
        </p:nvSpPr>
        <p:spPr>
          <a:xfrm>
            <a:off x="896112" y="4215384"/>
            <a:ext cx="2194560" cy="502920"/>
          </a:xfrm>
          <a:prstGeom prst="rect">
            <a:avLst/>
          </a:prstGeom>
          <a:noFill/>
          <a:ln/>
        </p:spPr>
        <p:txBody>
          <a:bodyPr wrap="square" rtlCol="0" anchor="ctr"/>
          <a:lstStyle/>
          <a:p>
            <a:pPr marL="0" indent="0">
              <a:buNone/>
            </a:pPr>
            <a:r>
              <a:rPr lang="en-US" sz="1200" b="1" dirty="0">
                <a:solidFill>
                  <a:srgbClr val="0A0F2C"/>
                </a:solidFill>
                <a:latin typeface="Calibri" pitchFamily="34" charset="0"/>
                <a:ea typeface="Calibri" pitchFamily="34" charset="-122"/>
                <a:cs typeface="Calibri" pitchFamily="34" charset="-120"/>
              </a:rPr>
              <a:t>Presentation Design</a:t>
            </a:r>
            <a:endParaRPr lang="en-US" sz="1200" dirty="0"/>
          </a:p>
        </p:txBody>
      </p:sp>
      <p:sp>
        <p:nvSpPr>
          <p:cNvPr id="41" name="Shape 39"/>
          <p:cNvSpPr/>
          <p:nvPr/>
        </p:nvSpPr>
        <p:spPr>
          <a:xfrm>
            <a:off x="3200400" y="4306824"/>
            <a:ext cx="27432" cy="320040"/>
          </a:xfrm>
          <a:prstGeom prst="rect">
            <a:avLst/>
          </a:prstGeom>
          <a:solidFill>
            <a:srgbClr val="C0CCE0"/>
          </a:solidFill>
          <a:ln w="12700">
            <a:solidFill>
              <a:srgbClr val="C0CCE0"/>
            </a:solidFill>
            <a:prstDash val="solid"/>
          </a:ln>
        </p:spPr>
      </p:sp>
      <p:sp>
        <p:nvSpPr>
          <p:cNvPr id="42" name="Text 40"/>
          <p:cNvSpPr/>
          <p:nvPr/>
        </p:nvSpPr>
        <p:spPr>
          <a:xfrm>
            <a:off x="3337560" y="4215384"/>
            <a:ext cx="5394960" cy="502920"/>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Created the PPT slides, designed visual layout, compiled documentary evidence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2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979FF"/>
          </a:solidFill>
          <a:ln w="12700">
            <a:solidFill>
              <a:srgbClr val="2979FF"/>
            </a:solidFill>
            <a:prstDash val="solid"/>
          </a:ln>
        </p:spPr>
      </p:sp>
      <p:sp>
        <p:nvSpPr>
          <p:cNvPr id="3" name="Text 1"/>
          <p:cNvSpPr/>
          <p:nvPr/>
        </p:nvSpPr>
        <p:spPr>
          <a:xfrm>
            <a:off x="365760" y="164592"/>
            <a:ext cx="8229600" cy="228600"/>
          </a:xfrm>
          <a:prstGeom prst="rect">
            <a:avLst/>
          </a:prstGeom>
          <a:noFill/>
          <a:ln/>
        </p:spPr>
        <p:txBody>
          <a:bodyPr wrap="square" rtlCol="0" anchor="ctr"/>
          <a:lstStyle/>
          <a:p>
            <a:pPr marL="0" indent="0">
              <a:buNone/>
            </a:pPr>
            <a:r>
              <a:rPr lang="en-US" sz="900" b="1" dirty="0">
                <a:solidFill>
                  <a:srgbClr val="90CAF9"/>
                </a:solidFill>
                <a:latin typeface="Calibri" pitchFamily="34" charset="0"/>
                <a:ea typeface="Calibri" pitchFamily="34" charset="-122"/>
                <a:cs typeface="Calibri" pitchFamily="34" charset="-120"/>
              </a:rPr>
              <a:t>SLIDE 06</a:t>
            </a:r>
            <a:endParaRPr lang="en-US" sz="900" dirty="0"/>
          </a:p>
        </p:txBody>
      </p:sp>
      <p:sp>
        <p:nvSpPr>
          <p:cNvPr id="4" name="Text 2"/>
          <p:cNvSpPr/>
          <p:nvPr/>
        </p:nvSpPr>
        <p:spPr>
          <a:xfrm>
            <a:off x="365760" y="384048"/>
            <a:ext cx="822960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KEY LEARNING &amp; EXPERIENCE SHARING</a:t>
            </a:r>
            <a:endParaRPr lang="en-US" sz="2200" dirty="0"/>
          </a:p>
        </p:txBody>
      </p:sp>
      <p:sp>
        <p:nvSpPr>
          <p:cNvPr id="5" name="Shape 3"/>
          <p:cNvSpPr/>
          <p:nvPr/>
        </p:nvSpPr>
        <p:spPr>
          <a:xfrm>
            <a:off x="274320" y="1005840"/>
            <a:ext cx="8595360" cy="1143000"/>
          </a:xfrm>
          <a:prstGeom prst="rect">
            <a:avLst/>
          </a:prstGeom>
          <a:solidFill>
            <a:srgbClr val="1A3A6E"/>
          </a:solidFill>
          <a:ln w="12700">
            <a:solidFill>
              <a:srgbClr val="2979FF"/>
            </a:solidFill>
            <a:prstDash val="solid"/>
          </a:ln>
        </p:spPr>
      </p:sp>
      <p:sp>
        <p:nvSpPr>
          <p:cNvPr id="6" name="Text 4"/>
          <p:cNvSpPr/>
          <p:nvPr/>
        </p:nvSpPr>
        <p:spPr>
          <a:xfrm>
            <a:off x="320040" y="960120"/>
            <a:ext cx="640080" cy="731520"/>
          </a:xfrm>
          <a:prstGeom prst="rect">
            <a:avLst/>
          </a:prstGeom>
          <a:noFill/>
          <a:ln/>
        </p:spPr>
        <p:txBody>
          <a:bodyPr wrap="square" rtlCol="0" anchor="ctr"/>
          <a:lstStyle/>
          <a:p>
            <a:pPr marL="0" indent="0">
              <a:buNone/>
            </a:pPr>
            <a:r>
              <a:rPr lang="en-US" sz="5000" dirty="0">
                <a:solidFill>
                  <a:srgbClr val="2979FF"/>
                </a:solidFill>
                <a:latin typeface="Georgia" pitchFamily="34" charset="0"/>
                <a:ea typeface="Georgia" pitchFamily="34" charset="-122"/>
                <a:cs typeface="Georgia" pitchFamily="34" charset="-120"/>
              </a:rPr>
              <a:t>“</a:t>
            </a:r>
            <a:endParaRPr lang="en-US" sz="5000" dirty="0"/>
          </a:p>
        </p:txBody>
      </p:sp>
      <p:sp>
        <p:nvSpPr>
          <p:cNvPr id="7" name="Text 5"/>
          <p:cNvSpPr/>
          <p:nvPr/>
        </p:nvSpPr>
        <p:spPr>
          <a:xfrm>
            <a:off x="960120" y="1097280"/>
            <a:ext cx="6858000" cy="411480"/>
          </a:xfrm>
          <a:prstGeom prst="rect">
            <a:avLst/>
          </a:prstGeom>
          <a:noFill/>
          <a:ln/>
        </p:spPr>
        <p:txBody>
          <a:bodyPr wrap="square" rtlCol="0" anchor="ctr"/>
          <a:lstStyle/>
          <a:p>
            <a:pPr marL="0" indent="0">
              <a:buNone/>
            </a:pPr>
            <a:r>
              <a:rPr lang="en-US" sz="1400" b="1" i="1" dirty="0">
                <a:solidFill>
                  <a:srgbClr val="FFFFFF"/>
                </a:solidFill>
                <a:latin typeface="Georgia" pitchFamily="34" charset="0"/>
                <a:ea typeface="Georgia" pitchFamily="34" charset="-122"/>
                <a:cs typeface="Georgia" pitchFamily="34" charset="-120"/>
              </a:rPr>
              <a:t>Trust is not a technical problem — it's a human one.</a:t>
            </a:r>
            <a:endParaRPr lang="en-US" sz="1400" dirty="0"/>
          </a:p>
        </p:txBody>
      </p:sp>
      <p:sp>
        <p:nvSpPr>
          <p:cNvPr id="8" name="Text 6"/>
          <p:cNvSpPr/>
          <p:nvPr/>
        </p:nvSpPr>
        <p:spPr>
          <a:xfrm>
            <a:off x="960120" y="1481328"/>
            <a:ext cx="2743200" cy="228600"/>
          </a:xfrm>
          <a:prstGeom prst="rect">
            <a:avLst/>
          </a:prstGeom>
          <a:noFill/>
          <a:ln/>
        </p:spPr>
        <p:txBody>
          <a:bodyPr wrap="square" rtlCol="0" anchor="ctr"/>
          <a:lstStyle/>
          <a:p>
            <a:pPr marL="0" indent="0">
              <a:buNone/>
            </a:pPr>
            <a:r>
              <a:rPr lang="en-US" sz="900" i="1" dirty="0">
                <a:solidFill>
                  <a:srgbClr val="90CAF9"/>
                </a:solidFill>
                <a:latin typeface="Calibri" pitchFamily="34" charset="0"/>
                <a:ea typeface="Calibri" pitchFamily="34" charset="-122"/>
                <a:cs typeface="Calibri" pitchFamily="34" charset="-120"/>
              </a:rPr>
              <a:t>— PM Interviewee</a:t>
            </a:r>
            <a:endParaRPr lang="en-US" sz="900" dirty="0"/>
          </a:p>
        </p:txBody>
      </p:sp>
      <p:sp>
        <p:nvSpPr>
          <p:cNvPr id="9" name="Shape 7"/>
          <p:cNvSpPr/>
          <p:nvPr/>
        </p:nvSpPr>
        <p:spPr>
          <a:xfrm>
            <a:off x="960120" y="1737360"/>
            <a:ext cx="7406640" cy="18288"/>
          </a:xfrm>
          <a:prstGeom prst="rect">
            <a:avLst/>
          </a:prstGeom>
          <a:solidFill>
            <a:srgbClr val="2A4A80"/>
          </a:solidFill>
          <a:ln w="12700">
            <a:solidFill>
              <a:srgbClr val="2A4A80"/>
            </a:solidFill>
            <a:prstDash val="solid"/>
          </a:ln>
        </p:spPr>
      </p:sp>
      <p:sp>
        <p:nvSpPr>
          <p:cNvPr id="10" name="Text 8"/>
          <p:cNvSpPr/>
          <p:nvPr/>
        </p:nvSpPr>
        <p:spPr>
          <a:xfrm>
            <a:off x="960120" y="1810512"/>
            <a:ext cx="7406640" cy="274320"/>
          </a:xfrm>
          <a:prstGeom prst="rect">
            <a:avLst/>
          </a:prstGeom>
          <a:noFill/>
          <a:ln/>
        </p:spPr>
        <p:txBody>
          <a:bodyPr wrap="square" rtlCol="0" anchor="ctr"/>
          <a:lstStyle/>
          <a:p>
            <a:r>
              <a:rPr lang="en-US" sz="1000" dirty="0"/>
              <a:t>💡</a:t>
            </a:r>
            <a:r>
              <a:rPr lang="en-US" sz="1000" b="1" dirty="0">
                <a:solidFill>
                  <a:schemeClr val="bg1"/>
                </a:solidFill>
              </a:rPr>
              <a:t>Technology alone cannot ensure adoption. People must feel listened to, supported, and in control.</a:t>
            </a:r>
            <a:endParaRPr lang="en-US" sz="1000" dirty="0">
              <a:solidFill>
                <a:schemeClr val="bg1"/>
              </a:solidFill>
            </a:endParaRPr>
          </a:p>
          <a:p>
            <a:pPr marL="0" indent="0">
              <a:buNone/>
            </a:pPr>
            <a:endParaRPr lang="en-US" sz="1000" dirty="0"/>
          </a:p>
        </p:txBody>
      </p:sp>
      <p:sp>
        <p:nvSpPr>
          <p:cNvPr id="11" name="Shape 9"/>
          <p:cNvSpPr/>
          <p:nvPr/>
        </p:nvSpPr>
        <p:spPr>
          <a:xfrm>
            <a:off x="274320" y="2286000"/>
            <a:ext cx="8595360" cy="1143000"/>
          </a:xfrm>
          <a:prstGeom prst="rect">
            <a:avLst/>
          </a:prstGeom>
          <a:solidFill>
            <a:srgbClr val="1A3A6E"/>
          </a:solidFill>
          <a:ln w="12700">
            <a:solidFill>
              <a:srgbClr val="2979FF"/>
            </a:solidFill>
            <a:prstDash val="solid"/>
          </a:ln>
        </p:spPr>
      </p:sp>
      <p:sp>
        <p:nvSpPr>
          <p:cNvPr id="12" name="Text 10"/>
          <p:cNvSpPr/>
          <p:nvPr/>
        </p:nvSpPr>
        <p:spPr>
          <a:xfrm>
            <a:off x="320040" y="2240280"/>
            <a:ext cx="640080" cy="731520"/>
          </a:xfrm>
          <a:prstGeom prst="rect">
            <a:avLst/>
          </a:prstGeom>
          <a:noFill/>
          <a:ln/>
        </p:spPr>
        <p:txBody>
          <a:bodyPr wrap="square" rtlCol="0" anchor="ctr"/>
          <a:lstStyle/>
          <a:p>
            <a:pPr marL="0" indent="0">
              <a:buNone/>
            </a:pPr>
            <a:r>
              <a:rPr lang="en-US" sz="5000" dirty="0">
                <a:solidFill>
                  <a:srgbClr val="2979FF"/>
                </a:solidFill>
                <a:latin typeface="Georgia" pitchFamily="34" charset="0"/>
                <a:ea typeface="Georgia" pitchFamily="34" charset="-122"/>
                <a:cs typeface="Georgia" pitchFamily="34" charset="-120"/>
              </a:rPr>
              <a:t>“</a:t>
            </a:r>
            <a:endParaRPr lang="en-US" sz="5000" dirty="0"/>
          </a:p>
        </p:txBody>
      </p:sp>
      <p:sp>
        <p:nvSpPr>
          <p:cNvPr id="13" name="Text 11"/>
          <p:cNvSpPr/>
          <p:nvPr/>
        </p:nvSpPr>
        <p:spPr>
          <a:xfrm>
            <a:off x="960120" y="2377440"/>
            <a:ext cx="6858000" cy="411480"/>
          </a:xfrm>
          <a:prstGeom prst="rect">
            <a:avLst/>
          </a:prstGeom>
          <a:noFill/>
          <a:ln/>
        </p:spPr>
        <p:txBody>
          <a:bodyPr wrap="square" rtlCol="0" anchor="ctr"/>
          <a:lstStyle/>
          <a:p>
            <a:pPr marL="0" indent="0">
              <a:buNone/>
            </a:pPr>
            <a:r>
              <a:rPr lang="en-US" sz="1400" b="1" i="1" dirty="0">
                <a:solidFill>
                  <a:srgbClr val="FFFFFF"/>
                </a:solidFill>
                <a:latin typeface="Georgia" pitchFamily="34" charset="0"/>
                <a:ea typeface="Georgia" pitchFamily="34" charset="-122"/>
                <a:cs typeface="Georgia" pitchFamily="34" charset="-120"/>
              </a:rPr>
              <a:t>Data quality is often an afterthought, but it should be the foundation.</a:t>
            </a:r>
            <a:endParaRPr lang="en-US" sz="1400" dirty="0"/>
          </a:p>
        </p:txBody>
      </p:sp>
      <p:sp>
        <p:nvSpPr>
          <p:cNvPr id="14" name="Text 12"/>
          <p:cNvSpPr/>
          <p:nvPr/>
        </p:nvSpPr>
        <p:spPr>
          <a:xfrm>
            <a:off x="960120" y="2761488"/>
            <a:ext cx="2743200" cy="228600"/>
          </a:xfrm>
          <a:prstGeom prst="rect">
            <a:avLst/>
          </a:prstGeom>
          <a:noFill/>
          <a:ln/>
        </p:spPr>
        <p:txBody>
          <a:bodyPr wrap="square" rtlCol="0" anchor="ctr"/>
          <a:lstStyle/>
          <a:p>
            <a:pPr marL="0" indent="0">
              <a:buNone/>
            </a:pPr>
            <a:r>
              <a:rPr lang="en-US" sz="900" i="1" dirty="0">
                <a:solidFill>
                  <a:srgbClr val="90CAF9"/>
                </a:solidFill>
                <a:latin typeface="Calibri" pitchFamily="34" charset="0"/>
                <a:ea typeface="Calibri" pitchFamily="34" charset="-122"/>
                <a:cs typeface="Calibri" pitchFamily="34" charset="-120"/>
              </a:rPr>
              <a:t>— PM Interviewee</a:t>
            </a:r>
            <a:endParaRPr lang="en-US" sz="900" dirty="0"/>
          </a:p>
        </p:txBody>
      </p:sp>
      <p:sp>
        <p:nvSpPr>
          <p:cNvPr id="15" name="Shape 13"/>
          <p:cNvSpPr/>
          <p:nvPr/>
        </p:nvSpPr>
        <p:spPr>
          <a:xfrm>
            <a:off x="960120" y="3017520"/>
            <a:ext cx="7406640" cy="18288"/>
          </a:xfrm>
          <a:prstGeom prst="rect">
            <a:avLst/>
          </a:prstGeom>
          <a:solidFill>
            <a:srgbClr val="2A4A80"/>
          </a:solidFill>
          <a:ln w="12700">
            <a:solidFill>
              <a:srgbClr val="2A4A80"/>
            </a:solidFill>
            <a:prstDash val="solid"/>
          </a:ln>
        </p:spPr>
      </p:sp>
      <p:sp>
        <p:nvSpPr>
          <p:cNvPr id="16" name="Text 14"/>
          <p:cNvSpPr/>
          <p:nvPr/>
        </p:nvSpPr>
        <p:spPr>
          <a:xfrm>
            <a:off x="960120" y="3090672"/>
            <a:ext cx="7406640" cy="274320"/>
          </a:xfrm>
          <a:prstGeom prst="rect">
            <a:avLst/>
          </a:prstGeom>
          <a:noFill/>
          <a:ln/>
        </p:spPr>
        <p:txBody>
          <a:bodyPr wrap="square" rtlCol="0" anchor="ctr"/>
          <a:lstStyle/>
          <a:p>
            <a:r>
              <a:rPr lang="en-US" sz="1000" dirty="0"/>
              <a:t>💡</a:t>
            </a:r>
            <a:r>
              <a:rPr lang="en-US" sz="1000" b="1" dirty="0">
                <a:solidFill>
                  <a:schemeClr val="bg1"/>
                </a:solidFill>
              </a:rPr>
              <a:t>Organizations that focused on data management before launching had 60% fewer problems after deployment.</a:t>
            </a:r>
            <a:endParaRPr lang="en-US" sz="1000" dirty="0">
              <a:solidFill>
                <a:schemeClr val="bg1"/>
              </a:solidFill>
            </a:endParaRPr>
          </a:p>
          <a:p>
            <a:pPr marL="0" indent="0">
              <a:buNone/>
            </a:pPr>
            <a:endParaRPr lang="en-US" sz="1000" dirty="0"/>
          </a:p>
        </p:txBody>
      </p:sp>
      <p:sp>
        <p:nvSpPr>
          <p:cNvPr id="17" name="Shape 15"/>
          <p:cNvSpPr/>
          <p:nvPr/>
        </p:nvSpPr>
        <p:spPr>
          <a:xfrm>
            <a:off x="274320" y="3566160"/>
            <a:ext cx="8595360" cy="1143000"/>
          </a:xfrm>
          <a:prstGeom prst="rect">
            <a:avLst/>
          </a:prstGeom>
          <a:solidFill>
            <a:srgbClr val="1A3A6E"/>
          </a:solidFill>
          <a:ln w="12700">
            <a:solidFill>
              <a:srgbClr val="2979FF"/>
            </a:solidFill>
            <a:prstDash val="solid"/>
          </a:ln>
        </p:spPr>
      </p:sp>
      <p:sp>
        <p:nvSpPr>
          <p:cNvPr id="18" name="Text 16"/>
          <p:cNvSpPr/>
          <p:nvPr/>
        </p:nvSpPr>
        <p:spPr>
          <a:xfrm>
            <a:off x="320040" y="3520440"/>
            <a:ext cx="640080" cy="731520"/>
          </a:xfrm>
          <a:prstGeom prst="rect">
            <a:avLst/>
          </a:prstGeom>
          <a:noFill/>
          <a:ln/>
        </p:spPr>
        <p:txBody>
          <a:bodyPr wrap="square" rtlCol="0" anchor="ctr"/>
          <a:lstStyle/>
          <a:p>
            <a:pPr marL="0" indent="0">
              <a:buNone/>
            </a:pPr>
            <a:r>
              <a:rPr lang="en-US" sz="5000" dirty="0">
                <a:solidFill>
                  <a:srgbClr val="2979FF"/>
                </a:solidFill>
                <a:latin typeface="Georgia" pitchFamily="34" charset="0"/>
                <a:ea typeface="Georgia" pitchFamily="34" charset="-122"/>
                <a:cs typeface="Georgia" pitchFamily="34" charset="-120"/>
              </a:rPr>
              <a:t>“</a:t>
            </a:r>
            <a:endParaRPr lang="en-US" sz="5000" dirty="0"/>
          </a:p>
        </p:txBody>
      </p:sp>
      <p:sp>
        <p:nvSpPr>
          <p:cNvPr id="19" name="Text 17"/>
          <p:cNvSpPr/>
          <p:nvPr/>
        </p:nvSpPr>
        <p:spPr>
          <a:xfrm>
            <a:off x="960120" y="3657600"/>
            <a:ext cx="6858000" cy="411480"/>
          </a:xfrm>
          <a:prstGeom prst="rect">
            <a:avLst/>
          </a:prstGeom>
          <a:noFill/>
          <a:ln/>
        </p:spPr>
        <p:txBody>
          <a:bodyPr wrap="square" rtlCol="0" anchor="ctr"/>
          <a:lstStyle/>
          <a:p>
            <a:pPr marL="0" indent="0">
              <a:buNone/>
            </a:pPr>
            <a:r>
              <a:rPr lang="en-US" sz="1400" b="1" i="1" dirty="0">
                <a:solidFill>
                  <a:srgbClr val="FFFFFF"/>
                </a:solidFill>
                <a:latin typeface="Georgia" pitchFamily="34" charset="0"/>
                <a:ea typeface="Georgia" pitchFamily="34" charset="-122"/>
                <a:cs typeface="Georgia" pitchFamily="34" charset="-120"/>
              </a:rPr>
              <a:t>Start small, prove value, then scale.</a:t>
            </a:r>
            <a:endParaRPr lang="en-US" sz="1400" dirty="0"/>
          </a:p>
        </p:txBody>
      </p:sp>
      <p:sp>
        <p:nvSpPr>
          <p:cNvPr id="20" name="Text 18"/>
          <p:cNvSpPr/>
          <p:nvPr/>
        </p:nvSpPr>
        <p:spPr>
          <a:xfrm>
            <a:off x="960120" y="4041648"/>
            <a:ext cx="2743200" cy="228600"/>
          </a:xfrm>
          <a:prstGeom prst="rect">
            <a:avLst/>
          </a:prstGeom>
          <a:noFill/>
          <a:ln/>
        </p:spPr>
        <p:txBody>
          <a:bodyPr wrap="square" rtlCol="0" anchor="ctr"/>
          <a:lstStyle/>
          <a:p>
            <a:pPr marL="0" indent="0">
              <a:buNone/>
            </a:pPr>
            <a:r>
              <a:rPr lang="en-US" sz="900" i="1" dirty="0">
                <a:solidFill>
                  <a:srgbClr val="90CAF9"/>
                </a:solidFill>
                <a:latin typeface="Calibri" pitchFamily="34" charset="0"/>
                <a:ea typeface="Calibri" pitchFamily="34" charset="-122"/>
                <a:cs typeface="Calibri" pitchFamily="34" charset="-120"/>
              </a:rPr>
              <a:t>— PM Interviewee</a:t>
            </a:r>
            <a:endParaRPr lang="en-US" sz="900" dirty="0"/>
          </a:p>
        </p:txBody>
      </p:sp>
      <p:sp>
        <p:nvSpPr>
          <p:cNvPr id="21" name="Shape 19"/>
          <p:cNvSpPr/>
          <p:nvPr/>
        </p:nvSpPr>
        <p:spPr>
          <a:xfrm>
            <a:off x="960120" y="4297680"/>
            <a:ext cx="7406640" cy="18288"/>
          </a:xfrm>
          <a:prstGeom prst="rect">
            <a:avLst/>
          </a:prstGeom>
          <a:solidFill>
            <a:srgbClr val="2A4A80"/>
          </a:solidFill>
          <a:ln w="12700">
            <a:solidFill>
              <a:srgbClr val="2A4A80"/>
            </a:solidFill>
            <a:prstDash val="solid"/>
          </a:ln>
        </p:spPr>
      </p:sp>
      <p:sp>
        <p:nvSpPr>
          <p:cNvPr id="22" name="Text 20"/>
          <p:cNvSpPr/>
          <p:nvPr/>
        </p:nvSpPr>
        <p:spPr>
          <a:xfrm>
            <a:off x="960120" y="4370832"/>
            <a:ext cx="7406640" cy="274320"/>
          </a:xfrm>
          <a:prstGeom prst="rect">
            <a:avLst/>
          </a:prstGeom>
          <a:noFill/>
          <a:ln/>
        </p:spPr>
        <p:txBody>
          <a:bodyPr wrap="square" rtlCol="0" anchor="ctr"/>
          <a:lstStyle/>
          <a:p>
            <a:r>
              <a:rPr lang="en-US" sz="1000" dirty="0"/>
              <a:t>💡</a:t>
            </a:r>
            <a:r>
              <a:rPr lang="en-US" sz="1000" b="1" dirty="0">
                <a:solidFill>
                  <a:schemeClr val="bg1"/>
                </a:solidFill>
              </a:rPr>
              <a:t>Pilot programs with clear and measurable KPIs helped build the confidence needed to expand the rollout across the organization.</a:t>
            </a:r>
            <a:endParaRPr lang="en-US" sz="1000" dirty="0">
              <a:solidFill>
                <a:schemeClr val="bg1"/>
              </a:solidFill>
            </a:endParaRPr>
          </a:p>
          <a:p>
            <a:pPr marL="0" indent="0">
              <a:buNone/>
            </a:pPr>
            <a:endParaRPr lang="en-US" sz="1000" dirty="0"/>
          </a:p>
        </p:txBody>
      </p:sp>
      <p:sp>
        <p:nvSpPr>
          <p:cNvPr id="23" name="Shape 21"/>
          <p:cNvSpPr/>
          <p:nvPr/>
        </p:nvSpPr>
        <p:spPr>
          <a:xfrm>
            <a:off x="0" y="5052060"/>
            <a:ext cx="9144000" cy="91440"/>
          </a:xfrm>
          <a:prstGeom prst="rect">
            <a:avLst/>
          </a:prstGeom>
          <a:solidFill>
            <a:srgbClr val="2979FF"/>
          </a:solidFill>
          <a:ln w="12700">
            <a:solidFill>
              <a:srgbClr val="2979FF"/>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A6E"/>
          </a:solidFill>
          <a:ln w="12700">
            <a:solidFill>
              <a:srgbClr val="1A3A6E"/>
            </a:solidFill>
            <a:prstDash val="solid"/>
          </a:ln>
        </p:spPr>
      </p:sp>
      <p:sp>
        <p:nvSpPr>
          <p:cNvPr id="3" name="Shape 1"/>
          <p:cNvSpPr/>
          <p:nvPr/>
        </p:nvSpPr>
        <p:spPr>
          <a:xfrm>
            <a:off x="0" y="0"/>
            <a:ext cx="9144000" cy="73152"/>
          </a:xfrm>
          <a:prstGeom prst="rect">
            <a:avLst/>
          </a:prstGeom>
          <a:solidFill>
            <a:srgbClr val="2979FF"/>
          </a:solidFill>
          <a:ln w="12700">
            <a:solidFill>
              <a:srgbClr val="2979FF"/>
            </a:solidFill>
            <a:prstDash val="solid"/>
          </a:ln>
        </p:spPr>
      </p:sp>
      <p:sp>
        <p:nvSpPr>
          <p:cNvPr id="4" name="Text 2"/>
          <p:cNvSpPr/>
          <p:nvPr/>
        </p:nvSpPr>
        <p:spPr>
          <a:xfrm>
            <a:off x="365760" y="137160"/>
            <a:ext cx="8412480" cy="4572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SLIDE 07 — DOCUMENTARY EVIDENCE</a:t>
            </a:r>
            <a:endParaRPr lang="en-US" sz="2000" dirty="0"/>
          </a:p>
        </p:txBody>
      </p:sp>
      <p:sp>
        <p:nvSpPr>
          <p:cNvPr id="5" name="Text 3"/>
          <p:cNvSpPr/>
          <p:nvPr/>
        </p:nvSpPr>
        <p:spPr>
          <a:xfrm>
            <a:off x="365760" y="548640"/>
            <a:ext cx="8412480" cy="274320"/>
          </a:xfrm>
          <a:prstGeom prst="rect">
            <a:avLst/>
          </a:prstGeom>
          <a:noFill/>
          <a:ln/>
        </p:spPr>
        <p:txBody>
          <a:bodyPr wrap="square" rtlCol="0" anchor="ctr"/>
          <a:lstStyle/>
          <a:p>
            <a:pPr marL="0" indent="0">
              <a:buNone/>
            </a:pPr>
            <a:r>
              <a:rPr lang="en-US" sz="1100" i="1" dirty="0">
                <a:solidFill>
                  <a:srgbClr val="90CAF9"/>
                </a:solidFill>
                <a:latin typeface="Calibri" pitchFamily="34" charset="0"/>
                <a:ea typeface="Calibri" pitchFamily="34" charset="-122"/>
                <a:cs typeface="Calibri" pitchFamily="34" charset="-120"/>
              </a:rPr>
              <a:t>Virtual Interview via Google Meet — Screen Recording Proof</a:t>
            </a:r>
            <a:endParaRPr lang="en-US" sz="1100" dirty="0"/>
          </a:p>
        </p:txBody>
      </p:sp>
      <p:sp>
        <p:nvSpPr>
          <p:cNvPr id="6" name="Shape 4"/>
          <p:cNvSpPr/>
          <p:nvPr/>
        </p:nvSpPr>
        <p:spPr>
          <a:xfrm>
            <a:off x="274320" y="1005840"/>
            <a:ext cx="5029200" cy="3200400"/>
          </a:xfrm>
          <a:prstGeom prst="rect">
            <a:avLst/>
          </a:prstGeom>
          <a:solidFill>
            <a:srgbClr val="1A1A2E"/>
          </a:solidFill>
          <a:ln w="25400">
            <a:solidFill>
              <a:srgbClr val="2979FF"/>
            </a:solidFill>
            <a:prstDash val="solid"/>
          </a:ln>
          <a:effectLst>
            <a:outerShdw blurRad="101600" dist="38100" dir="8100000" algn="bl" rotWithShape="0">
              <a:srgbClr val="000000">
                <a:alpha val="30000"/>
              </a:srgbClr>
            </a:outerShdw>
          </a:effectLst>
        </p:spPr>
      </p:sp>
      <p:pic>
        <p:nvPicPr>
          <p:cNvPr id="7" name="Image 0" descr="preencoded.png"/>
          <p:cNvPicPr>
            <a:picLocks noChangeAspect="1"/>
          </p:cNvPicPr>
          <p:nvPr/>
        </p:nvPicPr>
        <p:blipFill>
          <a:blip r:embed="rId3"/>
          <a:stretch>
            <a:fillRect/>
          </a:stretch>
        </p:blipFill>
        <p:spPr>
          <a:xfrm>
            <a:off x="320040" y="1051560"/>
            <a:ext cx="4937760" cy="3108960"/>
          </a:xfrm>
          <a:prstGeom prst="rect">
            <a:avLst/>
          </a:prstGeom>
        </p:spPr>
      </p:pic>
      <p:sp>
        <p:nvSpPr>
          <p:cNvPr id="8" name="Shape 5"/>
          <p:cNvSpPr/>
          <p:nvPr/>
        </p:nvSpPr>
        <p:spPr>
          <a:xfrm>
            <a:off x="5486400" y="1005840"/>
            <a:ext cx="3383280" cy="3200400"/>
          </a:xfrm>
          <a:prstGeom prst="rect">
            <a:avLst/>
          </a:prstGeom>
          <a:solidFill>
            <a:srgbClr val="FFFFFF"/>
          </a:solidFill>
          <a:ln w="12700">
            <a:solidFill>
              <a:srgbClr val="D0DCF0"/>
            </a:solidFill>
            <a:prstDash val="solid"/>
          </a:ln>
        </p:spPr>
      </p:sp>
      <p:sp>
        <p:nvSpPr>
          <p:cNvPr id="9" name="Shape 6"/>
          <p:cNvSpPr/>
          <p:nvPr/>
        </p:nvSpPr>
        <p:spPr>
          <a:xfrm>
            <a:off x="5486400" y="1005840"/>
            <a:ext cx="3383280" cy="411480"/>
          </a:xfrm>
          <a:prstGeom prst="rect">
            <a:avLst/>
          </a:prstGeom>
          <a:solidFill>
            <a:srgbClr val="1565C0"/>
          </a:solidFill>
          <a:ln w="12700">
            <a:solidFill>
              <a:srgbClr val="1565C0"/>
            </a:solidFill>
            <a:prstDash val="solid"/>
          </a:ln>
        </p:spPr>
      </p:sp>
      <p:sp>
        <p:nvSpPr>
          <p:cNvPr id="10" name="Text 7"/>
          <p:cNvSpPr/>
          <p:nvPr/>
        </p:nvSpPr>
        <p:spPr>
          <a:xfrm>
            <a:off x="5532120" y="1051560"/>
            <a:ext cx="3291840" cy="32004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PARTICIPANTS IDENTIFIED</a:t>
            </a:r>
            <a:endParaRPr lang="en-US" sz="1000" dirty="0"/>
          </a:p>
        </p:txBody>
      </p:sp>
      <p:sp>
        <p:nvSpPr>
          <p:cNvPr id="11" name="Shape 8"/>
          <p:cNvSpPr/>
          <p:nvPr/>
        </p:nvSpPr>
        <p:spPr>
          <a:xfrm>
            <a:off x="5577840" y="1508760"/>
            <a:ext cx="3200400" cy="548640"/>
          </a:xfrm>
          <a:prstGeom prst="rect">
            <a:avLst/>
          </a:prstGeom>
          <a:solidFill>
            <a:srgbClr val="F5F8FF"/>
          </a:solidFill>
          <a:ln w="6350">
            <a:solidFill>
              <a:srgbClr val="D0DCF0"/>
            </a:solidFill>
            <a:prstDash val="solid"/>
          </a:ln>
        </p:spPr>
      </p:sp>
      <p:sp>
        <p:nvSpPr>
          <p:cNvPr id="12" name="Shape 9"/>
          <p:cNvSpPr/>
          <p:nvPr/>
        </p:nvSpPr>
        <p:spPr>
          <a:xfrm>
            <a:off x="5623560" y="1600200"/>
            <a:ext cx="365760" cy="365760"/>
          </a:xfrm>
          <a:prstGeom prst="ellipse">
            <a:avLst/>
          </a:prstGeom>
          <a:solidFill>
            <a:srgbClr val="2979FF"/>
          </a:solidFill>
          <a:ln w="12700">
            <a:solidFill>
              <a:srgbClr val="2979FF"/>
            </a:solidFill>
            <a:prstDash val="solid"/>
          </a:ln>
        </p:spPr>
      </p:sp>
      <p:sp>
        <p:nvSpPr>
          <p:cNvPr id="13" name="Text 10"/>
          <p:cNvSpPr/>
          <p:nvPr/>
        </p:nvSpPr>
        <p:spPr>
          <a:xfrm>
            <a:off x="5623560" y="1600200"/>
            <a:ext cx="36576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4" name="Text 11"/>
          <p:cNvSpPr/>
          <p:nvPr/>
        </p:nvSpPr>
        <p:spPr>
          <a:xfrm>
            <a:off x="6080760" y="1554480"/>
            <a:ext cx="2560320" cy="256032"/>
          </a:xfrm>
          <a:prstGeom prst="rect">
            <a:avLst/>
          </a:prstGeom>
          <a:noFill/>
          <a:ln/>
        </p:spPr>
        <p:txBody>
          <a:bodyPr wrap="square" rtlCol="0" anchor="ctr"/>
          <a:lstStyle/>
          <a:p>
            <a:pPr marL="0" indent="0">
              <a:buNone/>
            </a:pPr>
            <a:r>
              <a:rPr lang="en-US" sz="1100" b="1" dirty="0">
                <a:solidFill>
                  <a:srgbClr val="0A0F2C"/>
                </a:solidFill>
                <a:latin typeface="Calibri" pitchFamily="34" charset="0"/>
                <a:ea typeface="Calibri" pitchFamily="34" charset="-122"/>
                <a:cs typeface="Calibri" pitchFamily="34" charset="-120"/>
              </a:rPr>
              <a:t>Niraj Kumar</a:t>
            </a:r>
            <a:endParaRPr lang="en-US" sz="1100" dirty="0"/>
          </a:p>
        </p:txBody>
      </p:sp>
      <p:sp>
        <p:nvSpPr>
          <p:cNvPr id="15" name="Text 12"/>
          <p:cNvSpPr/>
          <p:nvPr/>
        </p:nvSpPr>
        <p:spPr>
          <a:xfrm>
            <a:off x="6080760" y="1810512"/>
            <a:ext cx="2560320" cy="201168"/>
          </a:xfrm>
          <a:prstGeom prst="rect">
            <a:avLst/>
          </a:prstGeom>
          <a:noFill/>
          <a:ln/>
        </p:spPr>
        <p:txBody>
          <a:bodyPr wrap="square" rtlCol="0" anchor="ctr"/>
          <a:lstStyle/>
          <a:p>
            <a:pPr marL="0" indent="0">
              <a:buNone/>
            </a:pPr>
            <a:r>
              <a:rPr lang="en-US" sz="900" dirty="0">
                <a:solidFill>
                  <a:srgbClr val="666666"/>
                </a:solidFill>
                <a:latin typeface="Calibri" pitchFamily="34" charset="0"/>
                <a:ea typeface="Calibri" pitchFamily="34" charset="-122"/>
                <a:cs typeface="Calibri" pitchFamily="34" charset="-120"/>
              </a:rPr>
              <a:t>Interviewee / Student</a:t>
            </a:r>
            <a:endParaRPr lang="en-US" sz="900" dirty="0"/>
          </a:p>
        </p:txBody>
      </p:sp>
      <p:sp>
        <p:nvSpPr>
          <p:cNvPr id="16" name="Shape 13"/>
          <p:cNvSpPr/>
          <p:nvPr/>
        </p:nvSpPr>
        <p:spPr>
          <a:xfrm>
            <a:off x="5577840" y="2194560"/>
            <a:ext cx="3200400" cy="548640"/>
          </a:xfrm>
          <a:prstGeom prst="rect">
            <a:avLst/>
          </a:prstGeom>
          <a:solidFill>
            <a:srgbClr val="F5F8FF"/>
          </a:solidFill>
          <a:ln w="6350">
            <a:solidFill>
              <a:srgbClr val="D0DCF0"/>
            </a:solidFill>
            <a:prstDash val="solid"/>
          </a:ln>
        </p:spPr>
      </p:sp>
      <p:sp>
        <p:nvSpPr>
          <p:cNvPr id="17" name="Shape 14"/>
          <p:cNvSpPr/>
          <p:nvPr/>
        </p:nvSpPr>
        <p:spPr>
          <a:xfrm>
            <a:off x="5623560" y="2286000"/>
            <a:ext cx="365760" cy="365760"/>
          </a:xfrm>
          <a:prstGeom prst="ellipse">
            <a:avLst/>
          </a:prstGeom>
          <a:solidFill>
            <a:srgbClr val="2979FF"/>
          </a:solidFill>
          <a:ln w="12700">
            <a:solidFill>
              <a:srgbClr val="2979FF"/>
            </a:solidFill>
            <a:prstDash val="solid"/>
          </a:ln>
        </p:spPr>
      </p:sp>
      <p:sp>
        <p:nvSpPr>
          <p:cNvPr id="18" name="Text 15"/>
          <p:cNvSpPr/>
          <p:nvPr/>
        </p:nvSpPr>
        <p:spPr>
          <a:xfrm>
            <a:off x="5623560" y="2286000"/>
            <a:ext cx="36576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9" name="Text 16"/>
          <p:cNvSpPr/>
          <p:nvPr/>
        </p:nvSpPr>
        <p:spPr>
          <a:xfrm>
            <a:off x="6080760" y="2240280"/>
            <a:ext cx="2560320" cy="256032"/>
          </a:xfrm>
          <a:prstGeom prst="rect">
            <a:avLst/>
          </a:prstGeom>
          <a:noFill/>
          <a:ln/>
        </p:spPr>
        <p:txBody>
          <a:bodyPr wrap="square" rtlCol="0" anchor="ctr"/>
          <a:lstStyle/>
          <a:p>
            <a:pPr marL="0" indent="0">
              <a:buNone/>
            </a:pPr>
            <a:r>
              <a:rPr lang="en-US" sz="1100" b="1" dirty="0">
                <a:solidFill>
                  <a:srgbClr val="0A0F2C"/>
                </a:solidFill>
                <a:latin typeface="Calibri" pitchFamily="34" charset="0"/>
                <a:ea typeface="Calibri" pitchFamily="34" charset="-122"/>
                <a:cs typeface="Calibri" pitchFamily="34" charset="-120"/>
              </a:rPr>
              <a:t>Roma Roy</a:t>
            </a:r>
            <a:endParaRPr lang="en-US" sz="1100" dirty="0"/>
          </a:p>
        </p:txBody>
      </p:sp>
      <p:sp>
        <p:nvSpPr>
          <p:cNvPr id="20" name="Text 17"/>
          <p:cNvSpPr/>
          <p:nvPr/>
        </p:nvSpPr>
        <p:spPr>
          <a:xfrm>
            <a:off x="6080760" y="2496312"/>
            <a:ext cx="2560320" cy="201168"/>
          </a:xfrm>
          <a:prstGeom prst="rect">
            <a:avLst/>
          </a:prstGeom>
          <a:noFill/>
          <a:ln/>
        </p:spPr>
        <p:txBody>
          <a:bodyPr wrap="square" rtlCol="0" anchor="ctr"/>
          <a:lstStyle/>
          <a:p>
            <a:pPr marL="0" indent="0">
              <a:buNone/>
            </a:pPr>
            <a:r>
              <a:rPr lang="en-US" sz="900" dirty="0">
                <a:solidFill>
                  <a:srgbClr val="666666"/>
                </a:solidFill>
                <a:latin typeface="Calibri" pitchFamily="34" charset="0"/>
                <a:ea typeface="Calibri" pitchFamily="34" charset="-122"/>
                <a:cs typeface="Calibri" pitchFamily="34" charset="-120"/>
              </a:rPr>
              <a:t>Lead PM / Interviewee</a:t>
            </a:r>
            <a:endParaRPr lang="en-US" sz="900" dirty="0"/>
          </a:p>
        </p:txBody>
      </p:sp>
      <p:sp>
        <p:nvSpPr>
          <p:cNvPr id="21" name="Shape 18"/>
          <p:cNvSpPr/>
          <p:nvPr/>
        </p:nvSpPr>
        <p:spPr>
          <a:xfrm>
            <a:off x="5577840" y="2880360"/>
            <a:ext cx="3200400" cy="548640"/>
          </a:xfrm>
          <a:prstGeom prst="rect">
            <a:avLst/>
          </a:prstGeom>
          <a:solidFill>
            <a:srgbClr val="F5F8FF"/>
          </a:solidFill>
          <a:ln w="6350">
            <a:solidFill>
              <a:srgbClr val="D0DCF0"/>
            </a:solidFill>
            <a:prstDash val="solid"/>
          </a:ln>
        </p:spPr>
      </p:sp>
      <p:sp>
        <p:nvSpPr>
          <p:cNvPr id="22" name="Shape 19"/>
          <p:cNvSpPr/>
          <p:nvPr/>
        </p:nvSpPr>
        <p:spPr>
          <a:xfrm>
            <a:off x="5623560" y="2971800"/>
            <a:ext cx="365760" cy="365760"/>
          </a:xfrm>
          <a:prstGeom prst="ellipse">
            <a:avLst/>
          </a:prstGeom>
          <a:solidFill>
            <a:srgbClr val="2979FF"/>
          </a:solidFill>
          <a:ln w="12700">
            <a:solidFill>
              <a:srgbClr val="2979FF"/>
            </a:solidFill>
            <a:prstDash val="solid"/>
          </a:ln>
        </p:spPr>
      </p:sp>
      <p:sp>
        <p:nvSpPr>
          <p:cNvPr id="23" name="Text 20"/>
          <p:cNvSpPr/>
          <p:nvPr/>
        </p:nvSpPr>
        <p:spPr>
          <a:xfrm>
            <a:off x="5623560" y="2971800"/>
            <a:ext cx="36576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Text 21"/>
          <p:cNvSpPr/>
          <p:nvPr/>
        </p:nvSpPr>
        <p:spPr>
          <a:xfrm>
            <a:off x="6080760" y="2926080"/>
            <a:ext cx="2560320" cy="256032"/>
          </a:xfrm>
          <a:prstGeom prst="rect">
            <a:avLst/>
          </a:prstGeom>
          <a:noFill/>
          <a:ln/>
        </p:spPr>
        <p:txBody>
          <a:bodyPr wrap="square" rtlCol="0" anchor="ctr"/>
          <a:lstStyle/>
          <a:p>
            <a:pPr marL="0" indent="0">
              <a:buNone/>
            </a:pPr>
            <a:r>
              <a:rPr lang="en-US" sz="1100" b="1" dirty="0">
                <a:solidFill>
                  <a:srgbClr val="0A0F2C"/>
                </a:solidFill>
                <a:latin typeface="Calibri" pitchFamily="34" charset="0"/>
                <a:ea typeface="Calibri" pitchFamily="34" charset="-122"/>
                <a:cs typeface="Calibri" pitchFamily="34" charset="-120"/>
              </a:rPr>
              <a:t>Kuldeep Sarkar</a:t>
            </a:r>
            <a:endParaRPr lang="en-US" sz="1100" dirty="0"/>
          </a:p>
        </p:txBody>
      </p:sp>
      <p:sp>
        <p:nvSpPr>
          <p:cNvPr id="25" name="Text 22"/>
          <p:cNvSpPr/>
          <p:nvPr/>
        </p:nvSpPr>
        <p:spPr>
          <a:xfrm>
            <a:off x="6080760" y="3182112"/>
            <a:ext cx="2560320" cy="201168"/>
          </a:xfrm>
          <a:prstGeom prst="rect">
            <a:avLst/>
          </a:prstGeom>
          <a:noFill/>
          <a:ln/>
        </p:spPr>
        <p:txBody>
          <a:bodyPr wrap="square" rtlCol="0" anchor="ctr"/>
          <a:lstStyle/>
          <a:p>
            <a:r>
              <a:rPr lang="en-US" sz="900" dirty="0">
                <a:solidFill>
                  <a:srgbClr val="666666"/>
                </a:solidFill>
                <a:latin typeface="Calibri" pitchFamily="34" charset="0"/>
                <a:ea typeface="Calibri" pitchFamily="34" charset="-122"/>
                <a:cs typeface="Calibri" pitchFamily="34" charset="-120"/>
              </a:rPr>
              <a:t>Interviewee / Student</a:t>
            </a:r>
            <a:endParaRPr lang="en-US" sz="900" dirty="0"/>
          </a:p>
          <a:p>
            <a:pPr marL="0" indent="0">
              <a:buNone/>
            </a:pPr>
            <a:endParaRPr lang="en-US" sz="900" dirty="0"/>
          </a:p>
        </p:txBody>
      </p:sp>
      <p:sp>
        <p:nvSpPr>
          <p:cNvPr id="26" name="Shape 23"/>
          <p:cNvSpPr/>
          <p:nvPr/>
        </p:nvSpPr>
        <p:spPr>
          <a:xfrm>
            <a:off x="5486400" y="3593592"/>
            <a:ext cx="3383280" cy="949349"/>
          </a:xfrm>
          <a:prstGeom prst="rect">
            <a:avLst/>
          </a:prstGeom>
          <a:solidFill>
            <a:srgbClr val="EEF4FF"/>
          </a:solidFill>
          <a:ln w="19050">
            <a:solidFill>
              <a:srgbClr val="2979FF"/>
            </a:solidFill>
            <a:prstDash val="solid"/>
          </a:ln>
        </p:spPr>
        <p:txBody>
          <a:bodyPr/>
          <a:lstStyle/>
          <a:p>
            <a:endParaRPr lang="en-US" dirty="0"/>
          </a:p>
        </p:txBody>
      </p:sp>
      <p:sp>
        <p:nvSpPr>
          <p:cNvPr id="27" name="Text 24"/>
          <p:cNvSpPr/>
          <p:nvPr/>
        </p:nvSpPr>
        <p:spPr>
          <a:xfrm>
            <a:off x="5577840" y="3639312"/>
            <a:ext cx="3246120" cy="201168"/>
          </a:xfrm>
          <a:prstGeom prst="rect">
            <a:avLst/>
          </a:prstGeom>
          <a:noFill/>
          <a:ln/>
        </p:spPr>
        <p:txBody>
          <a:bodyPr wrap="square" rtlCol="0" anchor="ctr"/>
          <a:lstStyle/>
          <a:p>
            <a:pPr marL="0" indent="0">
              <a:buNone/>
            </a:pPr>
            <a:r>
              <a:rPr lang="en-US" sz="1000" b="1" dirty="0">
                <a:solidFill>
                  <a:srgbClr val="1565C0"/>
                </a:solidFill>
                <a:latin typeface="Calibri" pitchFamily="34" charset="0"/>
                <a:ea typeface="Calibri" pitchFamily="34" charset="-122"/>
                <a:cs typeface="Calibri" pitchFamily="34" charset="-120"/>
              </a:rPr>
              <a:t>Name of Interviewee (PM / Doctor):</a:t>
            </a:r>
            <a:endParaRPr lang="en-US" sz="1000" b="1" dirty="0"/>
          </a:p>
        </p:txBody>
      </p:sp>
      <p:sp>
        <p:nvSpPr>
          <p:cNvPr id="28" name="Text 25"/>
          <p:cNvSpPr/>
          <p:nvPr/>
        </p:nvSpPr>
        <p:spPr>
          <a:xfrm>
            <a:off x="5577840" y="3858768"/>
            <a:ext cx="3246120" cy="129643"/>
          </a:xfrm>
          <a:prstGeom prst="rect">
            <a:avLst/>
          </a:prstGeom>
          <a:noFill/>
          <a:ln/>
        </p:spPr>
        <p:txBody>
          <a:bodyPr wrap="square" rtlCol="0" anchor="ctr"/>
          <a:lstStyle/>
          <a:p>
            <a:pPr marL="0" indent="0">
              <a:buNone/>
            </a:pPr>
            <a:r>
              <a:rPr lang="en-US" sz="1100" b="1" dirty="0">
                <a:solidFill>
                  <a:srgbClr val="0A0F2C"/>
                </a:solidFill>
                <a:latin typeface="Calibri" pitchFamily="34" charset="0"/>
                <a:ea typeface="Calibri" pitchFamily="34" charset="-122"/>
                <a:cs typeface="Calibri" pitchFamily="34" charset="-120"/>
              </a:rPr>
              <a:t>Roma Roy</a:t>
            </a:r>
            <a:endParaRPr lang="en-US" sz="1100" b="1" dirty="0"/>
          </a:p>
        </p:txBody>
      </p:sp>
      <p:sp>
        <p:nvSpPr>
          <p:cNvPr id="29" name="Text 26"/>
          <p:cNvSpPr/>
          <p:nvPr/>
        </p:nvSpPr>
        <p:spPr>
          <a:xfrm>
            <a:off x="5577840" y="4069080"/>
            <a:ext cx="3246120" cy="164592"/>
          </a:xfrm>
          <a:prstGeom prst="rect">
            <a:avLst/>
          </a:prstGeom>
          <a:noFill/>
          <a:ln/>
        </p:spPr>
        <p:txBody>
          <a:bodyPr wrap="square" rtlCol="0" anchor="ctr"/>
          <a:lstStyle/>
          <a:p>
            <a:pPr marL="0" indent="0">
              <a:buNone/>
            </a:pPr>
            <a:r>
              <a:rPr lang="en-US" sz="1050" b="1" dirty="0">
                <a:solidFill>
                  <a:srgbClr val="555555"/>
                </a:solidFill>
                <a:latin typeface="Calibri" pitchFamily="34" charset="0"/>
                <a:ea typeface="Calibri" pitchFamily="34" charset="-122"/>
                <a:cs typeface="Calibri" pitchFamily="34" charset="-120"/>
              </a:rPr>
              <a:t>Designation: Dentist</a:t>
            </a:r>
          </a:p>
          <a:p>
            <a:pPr marL="0" indent="0">
              <a:buNone/>
            </a:pPr>
            <a:r>
              <a:rPr lang="en-US" sz="1050" b="1" dirty="0">
                <a:solidFill>
                  <a:srgbClr val="555555"/>
                </a:solidFill>
                <a:latin typeface="Calibri" pitchFamily="34" charset="0"/>
                <a:ea typeface="Calibri" pitchFamily="34" charset="-122"/>
                <a:cs typeface="Calibri" pitchFamily="34" charset="-120"/>
              </a:rPr>
              <a:t>Experience: 4 Years</a:t>
            </a:r>
            <a:endParaRPr lang="en-US" sz="1050" b="1" dirty="0"/>
          </a:p>
        </p:txBody>
      </p:sp>
      <p:sp>
        <p:nvSpPr>
          <p:cNvPr id="30" name="Text 27"/>
          <p:cNvSpPr/>
          <p:nvPr/>
        </p:nvSpPr>
        <p:spPr>
          <a:xfrm>
            <a:off x="274320" y="4297680"/>
            <a:ext cx="8595360" cy="274320"/>
          </a:xfrm>
          <a:prstGeom prst="rect">
            <a:avLst/>
          </a:prstGeom>
          <a:noFill/>
          <a:ln/>
        </p:spPr>
        <p:txBody>
          <a:bodyPr wrap="square" rtlCol="0" anchor="ctr"/>
          <a:lstStyle/>
          <a:p>
            <a:pPr marL="0" indent="0">
              <a:buNone/>
            </a:pPr>
            <a:r>
              <a:rPr lang="en-US" sz="900" i="1" dirty="0">
                <a:solidFill>
                  <a:srgbClr val="777777"/>
                </a:solidFill>
                <a:latin typeface="Calibri" pitchFamily="34" charset="0"/>
                <a:ea typeface="Calibri" pitchFamily="34" charset="-122"/>
                <a:cs typeface="Calibri" pitchFamily="34" charset="-120"/>
              </a:rPr>
              <a:t>📍 Google Meet Session — Code: eto-gchu-eyx | Duration: Active at 00:07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6B475-FB64-81B3-C6D2-CDF9DE8E395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4B44CE1-7C5C-8C32-B2BA-6DC9F935AF99}"/>
              </a:ext>
            </a:extLst>
          </p:cNvPr>
          <p:cNvSpPr/>
          <p:nvPr/>
        </p:nvSpPr>
        <p:spPr>
          <a:xfrm>
            <a:off x="0" y="0"/>
            <a:ext cx="9144000" cy="914400"/>
          </a:xfrm>
          <a:prstGeom prst="rect">
            <a:avLst/>
          </a:prstGeom>
          <a:solidFill>
            <a:srgbClr val="1A3A6E"/>
          </a:solidFill>
          <a:ln w="12700">
            <a:solidFill>
              <a:srgbClr val="1A3A6E"/>
            </a:solidFill>
            <a:prstDash val="solid"/>
          </a:ln>
        </p:spPr>
        <p:txBody>
          <a:bodyPr/>
          <a:lstStyle/>
          <a:p>
            <a:endParaRPr lang="en-US" dirty="0"/>
          </a:p>
        </p:txBody>
      </p:sp>
      <p:sp>
        <p:nvSpPr>
          <p:cNvPr id="3" name="Shape 1">
            <a:extLst>
              <a:ext uri="{FF2B5EF4-FFF2-40B4-BE49-F238E27FC236}">
                <a16:creationId xmlns:a16="http://schemas.microsoft.com/office/drawing/2014/main" id="{389D6167-4196-A0FD-E494-E284BDEA8183}"/>
              </a:ext>
            </a:extLst>
          </p:cNvPr>
          <p:cNvSpPr/>
          <p:nvPr/>
        </p:nvSpPr>
        <p:spPr>
          <a:xfrm>
            <a:off x="0" y="0"/>
            <a:ext cx="9144000" cy="73152"/>
          </a:xfrm>
          <a:prstGeom prst="rect">
            <a:avLst/>
          </a:prstGeom>
          <a:solidFill>
            <a:srgbClr val="2979FF"/>
          </a:solidFill>
          <a:ln w="12700">
            <a:solidFill>
              <a:srgbClr val="2979FF"/>
            </a:solidFill>
            <a:prstDash val="solid"/>
          </a:ln>
        </p:spPr>
      </p:sp>
      <p:sp>
        <p:nvSpPr>
          <p:cNvPr id="4" name="Text 2">
            <a:extLst>
              <a:ext uri="{FF2B5EF4-FFF2-40B4-BE49-F238E27FC236}">
                <a16:creationId xmlns:a16="http://schemas.microsoft.com/office/drawing/2014/main" id="{BD72FEDB-8C85-81DD-94B0-2C047C7144B6}"/>
              </a:ext>
            </a:extLst>
          </p:cNvPr>
          <p:cNvSpPr/>
          <p:nvPr/>
        </p:nvSpPr>
        <p:spPr>
          <a:xfrm>
            <a:off x="365760" y="137160"/>
            <a:ext cx="8412480" cy="45720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SLIDE 07 — DOCUMENTARY EVIDENCE</a:t>
            </a:r>
            <a:endParaRPr lang="en-US" sz="2000" dirty="0"/>
          </a:p>
        </p:txBody>
      </p:sp>
      <p:sp>
        <p:nvSpPr>
          <p:cNvPr id="5" name="Text 3">
            <a:extLst>
              <a:ext uri="{FF2B5EF4-FFF2-40B4-BE49-F238E27FC236}">
                <a16:creationId xmlns:a16="http://schemas.microsoft.com/office/drawing/2014/main" id="{560AA56F-DFA1-7ACC-9F2F-4644F9F3C551}"/>
              </a:ext>
            </a:extLst>
          </p:cNvPr>
          <p:cNvSpPr/>
          <p:nvPr/>
        </p:nvSpPr>
        <p:spPr>
          <a:xfrm>
            <a:off x="365760" y="548640"/>
            <a:ext cx="8412480" cy="274320"/>
          </a:xfrm>
          <a:prstGeom prst="rect">
            <a:avLst/>
          </a:prstGeom>
          <a:noFill/>
          <a:ln/>
        </p:spPr>
        <p:txBody>
          <a:bodyPr wrap="square" rtlCol="0" anchor="ctr"/>
          <a:lstStyle/>
          <a:p>
            <a:pPr marL="0" indent="0">
              <a:buNone/>
            </a:pPr>
            <a:r>
              <a:rPr lang="en-US" sz="1100" i="1" dirty="0">
                <a:solidFill>
                  <a:srgbClr val="90CAF9"/>
                </a:solidFill>
                <a:latin typeface="Calibri" pitchFamily="34" charset="0"/>
                <a:ea typeface="Calibri" pitchFamily="34" charset="-122"/>
                <a:cs typeface="Calibri" pitchFamily="34" charset="-120"/>
              </a:rPr>
              <a:t>Personal Interview in Sharda Health Care I – IT Team</a:t>
            </a:r>
            <a:endParaRPr lang="en-US" sz="1100" dirty="0"/>
          </a:p>
        </p:txBody>
      </p:sp>
      <p:sp>
        <p:nvSpPr>
          <p:cNvPr id="6" name="Shape 4">
            <a:extLst>
              <a:ext uri="{FF2B5EF4-FFF2-40B4-BE49-F238E27FC236}">
                <a16:creationId xmlns:a16="http://schemas.microsoft.com/office/drawing/2014/main" id="{DCE8E276-C185-F176-6B3F-FFA2E3E9AA76}"/>
              </a:ext>
            </a:extLst>
          </p:cNvPr>
          <p:cNvSpPr/>
          <p:nvPr/>
        </p:nvSpPr>
        <p:spPr>
          <a:xfrm>
            <a:off x="184760" y="946404"/>
            <a:ext cx="5029200" cy="3200400"/>
          </a:xfrm>
          <a:prstGeom prst="rect">
            <a:avLst/>
          </a:prstGeom>
          <a:solidFill>
            <a:srgbClr val="1A1A2E"/>
          </a:solidFill>
          <a:ln w="25400">
            <a:solidFill>
              <a:srgbClr val="2979FF"/>
            </a:solidFill>
            <a:prstDash val="solid"/>
          </a:ln>
          <a:effectLst>
            <a:outerShdw blurRad="101600" dist="38100" dir="8100000" algn="bl" rotWithShape="0">
              <a:srgbClr val="000000">
                <a:alpha val="30000"/>
              </a:srgbClr>
            </a:outerShdw>
          </a:effectLst>
        </p:spPr>
      </p:sp>
      <p:sp>
        <p:nvSpPr>
          <p:cNvPr id="8" name="Shape 5">
            <a:extLst>
              <a:ext uri="{FF2B5EF4-FFF2-40B4-BE49-F238E27FC236}">
                <a16:creationId xmlns:a16="http://schemas.microsoft.com/office/drawing/2014/main" id="{C27E73DA-33D0-F0AC-CFD2-ED9888CDD292}"/>
              </a:ext>
            </a:extLst>
          </p:cNvPr>
          <p:cNvSpPr/>
          <p:nvPr/>
        </p:nvSpPr>
        <p:spPr>
          <a:xfrm>
            <a:off x="5472452" y="981043"/>
            <a:ext cx="3383280" cy="3456432"/>
          </a:xfrm>
          <a:prstGeom prst="rect">
            <a:avLst/>
          </a:prstGeom>
          <a:solidFill>
            <a:srgbClr val="FFFFFF"/>
          </a:solidFill>
          <a:ln w="12700">
            <a:solidFill>
              <a:srgbClr val="D0DCF0"/>
            </a:solidFill>
            <a:prstDash val="solid"/>
          </a:ln>
        </p:spPr>
      </p:sp>
      <p:sp>
        <p:nvSpPr>
          <p:cNvPr id="9" name="Shape 6">
            <a:extLst>
              <a:ext uri="{FF2B5EF4-FFF2-40B4-BE49-F238E27FC236}">
                <a16:creationId xmlns:a16="http://schemas.microsoft.com/office/drawing/2014/main" id="{48120A01-CF9C-A892-26E0-8FBF250D017F}"/>
              </a:ext>
            </a:extLst>
          </p:cNvPr>
          <p:cNvSpPr/>
          <p:nvPr/>
        </p:nvSpPr>
        <p:spPr>
          <a:xfrm>
            <a:off x="5486400" y="1005840"/>
            <a:ext cx="3383280" cy="411480"/>
          </a:xfrm>
          <a:prstGeom prst="rect">
            <a:avLst/>
          </a:prstGeom>
          <a:solidFill>
            <a:srgbClr val="1565C0"/>
          </a:solidFill>
          <a:ln w="12700">
            <a:solidFill>
              <a:srgbClr val="1565C0"/>
            </a:solidFill>
            <a:prstDash val="solid"/>
          </a:ln>
        </p:spPr>
      </p:sp>
      <p:sp>
        <p:nvSpPr>
          <p:cNvPr id="10" name="Text 7">
            <a:extLst>
              <a:ext uri="{FF2B5EF4-FFF2-40B4-BE49-F238E27FC236}">
                <a16:creationId xmlns:a16="http://schemas.microsoft.com/office/drawing/2014/main" id="{4EEAB7FA-0C2E-8787-B606-2ADAD55DCC2B}"/>
              </a:ext>
            </a:extLst>
          </p:cNvPr>
          <p:cNvSpPr/>
          <p:nvPr/>
        </p:nvSpPr>
        <p:spPr>
          <a:xfrm>
            <a:off x="5532120" y="1051560"/>
            <a:ext cx="3291840" cy="32004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PARTICIPANTS IDENTIFIED</a:t>
            </a:r>
            <a:endParaRPr lang="en-US" sz="1000" dirty="0"/>
          </a:p>
        </p:txBody>
      </p:sp>
      <p:sp>
        <p:nvSpPr>
          <p:cNvPr id="11" name="Shape 8">
            <a:extLst>
              <a:ext uri="{FF2B5EF4-FFF2-40B4-BE49-F238E27FC236}">
                <a16:creationId xmlns:a16="http://schemas.microsoft.com/office/drawing/2014/main" id="{F365A4FF-3D50-C8C6-997A-9D5354D6AF3A}"/>
              </a:ext>
            </a:extLst>
          </p:cNvPr>
          <p:cNvSpPr/>
          <p:nvPr/>
        </p:nvSpPr>
        <p:spPr>
          <a:xfrm>
            <a:off x="5577840" y="1508760"/>
            <a:ext cx="3200400" cy="548640"/>
          </a:xfrm>
          <a:prstGeom prst="rect">
            <a:avLst/>
          </a:prstGeom>
          <a:solidFill>
            <a:srgbClr val="F5F8FF"/>
          </a:solidFill>
          <a:ln w="6350">
            <a:solidFill>
              <a:srgbClr val="D0DCF0"/>
            </a:solidFill>
            <a:prstDash val="solid"/>
          </a:ln>
        </p:spPr>
      </p:sp>
      <p:sp>
        <p:nvSpPr>
          <p:cNvPr id="12" name="Shape 9">
            <a:extLst>
              <a:ext uri="{FF2B5EF4-FFF2-40B4-BE49-F238E27FC236}">
                <a16:creationId xmlns:a16="http://schemas.microsoft.com/office/drawing/2014/main" id="{2DE4E385-8B7D-0859-AD63-7ADC260BD37B}"/>
              </a:ext>
            </a:extLst>
          </p:cNvPr>
          <p:cNvSpPr/>
          <p:nvPr/>
        </p:nvSpPr>
        <p:spPr>
          <a:xfrm>
            <a:off x="5623560" y="1600200"/>
            <a:ext cx="365760" cy="365760"/>
          </a:xfrm>
          <a:prstGeom prst="ellipse">
            <a:avLst/>
          </a:prstGeom>
          <a:solidFill>
            <a:srgbClr val="2979FF"/>
          </a:solidFill>
          <a:ln w="12700">
            <a:solidFill>
              <a:srgbClr val="2979FF"/>
            </a:solidFill>
            <a:prstDash val="solid"/>
          </a:ln>
        </p:spPr>
      </p:sp>
      <p:sp>
        <p:nvSpPr>
          <p:cNvPr id="13" name="Text 10">
            <a:extLst>
              <a:ext uri="{FF2B5EF4-FFF2-40B4-BE49-F238E27FC236}">
                <a16:creationId xmlns:a16="http://schemas.microsoft.com/office/drawing/2014/main" id="{8D7BC290-81B5-03E5-1E02-60E7AB6E70BD}"/>
              </a:ext>
            </a:extLst>
          </p:cNvPr>
          <p:cNvSpPr/>
          <p:nvPr/>
        </p:nvSpPr>
        <p:spPr>
          <a:xfrm>
            <a:off x="5623560" y="1600200"/>
            <a:ext cx="36576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4" name="Text 11">
            <a:extLst>
              <a:ext uri="{FF2B5EF4-FFF2-40B4-BE49-F238E27FC236}">
                <a16:creationId xmlns:a16="http://schemas.microsoft.com/office/drawing/2014/main" id="{EF108C7D-1639-588C-9B6C-8F57B5AC657A}"/>
              </a:ext>
            </a:extLst>
          </p:cNvPr>
          <p:cNvSpPr/>
          <p:nvPr/>
        </p:nvSpPr>
        <p:spPr>
          <a:xfrm>
            <a:off x="6080760" y="1554480"/>
            <a:ext cx="2560320" cy="256032"/>
          </a:xfrm>
          <a:prstGeom prst="rect">
            <a:avLst/>
          </a:prstGeom>
          <a:noFill/>
          <a:ln/>
        </p:spPr>
        <p:txBody>
          <a:bodyPr wrap="square" rtlCol="0" anchor="ctr"/>
          <a:lstStyle/>
          <a:p>
            <a:pPr marL="0" indent="0">
              <a:buNone/>
            </a:pPr>
            <a:r>
              <a:rPr lang="en-US" sz="1100" b="1" dirty="0">
                <a:solidFill>
                  <a:srgbClr val="0A0F2C"/>
                </a:solidFill>
                <a:latin typeface="Calibri" pitchFamily="34" charset="0"/>
                <a:ea typeface="Calibri" pitchFamily="34" charset="-122"/>
                <a:cs typeface="Calibri" pitchFamily="34" charset="-120"/>
              </a:rPr>
              <a:t>Niraj Kumar</a:t>
            </a:r>
            <a:endParaRPr lang="en-US" sz="1100" dirty="0"/>
          </a:p>
        </p:txBody>
      </p:sp>
      <p:sp>
        <p:nvSpPr>
          <p:cNvPr id="15" name="Text 12">
            <a:extLst>
              <a:ext uri="{FF2B5EF4-FFF2-40B4-BE49-F238E27FC236}">
                <a16:creationId xmlns:a16="http://schemas.microsoft.com/office/drawing/2014/main" id="{D3D49A52-2700-CB5D-10B4-45B9AB193386}"/>
              </a:ext>
            </a:extLst>
          </p:cNvPr>
          <p:cNvSpPr/>
          <p:nvPr/>
        </p:nvSpPr>
        <p:spPr>
          <a:xfrm>
            <a:off x="6080760" y="1810512"/>
            <a:ext cx="2560320" cy="201168"/>
          </a:xfrm>
          <a:prstGeom prst="rect">
            <a:avLst/>
          </a:prstGeom>
          <a:noFill/>
          <a:ln/>
        </p:spPr>
        <p:txBody>
          <a:bodyPr wrap="square" rtlCol="0" anchor="ctr"/>
          <a:lstStyle/>
          <a:p>
            <a:pPr marL="0" indent="0">
              <a:buNone/>
            </a:pPr>
            <a:r>
              <a:rPr lang="en-US" sz="900" dirty="0">
                <a:solidFill>
                  <a:srgbClr val="666666"/>
                </a:solidFill>
                <a:latin typeface="Calibri" pitchFamily="34" charset="0"/>
                <a:ea typeface="Calibri" pitchFamily="34" charset="-122"/>
                <a:cs typeface="Calibri" pitchFamily="34" charset="-120"/>
              </a:rPr>
              <a:t>Interviewee / Student</a:t>
            </a:r>
            <a:endParaRPr lang="en-US" sz="900" dirty="0"/>
          </a:p>
        </p:txBody>
      </p:sp>
      <p:sp>
        <p:nvSpPr>
          <p:cNvPr id="16" name="Shape 13">
            <a:extLst>
              <a:ext uri="{FF2B5EF4-FFF2-40B4-BE49-F238E27FC236}">
                <a16:creationId xmlns:a16="http://schemas.microsoft.com/office/drawing/2014/main" id="{04470BAC-4332-EDD7-2D71-A6EE2548FD13}"/>
              </a:ext>
            </a:extLst>
          </p:cNvPr>
          <p:cNvSpPr/>
          <p:nvPr/>
        </p:nvSpPr>
        <p:spPr>
          <a:xfrm>
            <a:off x="5577840" y="2194560"/>
            <a:ext cx="3200400" cy="548640"/>
          </a:xfrm>
          <a:prstGeom prst="rect">
            <a:avLst/>
          </a:prstGeom>
          <a:solidFill>
            <a:srgbClr val="F5F8FF"/>
          </a:solidFill>
          <a:ln w="6350">
            <a:solidFill>
              <a:srgbClr val="D0DCF0"/>
            </a:solidFill>
            <a:prstDash val="solid"/>
          </a:ln>
        </p:spPr>
      </p:sp>
      <p:sp>
        <p:nvSpPr>
          <p:cNvPr id="17" name="Shape 14">
            <a:extLst>
              <a:ext uri="{FF2B5EF4-FFF2-40B4-BE49-F238E27FC236}">
                <a16:creationId xmlns:a16="http://schemas.microsoft.com/office/drawing/2014/main" id="{D73B89EA-9ACB-B68E-DD23-CCCD17BA24E1}"/>
              </a:ext>
            </a:extLst>
          </p:cNvPr>
          <p:cNvSpPr/>
          <p:nvPr/>
        </p:nvSpPr>
        <p:spPr>
          <a:xfrm>
            <a:off x="5623560" y="2286000"/>
            <a:ext cx="365760" cy="365760"/>
          </a:xfrm>
          <a:prstGeom prst="ellipse">
            <a:avLst/>
          </a:prstGeom>
          <a:solidFill>
            <a:srgbClr val="2979FF"/>
          </a:solidFill>
          <a:ln w="12700">
            <a:solidFill>
              <a:srgbClr val="2979FF"/>
            </a:solidFill>
            <a:prstDash val="solid"/>
          </a:ln>
        </p:spPr>
      </p:sp>
      <p:sp>
        <p:nvSpPr>
          <p:cNvPr id="18" name="Text 15">
            <a:extLst>
              <a:ext uri="{FF2B5EF4-FFF2-40B4-BE49-F238E27FC236}">
                <a16:creationId xmlns:a16="http://schemas.microsoft.com/office/drawing/2014/main" id="{8AC96886-74E7-FE1E-2A00-65CFFE35892B}"/>
              </a:ext>
            </a:extLst>
          </p:cNvPr>
          <p:cNvSpPr/>
          <p:nvPr/>
        </p:nvSpPr>
        <p:spPr>
          <a:xfrm>
            <a:off x="5623560" y="2286000"/>
            <a:ext cx="36576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9" name="Text 16">
            <a:extLst>
              <a:ext uri="{FF2B5EF4-FFF2-40B4-BE49-F238E27FC236}">
                <a16:creationId xmlns:a16="http://schemas.microsoft.com/office/drawing/2014/main" id="{AECD6DCE-D3BE-E006-244C-11776379D1D0}"/>
              </a:ext>
            </a:extLst>
          </p:cNvPr>
          <p:cNvSpPr/>
          <p:nvPr/>
        </p:nvSpPr>
        <p:spPr>
          <a:xfrm>
            <a:off x="6080760" y="2240280"/>
            <a:ext cx="2560320" cy="256032"/>
          </a:xfrm>
          <a:prstGeom prst="rect">
            <a:avLst/>
          </a:prstGeom>
          <a:noFill/>
          <a:ln/>
        </p:spPr>
        <p:txBody>
          <a:bodyPr wrap="square" rtlCol="0" anchor="ctr"/>
          <a:lstStyle/>
          <a:p>
            <a:pPr marL="0" indent="0">
              <a:buNone/>
            </a:pPr>
            <a:r>
              <a:rPr lang="en-US" sz="1100" b="1" dirty="0"/>
              <a:t>Mohit Gautam</a:t>
            </a:r>
          </a:p>
        </p:txBody>
      </p:sp>
      <p:sp>
        <p:nvSpPr>
          <p:cNvPr id="20" name="Text 17">
            <a:extLst>
              <a:ext uri="{FF2B5EF4-FFF2-40B4-BE49-F238E27FC236}">
                <a16:creationId xmlns:a16="http://schemas.microsoft.com/office/drawing/2014/main" id="{1BFA25BE-B672-EED5-2DD2-DD1FDACA0904}"/>
              </a:ext>
            </a:extLst>
          </p:cNvPr>
          <p:cNvSpPr/>
          <p:nvPr/>
        </p:nvSpPr>
        <p:spPr>
          <a:xfrm>
            <a:off x="6080760" y="2496312"/>
            <a:ext cx="2560320" cy="201168"/>
          </a:xfrm>
          <a:prstGeom prst="rect">
            <a:avLst/>
          </a:prstGeom>
          <a:noFill/>
          <a:ln/>
        </p:spPr>
        <p:txBody>
          <a:bodyPr wrap="square" rtlCol="0" anchor="ctr"/>
          <a:lstStyle/>
          <a:p>
            <a:pPr marL="0" indent="0">
              <a:buNone/>
            </a:pPr>
            <a:r>
              <a:rPr lang="en-US" sz="900" dirty="0">
                <a:solidFill>
                  <a:srgbClr val="666666"/>
                </a:solidFill>
                <a:latin typeface="Calibri" pitchFamily="34" charset="0"/>
                <a:ea typeface="Calibri" pitchFamily="34" charset="-122"/>
                <a:cs typeface="Calibri" pitchFamily="34" charset="-120"/>
              </a:rPr>
              <a:t>Lead PM / Interviewee</a:t>
            </a:r>
            <a:endParaRPr lang="en-US" sz="900" dirty="0"/>
          </a:p>
        </p:txBody>
      </p:sp>
      <p:sp>
        <p:nvSpPr>
          <p:cNvPr id="21" name="Shape 18">
            <a:extLst>
              <a:ext uri="{FF2B5EF4-FFF2-40B4-BE49-F238E27FC236}">
                <a16:creationId xmlns:a16="http://schemas.microsoft.com/office/drawing/2014/main" id="{9723B12B-9B44-C81B-F245-05368C456C24}"/>
              </a:ext>
            </a:extLst>
          </p:cNvPr>
          <p:cNvSpPr/>
          <p:nvPr/>
        </p:nvSpPr>
        <p:spPr>
          <a:xfrm>
            <a:off x="5577840" y="2880360"/>
            <a:ext cx="3200400" cy="548640"/>
          </a:xfrm>
          <a:prstGeom prst="rect">
            <a:avLst/>
          </a:prstGeom>
          <a:solidFill>
            <a:srgbClr val="F5F8FF"/>
          </a:solidFill>
          <a:ln w="6350">
            <a:solidFill>
              <a:srgbClr val="D0DCF0"/>
            </a:solidFill>
            <a:prstDash val="solid"/>
          </a:ln>
        </p:spPr>
      </p:sp>
      <p:sp>
        <p:nvSpPr>
          <p:cNvPr id="22" name="Shape 19">
            <a:extLst>
              <a:ext uri="{FF2B5EF4-FFF2-40B4-BE49-F238E27FC236}">
                <a16:creationId xmlns:a16="http://schemas.microsoft.com/office/drawing/2014/main" id="{BD44188E-2B27-5E25-8141-C3823B1850B5}"/>
              </a:ext>
            </a:extLst>
          </p:cNvPr>
          <p:cNvSpPr/>
          <p:nvPr/>
        </p:nvSpPr>
        <p:spPr>
          <a:xfrm>
            <a:off x="5623560" y="2971800"/>
            <a:ext cx="365760" cy="365760"/>
          </a:xfrm>
          <a:prstGeom prst="ellipse">
            <a:avLst/>
          </a:prstGeom>
          <a:solidFill>
            <a:srgbClr val="2979FF"/>
          </a:solidFill>
          <a:ln w="12700">
            <a:solidFill>
              <a:srgbClr val="2979FF"/>
            </a:solidFill>
            <a:prstDash val="solid"/>
          </a:ln>
        </p:spPr>
      </p:sp>
      <p:sp>
        <p:nvSpPr>
          <p:cNvPr id="23" name="Text 20">
            <a:extLst>
              <a:ext uri="{FF2B5EF4-FFF2-40B4-BE49-F238E27FC236}">
                <a16:creationId xmlns:a16="http://schemas.microsoft.com/office/drawing/2014/main" id="{AFBC60A7-9485-BF99-57AA-812A91C05075}"/>
              </a:ext>
            </a:extLst>
          </p:cNvPr>
          <p:cNvSpPr/>
          <p:nvPr/>
        </p:nvSpPr>
        <p:spPr>
          <a:xfrm>
            <a:off x="5623560" y="2971800"/>
            <a:ext cx="36576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Text 21">
            <a:extLst>
              <a:ext uri="{FF2B5EF4-FFF2-40B4-BE49-F238E27FC236}">
                <a16:creationId xmlns:a16="http://schemas.microsoft.com/office/drawing/2014/main" id="{B5BF4827-9560-F3DA-7B9F-0312DC2EE115}"/>
              </a:ext>
            </a:extLst>
          </p:cNvPr>
          <p:cNvSpPr/>
          <p:nvPr/>
        </p:nvSpPr>
        <p:spPr>
          <a:xfrm>
            <a:off x="6080760" y="2926080"/>
            <a:ext cx="2560320" cy="256032"/>
          </a:xfrm>
          <a:prstGeom prst="rect">
            <a:avLst/>
          </a:prstGeom>
          <a:noFill/>
          <a:ln/>
        </p:spPr>
        <p:txBody>
          <a:bodyPr wrap="square" rtlCol="0" anchor="ctr"/>
          <a:lstStyle/>
          <a:p>
            <a:pPr marL="0" indent="0">
              <a:buNone/>
            </a:pPr>
            <a:r>
              <a:rPr lang="en-US" sz="1100" b="1" dirty="0">
                <a:solidFill>
                  <a:srgbClr val="0A0F2C"/>
                </a:solidFill>
                <a:latin typeface="Calibri" pitchFamily="34" charset="0"/>
                <a:ea typeface="Calibri" pitchFamily="34" charset="-122"/>
                <a:cs typeface="Calibri" pitchFamily="34" charset="-120"/>
              </a:rPr>
              <a:t>Kuldeep Sarkar</a:t>
            </a:r>
            <a:endParaRPr lang="en-US" sz="1100" dirty="0"/>
          </a:p>
        </p:txBody>
      </p:sp>
      <p:sp>
        <p:nvSpPr>
          <p:cNvPr id="25" name="Text 22">
            <a:extLst>
              <a:ext uri="{FF2B5EF4-FFF2-40B4-BE49-F238E27FC236}">
                <a16:creationId xmlns:a16="http://schemas.microsoft.com/office/drawing/2014/main" id="{F5D6CC54-5F60-4EF2-5DD6-763ED25C2092}"/>
              </a:ext>
            </a:extLst>
          </p:cNvPr>
          <p:cNvSpPr/>
          <p:nvPr/>
        </p:nvSpPr>
        <p:spPr>
          <a:xfrm>
            <a:off x="6080760" y="3182112"/>
            <a:ext cx="2560320" cy="201168"/>
          </a:xfrm>
          <a:prstGeom prst="rect">
            <a:avLst/>
          </a:prstGeom>
          <a:noFill/>
          <a:ln/>
        </p:spPr>
        <p:txBody>
          <a:bodyPr wrap="square" rtlCol="0" anchor="ctr"/>
          <a:lstStyle/>
          <a:p>
            <a:r>
              <a:rPr lang="en-US" sz="900" dirty="0">
                <a:solidFill>
                  <a:srgbClr val="666666"/>
                </a:solidFill>
                <a:latin typeface="Calibri" pitchFamily="34" charset="0"/>
                <a:ea typeface="Calibri" pitchFamily="34" charset="-122"/>
                <a:cs typeface="Calibri" pitchFamily="34" charset="-120"/>
              </a:rPr>
              <a:t>Interviewee / Student</a:t>
            </a:r>
            <a:endParaRPr lang="en-US" sz="900" dirty="0"/>
          </a:p>
          <a:p>
            <a:pPr marL="0" indent="0">
              <a:buNone/>
            </a:pPr>
            <a:endParaRPr lang="en-US" sz="900" dirty="0"/>
          </a:p>
        </p:txBody>
      </p:sp>
      <p:sp>
        <p:nvSpPr>
          <p:cNvPr id="26" name="Shape 23">
            <a:extLst>
              <a:ext uri="{FF2B5EF4-FFF2-40B4-BE49-F238E27FC236}">
                <a16:creationId xmlns:a16="http://schemas.microsoft.com/office/drawing/2014/main" id="{52D2B007-B461-B259-5934-D035E3AD1FE0}"/>
              </a:ext>
            </a:extLst>
          </p:cNvPr>
          <p:cNvSpPr/>
          <p:nvPr/>
        </p:nvSpPr>
        <p:spPr>
          <a:xfrm>
            <a:off x="241910" y="4473314"/>
            <a:ext cx="1881358" cy="643026"/>
          </a:xfrm>
          <a:prstGeom prst="rect">
            <a:avLst/>
          </a:prstGeom>
          <a:solidFill>
            <a:srgbClr val="EEF4FF"/>
          </a:solidFill>
          <a:ln w="19050">
            <a:solidFill>
              <a:srgbClr val="2979FF"/>
            </a:solidFill>
            <a:prstDash val="solid"/>
          </a:ln>
        </p:spPr>
        <p:txBody>
          <a:bodyPr/>
          <a:lstStyle/>
          <a:p>
            <a:r>
              <a:rPr lang="en-US" sz="1200" i="1" dirty="0"/>
              <a:t>Mohit Gautam </a:t>
            </a:r>
          </a:p>
          <a:p>
            <a:r>
              <a:rPr lang="en-US" sz="1200" i="1" dirty="0"/>
              <a:t>Support Engineer </a:t>
            </a:r>
          </a:p>
          <a:p>
            <a:r>
              <a:rPr lang="en-US" sz="1200" i="1" dirty="0"/>
              <a:t>2.5 years of Experience </a:t>
            </a:r>
          </a:p>
        </p:txBody>
      </p:sp>
      <p:sp>
        <p:nvSpPr>
          <p:cNvPr id="27" name="Text 24">
            <a:extLst>
              <a:ext uri="{FF2B5EF4-FFF2-40B4-BE49-F238E27FC236}">
                <a16:creationId xmlns:a16="http://schemas.microsoft.com/office/drawing/2014/main" id="{0568CFA6-5F54-F6AF-7AA6-178B51666AA8}"/>
              </a:ext>
            </a:extLst>
          </p:cNvPr>
          <p:cNvSpPr/>
          <p:nvPr/>
        </p:nvSpPr>
        <p:spPr>
          <a:xfrm>
            <a:off x="5577840" y="3639312"/>
            <a:ext cx="3246120" cy="822960"/>
          </a:xfrm>
          <a:prstGeom prst="rect">
            <a:avLst/>
          </a:prstGeom>
          <a:noFill/>
          <a:ln/>
        </p:spPr>
        <p:txBody>
          <a:bodyPr wrap="square" rtlCol="0" anchor="ctr"/>
          <a:lstStyle/>
          <a:p>
            <a:pPr marL="0" indent="0">
              <a:buNone/>
            </a:pPr>
            <a:r>
              <a:rPr lang="en-US" sz="1000" b="1" dirty="0">
                <a:solidFill>
                  <a:srgbClr val="1565C0"/>
                </a:solidFill>
                <a:latin typeface="Calibri" pitchFamily="34" charset="0"/>
                <a:ea typeface="Calibri" pitchFamily="34" charset="-122"/>
                <a:cs typeface="Calibri" pitchFamily="34" charset="-120"/>
              </a:rPr>
              <a:t>:</a:t>
            </a:r>
            <a:endParaRPr lang="en-US" sz="1000" b="1" dirty="0"/>
          </a:p>
        </p:txBody>
      </p:sp>
      <p:sp>
        <p:nvSpPr>
          <p:cNvPr id="29" name="Text 26">
            <a:extLst>
              <a:ext uri="{FF2B5EF4-FFF2-40B4-BE49-F238E27FC236}">
                <a16:creationId xmlns:a16="http://schemas.microsoft.com/office/drawing/2014/main" id="{DDFE4AA1-8057-C6D5-5E60-97B7428F6108}"/>
              </a:ext>
            </a:extLst>
          </p:cNvPr>
          <p:cNvSpPr/>
          <p:nvPr/>
        </p:nvSpPr>
        <p:spPr>
          <a:xfrm>
            <a:off x="5577840" y="4069080"/>
            <a:ext cx="3246120" cy="164592"/>
          </a:xfrm>
          <a:prstGeom prst="rect">
            <a:avLst/>
          </a:prstGeom>
          <a:noFill/>
          <a:ln/>
        </p:spPr>
        <p:txBody>
          <a:bodyPr wrap="square" rtlCol="0" anchor="ctr"/>
          <a:lstStyle/>
          <a:p>
            <a:pPr marL="0" indent="0">
              <a:buNone/>
            </a:pPr>
            <a:endParaRPr lang="en-US" sz="1050" b="1" dirty="0"/>
          </a:p>
        </p:txBody>
      </p:sp>
      <p:sp>
        <p:nvSpPr>
          <p:cNvPr id="30" name="Text 27">
            <a:extLst>
              <a:ext uri="{FF2B5EF4-FFF2-40B4-BE49-F238E27FC236}">
                <a16:creationId xmlns:a16="http://schemas.microsoft.com/office/drawing/2014/main" id="{D7F8DA15-2641-0539-5D18-DA874B60D951}"/>
              </a:ext>
            </a:extLst>
          </p:cNvPr>
          <p:cNvSpPr/>
          <p:nvPr/>
        </p:nvSpPr>
        <p:spPr>
          <a:xfrm>
            <a:off x="45720" y="4178808"/>
            <a:ext cx="8595360" cy="274320"/>
          </a:xfrm>
          <a:prstGeom prst="rect">
            <a:avLst/>
          </a:prstGeom>
          <a:noFill/>
          <a:ln/>
        </p:spPr>
        <p:txBody>
          <a:bodyPr wrap="square" rtlCol="0" anchor="ctr"/>
          <a:lstStyle/>
          <a:p>
            <a:pPr marL="0" indent="0">
              <a:buNone/>
            </a:pPr>
            <a:r>
              <a:rPr lang="en-US" sz="900" i="1" dirty="0">
                <a:solidFill>
                  <a:srgbClr val="777777"/>
                </a:solidFill>
                <a:latin typeface="Calibri" pitchFamily="34" charset="0"/>
                <a:ea typeface="Calibri" pitchFamily="34" charset="-122"/>
                <a:cs typeface="Calibri" pitchFamily="34" charset="-120"/>
              </a:rPr>
              <a:t>📍 Google Meet Session — Code: eto-gchu-eyx | Duration: Active at 00:07</a:t>
            </a:r>
            <a:endParaRPr lang="en-US" sz="900" dirty="0"/>
          </a:p>
        </p:txBody>
      </p:sp>
      <p:sp>
        <p:nvSpPr>
          <p:cNvPr id="31" name="AutoShape 2">
            <a:extLst>
              <a:ext uri="{FF2B5EF4-FFF2-40B4-BE49-F238E27FC236}">
                <a16:creationId xmlns:a16="http://schemas.microsoft.com/office/drawing/2014/main" id="{294D4F37-341E-8658-DD02-EF78915D3042}"/>
              </a:ext>
            </a:extLst>
          </p:cNvPr>
          <p:cNvSpPr>
            <a:spLocks noChangeAspect="1" noChangeArrowheads="1"/>
          </p:cNvSpPr>
          <p:nvPr/>
        </p:nvSpPr>
        <p:spPr bwMode="auto">
          <a:xfrm>
            <a:off x="1689315" y="-310935"/>
            <a:ext cx="3035085" cy="303508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5" name="Picture 34">
            <a:extLst>
              <a:ext uri="{FF2B5EF4-FFF2-40B4-BE49-F238E27FC236}">
                <a16:creationId xmlns:a16="http://schemas.microsoft.com/office/drawing/2014/main" id="{DF6BACF1-7C8A-589A-DEF2-EA9B817BE5B3}"/>
              </a:ext>
            </a:extLst>
          </p:cNvPr>
          <p:cNvPicPr>
            <a:picLocks noChangeAspect="1"/>
          </p:cNvPicPr>
          <p:nvPr/>
        </p:nvPicPr>
        <p:blipFill>
          <a:blip r:embed="rId3"/>
          <a:srcRect t="-1" r="-190" b="-2171"/>
          <a:stretch>
            <a:fillRect/>
          </a:stretch>
        </p:blipFill>
        <p:spPr>
          <a:xfrm>
            <a:off x="241910" y="996696"/>
            <a:ext cx="5038750" cy="3200400"/>
          </a:xfrm>
          <a:prstGeom prst="rect">
            <a:avLst/>
          </a:prstGeom>
        </p:spPr>
      </p:pic>
      <p:sp>
        <p:nvSpPr>
          <p:cNvPr id="7" name="Shape 23">
            <a:extLst>
              <a:ext uri="{FF2B5EF4-FFF2-40B4-BE49-F238E27FC236}">
                <a16:creationId xmlns:a16="http://schemas.microsoft.com/office/drawing/2014/main" id="{443F560B-23D1-3B2D-E18A-E8C50F9801D6}"/>
              </a:ext>
            </a:extLst>
          </p:cNvPr>
          <p:cNvSpPr/>
          <p:nvPr/>
        </p:nvSpPr>
        <p:spPr>
          <a:xfrm>
            <a:off x="2608171" y="4462272"/>
            <a:ext cx="2053138" cy="643026"/>
          </a:xfrm>
          <a:prstGeom prst="rect">
            <a:avLst/>
          </a:prstGeom>
          <a:solidFill>
            <a:srgbClr val="EEF4FF"/>
          </a:solidFill>
          <a:ln w="19050">
            <a:solidFill>
              <a:srgbClr val="2979FF"/>
            </a:solidFill>
            <a:prstDash val="solid"/>
          </a:ln>
        </p:spPr>
        <p:txBody>
          <a:bodyPr/>
          <a:lstStyle/>
          <a:p>
            <a:r>
              <a:rPr lang="en-US" sz="1200" i="1" dirty="0"/>
              <a:t>Sandeep Shankar Kumar</a:t>
            </a:r>
          </a:p>
          <a:p>
            <a:r>
              <a:rPr lang="en-US" sz="1200" i="1" dirty="0"/>
              <a:t>Senior Support Engineer</a:t>
            </a:r>
          </a:p>
          <a:p>
            <a:r>
              <a:rPr lang="en-US" sz="1200" i="1" dirty="0"/>
              <a:t>10 Years of Experience </a:t>
            </a:r>
          </a:p>
          <a:p>
            <a:r>
              <a:rPr lang="en-US" dirty="0"/>
              <a:t> </a:t>
            </a:r>
          </a:p>
          <a:p>
            <a:endParaRPr lang="en-US" dirty="0"/>
          </a:p>
        </p:txBody>
      </p:sp>
      <p:sp>
        <p:nvSpPr>
          <p:cNvPr id="34" name="Shape 18">
            <a:extLst>
              <a:ext uri="{FF2B5EF4-FFF2-40B4-BE49-F238E27FC236}">
                <a16:creationId xmlns:a16="http://schemas.microsoft.com/office/drawing/2014/main" id="{70AC0677-9D9D-EA4C-5C53-4B25FA2007F8}"/>
              </a:ext>
            </a:extLst>
          </p:cNvPr>
          <p:cNvSpPr/>
          <p:nvPr/>
        </p:nvSpPr>
        <p:spPr>
          <a:xfrm>
            <a:off x="5577840" y="3578326"/>
            <a:ext cx="3200400" cy="548640"/>
          </a:xfrm>
          <a:prstGeom prst="rect">
            <a:avLst/>
          </a:prstGeom>
          <a:solidFill>
            <a:srgbClr val="F5F8FF"/>
          </a:solidFill>
          <a:ln w="6350">
            <a:solidFill>
              <a:srgbClr val="D0DCF0"/>
            </a:solidFill>
            <a:prstDash val="solid"/>
          </a:ln>
        </p:spPr>
        <p:txBody>
          <a:bodyPr/>
          <a:lstStyle/>
          <a:p>
            <a:r>
              <a:rPr lang="en-US" sz="1100" b="1" dirty="0"/>
              <a:t>              Sandeep </a:t>
            </a:r>
            <a:r>
              <a:rPr lang="en-US" sz="1100" b="1" dirty="0" err="1"/>
              <a:t>Shanak</a:t>
            </a:r>
            <a:r>
              <a:rPr lang="en-US" sz="1100" b="1" dirty="0"/>
              <a:t> Kumar</a:t>
            </a:r>
          </a:p>
          <a:p>
            <a:r>
              <a:rPr lang="en-US" sz="1100" b="1" dirty="0"/>
              <a:t>              </a:t>
            </a:r>
            <a:r>
              <a:rPr lang="en-US" sz="1100" dirty="0">
                <a:solidFill>
                  <a:srgbClr val="666666"/>
                </a:solidFill>
                <a:latin typeface="Calibri" pitchFamily="34" charset="0"/>
                <a:ea typeface="Calibri" pitchFamily="34" charset="-122"/>
                <a:cs typeface="Calibri" pitchFamily="34" charset="-120"/>
              </a:rPr>
              <a:t>Lead PM / Interviewee</a:t>
            </a:r>
            <a:endParaRPr lang="en-US" sz="1100" dirty="0"/>
          </a:p>
          <a:p>
            <a:endParaRPr lang="en-US" sz="1100" b="1" dirty="0"/>
          </a:p>
        </p:txBody>
      </p:sp>
      <p:sp>
        <p:nvSpPr>
          <p:cNvPr id="36" name="Shape 19">
            <a:extLst>
              <a:ext uri="{FF2B5EF4-FFF2-40B4-BE49-F238E27FC236}">
                <a16:creationId xmlns:a16="http://schemas.microsoft.com/office/drawing/2014/main" id="{B710B2DF-F84C-3761-CE56-82CB8053A802}"/>
              </a:ext>
            </a:extLst>
          </p:cNvPr>
          <p:cNvSpPr/>
          <p:nvPr/>
        </p:nvSpPr>
        <p:spPr>
          <a:xfrm>
            <a:off x="5623560" y="3685032"/>
            <a:ext cx="365760" cy="365760"/>
          </a:xfrm>
          <a:prstGeom prst="ellipse">
            <a:avLst/>
          </a:prstGeom>
          <a:solidFill>
            <a:srgbClr val="2979FF"/>
          </a:solidFill>
          <a:ln w="12700">
            <a:solidFill>
              <a:srgbClr val="2979FF"/>
            </a:solidFill>
            <a:prstDash val="solid"/>
          </a:ln>
        </p:spPr>
        <p:txBody>
          <a:bodyPr/>
          <a:lstStyle/>
          <a:p>
            <a:r>
              <a:rPr lang="en-US" sz="1400" dirty="0">
                <a:solidFill>
                  <a:schemeClr val="bg1"/>
                </a:solidFill>
              </a:rPr>
              <a:t>4</a:t>
            </a:r>
          </a:p>
        </p:txBody>
      </p:sp>
      <p:sp>
        <p:nvSpPr>
          <p:cNvPr id="28" name="Shape 23">
            <a:extLst>
              <a:ext uri="{FF2B5EF4-FFF2-40B4-BE49-F238E27FC236}">
                <a16:creationId xmlns:a16="http://schemas.microsoft.com/office/drawing/2014/main" id="{CD7E4353-C44F-B385-440A-482F54D0F918}"/>
              </a:ext>
            </a:extLst>
          </p:cNvPr>
          <p:cNvSpPr/>
          <p:nvPr/>
        </p:nvSpPr>
        <p:spPr>
          <a:xfrm>
            <a:off x="5342847" y="4451655"/>
            <a:ext cx="3383280" cy="513537"/>
          </a:xfrm>
          <a:prstGeom prst="rect">
            <a:avLst/>
          </a:prstGeom>
          <a:solidFill>
            <a:srgbClr val="EEF4FF"/>
          </a:solidFill>
          <a:ln w="19050">
            <a:solidFill>
              <a:srgbClr val="2979FF"/>
            </a:solidFill>
            <a:prstDash val="solid"/>
          </a:ln>
        </p:spPr>
        <p:txBody>
          <a:bodyPr/>
          <a:lstStyle/>
          <a:p>
            <a:r>
              <a:rPr lang="en-US" sz="900" dirty="0"/>
              <a:t>Interaction LINK - </a:t>
            </a:r>
          </a:p>
          <a:p>
            <a:r>
              <a:rPr lang="en-US" sz="900" dirty="0"/>
              <a:t>https://drive.google.com/file/d/1SaDUiMLC9gEcpmzh6dSZNVJljr-9P1zx/view?usp=drive_link </a:t>
            </a:r>
          </a:p>
          <a:p>
            <a:endParaRPr lang="en-US" dirty="0"/>
          </a:p>
        </p:txBody>
      </p:sp>
    </p:spTree>
    <p:extLst>
      <p:ext uri="{BB962C8B-B14F-4D97-AF65-F5344CB8AC3E}">
        <p14:creationId xmlns:p14="http://schemas.microsoft.com/office/powerpoint/2010/main" val="310997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A0F2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979FF"/>
          </a:solidFill>
          <a:ln w="12700">
            <a:solidFill>
              <a:srgbClr val="2979FF"/>
            </a:solidFill>
            <a:prstDash val="solid"/>
          </a:ln>
        </p:spPr>
      </p:sp>
      <p:sp>
        <p:nvSpPr>
          <p:cNvPr id="3" name="Text 1"/>
          <p:cNvSpPr/>
          <p:nvPr/>
        </p:nvSpPr>
        <p:spPr>
          <a:xfrm>
            <a:off x="365760" y="164592"/>
            <a:ext cx="8229600" cy="228600"/>
          </a:xfrm>
          <a:prstGeom prst="rect">
            <a:avLst/>
          </a:prstGeom>
          <a:noFill/>
          <a:ln/>
        </p:spPr>
        <p:txBody>
          <a:bodyPr wrap="square" rtlCol="0" anchor="ctr"/>
          <a:lstStyle/>
          <a:p>
            <a:pPr marL="0" indent="0">
              <a:buNone/>
            </a:pPr>
            <a:r>
              <a:rPr lang="en-US" sz="900" b="1" dirty="0">
                <a:solidFill>
                  <a:srgbClr val="90CAF9"/>
                </a:solidFill>
                <a:latin typeface="Calibri" pitchFamily="34" charset="0"/>
                <a:ea typeface="Calibri" pitchFamily="34" charset="-122"/>
                <a:cs typeface="Calibri" pitchFamily="34" charset="-120"/>
              </a:rPr>
              <a:t>SLIDE 08</a:t>
            </a:r>
            <a:endParaRPr lang="en-US" sz="900" dirty="0"/>
          </a:p>
        </p:txBody>
      </p:sp>
      <p:sp>
        <p:nvSpPr>
          <p:cNvPr id="4" name="Text 2"/>
          <p:cNvSpPr/>
          <p:nvPr/>
        </p:nvSpPr>
        <p:spPr>
          <a:xfrm>
            <a:off x="365760" y="384048"/>
            <a:ext cx="8229600" cy="50292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CONCLUSION &amp; SUGGESTIONS FOR IMPROVEMENT</a:t>
            </a:r>
            <a:endParaRPr lang="en-US" sz="2000" dirty="0"/>
          </a:p>
        </p:txBody>
      </p:sp>
      <p:sp>
        <p:nvSpPr>
          <p:cNvPr id="5" name="Shape 3"/>
          <p:cNvSpPr/>
          <p:nvPr/>
        </p:nvSpPr>
        <p:spPr>
          <a:xfrm>
            <a:off x="274320" y="1005840"/>
            <a:ext cx="4206240" cy="3931920"/>
          </a:xfrm>
          <a:prstGeom prst="rect">
            <a:avLst/>
          </a:prstGeom>
          <a:solidFill>
            <a:srgbClr val="1A3A6E"/>
          </a:solidFill>
          <a:ln w="15240">
            <a:solidFill>
              <a:srgbClr val="2979FF"/>
            </a:solidFill>
            <a:prstDash val="solid"/>
          </a:ln>
        </p:spPr>
      </p:sp>
      <p:sp>
        <p:nvSpPr>
          <p:cNvPr id="6" name="Text 4"/>
          <p:cNvSpPr/>
          <p:nvPr/>
        </p:nvSpPr>
        <p:spPr>
          <a:xfrm>
            <a:off x="365760" y="1078992"/>
            <a:ext cx="4023360" cy="365760"/>
          </a:xfrm>
          <a:prstGeom prst="rect">
            <a:avLst/>
          </a:prstGeom>
          <a:noFill/>
          <a:ln/>
        </p:spPr>
        <p:txBody>
          <a:bodyPr wrap="square" rtlCol="0" anchor="ctr"/>
          <a:lstStyle/>
          <a:p>
            <a:pPr marL="0" indent="0">
              <a:buNone/>
            </a:pPr>
            <a:r>
              <a:rPr lang="en-US" sz="1400" b="1" dirty="0">
                <a:solidFill>
                  <a:srgbClr val="90CAF9"/>
                </a:solidFill>
                <a:latin typeface="Calibri" pitchFamily="34" charset="0"/>
                <a:ea typeface="Calibri" pitchFamily="34" charset="-122"/>
                <a:cs typeface="Calibri" pitchFamily="34" charset="-120"/>
              </a:rPr>
              <a:t>CONCLUSION</a:t>
            </a:r>
            <a:endParaRPr lang="en-US" sz="1400" dirty="0"/>
          </a:p>
        </p:txBody>
      </p:sp>
      <p:sp>
        <p:nvSpPr>
          <p:cNvPr id="7" name="Shape 5"/>
          <p:cNvSpPr/>
          <p:nvPr/>
        </p:nvSpPr>
        <p:spPr>
          <a:xfrm>
            <a:off x="365760" y="1463040"/>
            <a:ext cx="3931920" cy="36576"/>
          </a:xfrm>
          <a:prstGeom prst="rect">
            <a:avLst/>
          </a:prstGeom>
          <a:solidFill>
            <a:srgbClr val="2979FF"/>
          </a:solidFill>
          <a:ln w="12700">
            <a:solidFill>
              <a:srgbClr val="2979FF"/>
            </a:solidFill>
            <a:prstDash val="solid"/>
          </a:ln>
        </p:spPr>
      </p:sp>
      <p:sp>
        <p:nvSpPr>
          <p:cNvPr id="8" name="Text 6"/>
          <p:cNvSpPr/>
          <p:nvPr/>
        </p:nvSpPr>
        <p:spPr>
          <a:xfrm>
            <a:off x="365760" y="1554480"/>
            <a:ext cx="4023360" cy="566928"/>
          </a:xfrm>
          <a:prstGeom prst="rect">
            <a:avLst/>
          </a:prstGeom>
          <a:noFill/>
          <a:ln/>
        </p:spPr>
        <p:txBody>
          <a:bodyPr wrap="square" rtlCol="0" anchor="ctr"/>
          <a:lstStyle/>
          <a:p>
            <a:pPr marL="0" indent="0">
              <a:buNone/>
            </a:pPr>
            <a:r>
              <a:rPr lang="en-US" sz="1000" b="1" dirty="0">
                <a:solidFill>
                  <a:srgbClr val="2979FF"/>
                </a:solidFill>
                <a:latin typeface="Calibri" pitchFamily="34" charset="0"/>
                <a:ea typeface="Calibri" pitchFamily="34" charset="-122"/>
                <a:cs typeface="Calibri" pitchFamily="34" charset="-120"/>
              </a:rPr>
              <a:t>▶  </a:t>
            </a:r>
            <a:r>
              <a:rPr lang="en-US" sz="1000" dirty="0">
                <a:solidFill>
                  <a:srgbClr val="E8EEF6"/>
                </a:solidFill>
                <a:latin typeface="Calibri" pitchFamily="34" charset="0"/>
                <a:ea typeface="Calibri" pitchFamily="34" charset="-122"/>
                <a:cs typeface="Calibri" pitchFamily="34" charset="-120"/>
              </a:rPr>
              <a:t>Trust, not technology, is the primary barrier to AI adoption in healthcare settings.</a:t>
            </a:r>
            <a:endParaRPr lang="en-US" sz="1000" dirty="0"/>
          </a:p>
        </p:txBody>
      </p:sp>
      <p:sp>
        <p:nvSpPr>
          <p:cNvPr id="9" name="Text 7"/>
          <p:cNvSpPr/>
          <p:nvPr/>
        </p:nvSpPr>
        <p:spPr>
          <a:xfrm>
            <a:off x="365760" y="2194560"/>
            <a:ext cx="4023360" cy="566928"/>
          </a:xfrm>
          <a:prstGeom prst="rect">
            <a:avLst/>
          </a:prstGeom>
          <a:noFill/>
          <a:ln/>
        </p:spPr>
        <p:txBody>
          <a:bodyPr wrap="square" rtlCol="0" anchor="ctr"/>
          <a:lstStyle/>
          <a:p>
            <a:pPr marL="0" indent="0">
              <a:buNone/>
            </a:pPr>
            <a:r>
              <a:rPr lang="en-US" sz="1000" b="1" dirty="0">
                <a:solidFill>
                  <a:srgbClr val="2979FF"/>
                </a:solidFill>
                <a:latin typeface="Calibri" pitchFamily="34" charset="0"/>
                <a:ea typeface="Calibri" pitchFamily="34" charset="-122"/>
                <a:cs typeface="Calibri" pitchFamily="34" charset="-120"/>
              </a:rPr>
              <a:t>▶  </a:t>
            </a:r>
            <a:r>
              <a:rPr lang="en-US" sz="1000" dirty="0">
                <a:solidFill>
                  <a:srgbClr val="E8EEF6"/>
                </a:solidFill>
                <a:latin typeface="Calibri" pitchFamily="34" charset="0"/>
                <a:ea typeface="Calibri" pitchFamily="34" charset="-122"/>
                <a:cs typeface="Calibri" pitchFamily="34" charset="-120"/>
              </a:rPr>
              <a:t>Data quality issues compound trust problems — poor predictions feed skepticism.</a:t>
            </a:r>
            <a:endParaRPr lang="en-US" sz="1000" dirty="0"/>
          </a:p>
        </p:txBody>
      </p:sp>
      <p:sp>
        <p:nvSpPr>
          <p:cNvPr id="10" name="Text 8"/>
          <p:cNvSpPr/>
          <p:nvPr/>
        </p:nvSpPr>
        <p:spPr>
          <a:xfrm>
            <a:off x="365760" y="2834640"/>
            <a:ext cx="4023360" cy="566928"/>
          </a:xfrm>
          <a:prstGeom prst="rect">
            <a:avLst/>
          </a:prstGeom>
          <a:noFill/>
          <a:ln/>
        </p:spPr>
        <p:txBody>
          <a:bodyPr wrap="square" rtlCol="0" anchor="ctr"/>
          <a:lstStyle/>
          <a:p>
            <a:pPr marL="0" indent="0">
              <a:buNone/>
            </a:pPr>
            <a:r>
              <a:rPr lang="en-US" sz="1000" b="1" dirty="0">
                <a:solidFill>
                  <a:srgbClr val="2979FF"/>
                </a:solidFill>
                <a:latin typeface="Calibri" pitchFamily="34" charset="0"/>
                <a:ea typeface="Calibri" pitchFamily="34" charset="-122"/>
                <a:cs typeface="Calibri" pitchFamily="34" charset="-120"/>
              </a:rPr>
              <a:t>▶  </a:t>
            </a:r>
            <a:r>
              <a:rPr lang="en-US" sz="1000" dirty="0">
                <a:solidFill>
                  <a:srgbClr val="E8EEF6"/>
                </a:solidFill>
                <a:latin typeface="Calibri" pitchFamily="34" charset="0"/>
                <a:ea typeface="Calibri" pitchFamily="34" charset="-122"/>
                <a:cs typeface="Calibri" pitchFamily="34" charset="-120"/>
              </a:rPr>
              <a:t>Successful implementations used explainability, piloting, and gradual autonomy.</a:t>
            </a:r>
            <a:endParaRPr lang="en-US" sz="1000" dirty="0"/>
          </a:p>
        </p:txBody>
      </p:sp>
      <p:sp>
        <p:nvSpPr>
          <p:cNvPr id="11" name="Text 9"/>
          <p:cNvSpPr/>
          <p:nvPr/>
        </p:nvSpPr>
        <p:spPr>
          <a:xfrm>
            <a:off x="365760" y="3474720"/>
            <a:ext cx="4023360" cy="566928"/>
          </a:xfrm>
          <a:prstGeom prst="rect">
            <a:avLst/>
          </a:prstGeom>
          <a:noFill/>
          <a:ln/>
        </p:spPr>
        <p:txBody>
          <a:bodyPr wrap="square" rtlCol="0" anchor="ctr"/>
          <a:lstStyle/>
          <a:p>
            <a:pPr marL="0" indent="0">
              <a:buNone/>
            </a:pPr>
            <a:r>
              <a:rPr lang="en-US" sz="1000" b="1" dirty="0">
                <a:solidFill>
                  <a:srgbClr val="2979FF"/>
                </a:solidFill>
                <a:latin typeface="Calibri" pitchFamily="34" charset="0"/>
                <a:ea typeface="Calibri" pitchFamily="34" charset="-122"/>
                <a:cs typeface="Calibri" pitchFamily="34" charset="-120"/>
              </a:rPr>
              <a:t>▶  </a:t>
            </a:r>
            <a:r>
              <a:rPr lang="en-US" sz="1000" dirty="0">
                <a:solidFill>
                  <a:srgbClr val="E8EEF6"/>
                </a:solidFill>
                <a:latin typeface="Calibri" pitchFamily="34" charset="0"/>
                <a:ea typeface="Calibri" pitchFamily="34" charset="-122"/>
                <a:cs typeface="Calibri" pitchFamily="34" charset="-120"/>
              </a:rPr>
              <a:t>Change management skills are as critical as technical skills for AI PMs.</a:t>
            </a:r>
            <a:endParaRPr lang="en-US" sz="1000" dirty="0"/>
          </a:p>
        </p:txBody>
      </p:sp>
      <p:sp>
        <p:nvSpPr>
          <p:cNvPr id="12" name="Text 10"/>
          <p:cNvSpPr/>
          <p:nvPr/>
        </p:nvSpPr>
        <p:spPr>
          <a:xfrm>
            <a:off x="365760" y="4114800"/>
            <a:ext cx="4023360" cy="566928"/>
          </a:xfrm>
          <a:prstGeom prst="rect">
            <a:avLst/>
          </a:prstGeom>
          <a:noFill/>
          <a:ln/>
        </p:spPr>
        <p:txBody>
          <a:bodyPr wrap="square" rtlCol="0" anchor="ctr"/>
          <a:lstStyle/>
          <a:p>
            <a:pPr marL="0" indent="0">
              <a:buNone/>
            </a:pPr>
            <a:r>
              <a:rPr lang="en-US" sz="1000" b="1" dirty="0">
                <a:solidFill>
                  <a:srgbClr val="2979FF"/>
                </a:solidFill>
                <a:latin typeface="Calibri" pitchFamily="34" charset="0"/>
                <a:ea typeface="Calibri" pitchFamily="34" charset="-122"/>
                <a:cs typeface="Calibri" pitchFamily="34" charset="-120"/>
              </a:rPr>
              <a:t>▶  </a:t>
            </a:r>
            <a:r>
              <a:rPr lang="en-US" sz="1000" dirty="0">
                <a:solidFill>
                  <a:srgbClr val="E8EEF6"/>
                </a:solidFill>
                <a:latin typeface="Calibri" pitchFamily="34" charset="0"/>
                <a:ea typeface="Calibri" pitchFamily="34" charset="-122"/>
                <a:cs typeface="Calibri" pitchFamily="34" charset="-120"/>
              </a:rPr>
              <a:t>The RLP exercise demonstrated that real-world insights far surpass textbook theory.</a:t>
            </a:r>
            <a:endParaRPr lang="en-US" sz="1000" dirty="0"/>
          </a:p>
        </p:txBody>
      </p:sp>
      <p:sp>
        <p:nvSpPr>
          <p:cNvPr id="13" name="Shape 11"/>
          <p:cNvSpPr/>
          <p:nvPr/>
        </p:nvSpPr>
        <p:spPr>
          <a:xfrm>
            <a:off x="4663440" y="1005840"/>
            <a:ext cx="4206240" cy="3931920"/>
          </a:xfrm>
          <a:prstGeom prst="rect">
            <a:avLst/>
          </a:prstGeom>
          <a:solidFill>
            <a:srgbClr val="0D1F3C"/>
          </a:solidFill>
          <a:ln w="15240">
            <a:solidFill>
              <a:srgbClr val="2979FF"/>
            </a:solidFill>
            <a:prstDash val="solid"/>
          </a:ln>
        </p:spPr>
      </p:sp>
      <p:sp>
        <p:nvSpPr>
          <p:cNvPr id="14" name="Text 12"/>
          <p:cNvSpPr/>
          <p:nvPr/>
        </p:nvSpPr>
        <p:spPr>
          <a:xfrm>
            <a:off x="4754880" y="1078992"/>
            <a:ext cx="4023360" cy="365760"/>
          </a:xfrm>
          <a:prstGeom prst="rect">
            <a:avLst/>
          </a:prstGeom>
          <a:noFill/>
          <a:ln/>
        </p:spPr>
        <p:txBody>
          <a:bodyPr wrap="square" rtlCol="0" anchor="ctr"/>
          <a:lstStyle/>
          <a:p>
            <a:pPr marL="0" indent="0">
              <a:buNone/>
            </a:pPr>
            <a:r>
              <a:rPr lang="en-US" sz="1400" b="1" dirty="0">
                <a:solidFill>
                  <a:srgbClr val="90CAF9"/>
                </a:solidFill>
                <a:latin typeface="Calibri" pitchFamily="34" charset="0"/>
                <a:ea typeface="Calibri" pitchFamily="34" charset="-122"/>
                <a:cs typeface="Calibri" pitchFamily="34" charset="-120"/>
              </a:rPr>
              <a:t>SUGGESTIONS</a:t>
            </a:r>
            <a:endParaRPr lang="en-US" sz="1400" dirty="0"/>
          </a:p>
        </p:txBody>
      </p:sp>
      <p:sp>
        <p:nvSpPr>
          <p:cNvPr id="15" name="Shape 13"/>
          <p:cNvSpPr/>
          <p:nvPr/>
        </p:nvSpPr>
        <p:spPr>
          <a:xfrm>
            <a:off x="4754880" y="1463040"/>
            <a:ext cx="3931920" cy="36576"/>
          </a:xfrm>
          <a:prstGeom prst="rect">
            <a:avLst/>
          </a:prstGeom>
          <a:solidFill>
            <a:srgbClr val="2979FF"/>
          </a:solidFill>
          <a:ln w="12700">
            <a:solidFill>
              <a:srgbClr val="2979FF"/>
            </a:solidFill>
            <a:prstDash val="solid"/>
          </a:ln>
        </p:spPr>
      </p:sp>
      <p:sp>
        <p:nvSpPr>
          <p:cNvPr id="16" name="Text 14"/>
          <p:cNvSpPr/>
          <p:nvPr/>
        </p:nvSpPr>
        <p:spPr>
          <a:xfrm>
            <a:off x="4754880" y="1554480"/>
            <a:ext cx="4023360" cy="566928"/>
          </a:xfrm>
          <a:prstGeom prst="rect">
            <a:avLst/>
          </a:prstGeom>
          <a:noFill/>
          <a:ln/>
        </p:spPr>
        <p:txBody>
          <a:bodyPr wrap="square" rtlCol="0" anchor="ctr"/>
          <a:lstStyle/>
          <a:p>
            <a:pPr marL="0" indent="0">
              <a:buNone/>
            </a:pPr>
            <a:r>
              <a:rPr lang="en-US" sz="1000" b="1" dirty="0">
                <a:solidFill>
                  <a:srgbClr val="90CAF9"/>
                </a:solidFill>
                <a:latin typeface="Calibri" pitchFamily="34" charset="0"/>
                <a:ea typeface="Calibri" pitchFamily="34" charset="-122"/>
                <a:cs typeface="Calibri" pitchFamily="34" charset="-120"/>
              </a:rPr>
              <a:t>✦  </a:t>
            </a:r>
            <a:r>
              <a:rPr lang="en-US" sz="1000" dirty="0">
                <a:solidFill>
                  <a:srgbClr val="E8EEF6"/>
                </a:solidFill>
                <a:latin typeface="Calibri" pitchFamily="34" charset="0"/>
                <a:ea typeface="Calibri" pitchFamily="34" charset="-122"/>
                <a:cs typeface="Calibri" pitchFamily="34" charset="-120"/>
              </a:rPr>
              <a:t>Invest in explainable AI (XAI) frameworks from the design stage.</a:t>
            </a:r>
            <a:endParaRPr lang="en-US" sz="1000" dirty="0"/>
          </a:p>
        </p:txBody>
      </p:sp>
      <p:sp>
        <p:nvSpPr>
          <p:cNvPr id="17" name="Text 15"/>
          <p:cNvSpPr/>
          <p:nvPr/>
        </p:nvSpPr>
        <p:spPr>
          <a:xfrm>
            <a:off x="4754880" y="2194560"/>
            <a:ext cx="4023360" cy="566928"/>
          </a:xfrm>
          <a:prstGeom prst="rect">
            <a:avLst/>
          </a:prstGeom>
          <a:noFill/>
          <a:ln/>
        </p:spPr>
        <p:txBody>
          <a:bodyPr wrap="square" rtlCol="0" anchor="ctr"/>
          <a:lstStyle/>
          <a:p>
            <a:pPr marL="0" indent="0">
              <a:buNone/>
            </a:pPr>
            <a:r>
              <a:rPr lang="en-US" sz="1000" b="1" dirty="0">
                <a:solidFill>
                  <a:srgbClr val="90CAF9"/>
                </a:solidFill>
                <a:latin typeface="Calibri" pitchFamily="34" charset="0"/>
                <a:ea typeface="Calibri" pitchFamily="34" charset="-122"/>
                <a:cs typeface="Calibri" pitchFamily="34" charset="-120"/>
              </a:rPr>
              <a:t>✦  </a:t>
            </a:r>
            <a:r>
              <a:rPr lang="en-US" sz="1000" dirty="0">
                <a:solidFill>
                  <a:srgbClr val="E8EEF6"/>
                </a:solidFill>
                <a:latin typeface="Calibri" pitchFamily="34" charset="0"/>
                <a:ea typeface="Calibri" pitchFamily="34" charset="-122"/>
                <a:cs typeface="Calibri" pitchFamily="34" charset="-120"/>
              </a:rPr>
              <a:t>Run structured data audits before any AI model goes into production.</a:t>
            </a:r>
            <a:endParaRPr lang="en-US" sz="1000" dirty="0"/>
          </a:p>
        </p:txBody>
      </p:sp>
      <p:sp>
        <p:nvSpPr>
          <p:cNvPr id="18" name="Text 16"/>
          <p:cNvSpPr/>
          <p:nvPr/>
        </p:nvSpPr>
        <p:spPr>
          <a:xfrm>
            <a:off x="4754880" y="2834640"/>
            <a:ext cx="4023360" cy="566928"/>
          </a:xfrm>
          <a:prstGeom prst="rect">
            <a:avLst/>
          </a:prstGeom>
          <a:noFill/>
          <a:ln/>
        </p:spPr>
        <p:txBody>
          <a:bodyPr wrap="square" rtlCol="0" anchor="ctr"/>
          <a:lstStyle/>
          <a:p>
            <a:pPr marL="0" indent="0">
              <a:buNone/>
            </a:pPr>
            <a:r>
              <a:rPr lang="en-US" sz="1000" b="1" dirty="0">
                <a:solidFill>
                  <a:srgbClr val="90CAF9"/>
                </a:solidFill>
                <a:latin typeface="Calibri" pitchFamily="34" charset="0"/>
                <a:ea typeface="Calibri" pitchFamily="34" charset="-122"/>
                <a:cs typeface="Calibri" pitchFamily="34" charset="-120"/>
              </a:rPr>
              <a:t>✦  </a:t>
            </a:r>
            <a:r>
              <a:rPr lang="en-US" sz="1000" dirty="0">
                <a:solidFill>
                  <a:srgbClr val="E8EEF6"/>
                </a:solidFill>
                <a:latin typeface="Calibri" pitchFamily="34" charset="0"/>
                <a:ea typeface="Calibri" pitchFamily="34" charset="-122"/>
                <a:cs typeface="Calibri" pitchFamily="34" charset="-120"/>
              </a:rPr>
              <a:t>Create AI champion programs to drive organic, peer-led adoption.</a:t>
            </a:r>
            <a:endParaRPr lang="en-US" sz="1000" dirty="0"/>
          </a:p>
        </p:txBody>
      </p:sp>
      <p:sp>
        <p:nvSpPr>
          <p:cNvPr id="19" name="Text 17"/>
          <p:cNvSpPr/>
          <p:nvPr/>
        </p:nvSpPr>
        <p:spPr>
          <a:xfrm>
            <a:off x="4754880" y="3474720"/>
            <a:ext cx="4023360" cy="566928"/>
          </a:xfrm>
          <a:prstGeom prst="rect">
            <a:avLst/>
          </a:prstGeom>
          <a:noFill/>
          <a:ln/>
        </p:spPr>
        <p:txBody>
          <a:bodyPr wrap="square" rtlCol="0" anchor="ctr"/>
          <a:lstStyle/>
          <a:p>
            <a:pPr marL="0" indent="0">
              <a:buNone/>
            </a:pPr>
            <a:r>
              <a:rPr lang="en-US" sz="1000" b="1" dirty="0">
                <a:solidFill>
                  <a:srgbClr val="90CAF9"/>
                </a:solidFill>
                <a:latin typeface="Calibri" pitchFamily="34" charset="0"/>
                <a:ea typeface="Calibri" pitchFamily="34" charset="-122"/>
                <a:cs typeface="Calibri" pitchFamily="34" charset="-120"/>
              </a:rPr>
              <a:t>✦  </a:t>
            </a:r>
            <a:r>
              <a:rPr lang="en-US" sz="1000" dirty="0">
                <a:solidFill>
                  <a:srgbClr val="E8EEF6"/>
                </a:solidFill>
                <a:latin typeface="Calibri" pitchFamily="34" charset="0"/>
                <a:ea typeface="Calibri" pitchFamily="34" charset="-122"/>
                <a:cs typeface="Calibri" pitchFamily="34" charset="-120"/>
              </a:rPr>
              <a:t>Embed feedback mechanisms directly into clinical AI tools.</a:t>
            </a:r>
            <a:endParaRPr lang="en-US" sz="1000" dirty="0"/>
          </a:p>
        </p:txBody>
      </p:sp>
      <p:sp>
        <p:nvSpPr>
          <p:cNvPr id="20" name="Text 18"/>
          <p:cNvSpPr/>
          <p:nvPr/>
        </p:nvSpPr>
        <p:spPr>
          <a:xfrm>
            <a:off x="4754880" y="4114800"/>
            <a:ext cx="4023360" cy="566928"/>
          </a:xfrm>
          <a:prstGeom prst="rect">
            <a:avLst/>
          </a:prstGeom>
          <a:noFill/>
          <a:ln/>
        </p:spPr>
        <p:txBody>
          <a:bodyPr wrap="square" rtlCol="0" anchor="ctr"/>
          <a:lstStyle/>
          <a:p>
            <a:pPr marL="0" indent="0">
              <a:buNone/>
            </a:pPr>
            <a:r>
              <a:rPr lang="en-US" sz="1000" b="1" dirty="0">
                <a:solidFill>
                  <a:srgbClr val="90CAF9"/>
                </a:solidFill>
                <a:latin typeface="Calibri" pitchFamily="34" charset="0"/>
                <a:ea typeface="Calibri" pitchFamily="34" charset="-122"/>
                <a:cs typeface="Calibri" pitchFamily="34" charset="-120"/>
              </a:rPr>
              <a:t>✦  </a:t>
            </a:r>
            <a:r>
              <a:rPr lang="en-US" sz="1000" dirty="0">
                <a:solidFill>
                  <a:srgbClr val="E8EEF6"/>
                </a:solidFill>
                <a:latin typeface="Calibri" pitchFamily="34" charset="0"/>
                <a:ea typeface="Calibri" pitchFamily="34" charset="-122"/>
                <a:cs typeface="Calibri" pitchFamily="34" charset="-120"/>
              </a:rPr>
              <a:t>Provide ongoing training beyond initial onboarding for sustained trust.</a:t>
            </a:r>
            <a:endParaRPr lang="en-US" sz="1000" dirty="0"/>
          </a:p>
        </p:txBody>
      </p:sp>
      <p:sp>
        <p:nvSpPr>
          <p:cNvPr id="21" name="Shape 19"/>
          <p:cNvSpPr/>
          <p:nvPr/>
        </p:nvSpPr>
        <p:spPr>
          <a:xfrm>
            <a:off x="0" y="5052060"/>
            <a:ext cx="9144000" cy="91440"/>
          </a:xfrm>
          <a:prstGeom prst="rect">
            <a:avLst/>
          </a:prstGeom>
          <a:solidFill>
            <a:srgbClr val="2979FF"/>
          </a:solidFill>
          <a:ln w="12700">
            <a:solidFill>
              <a:srgbClr val="2979FF"/>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A0F2C"/>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979FF"/>
          </a:solidFill>
          <a:ln w="12700">
            <a:solidFill>
              <a:srgbClr val="2979FF"/>
            </a:solidFill>
            <a:prstDash val="solid"/>
          </a:ln>
        </p:spPr>
      </p:sp>
      <p:sp>
        <p:nvSpPr>
          <p:cNvPr id="3" name="Shape 1"/>
          <p:cNvSpPr/>
          <p:nvPr/>
        </p:nvSpPr>
        <p:spPr>
          <a:xfrm>
            <a:off x="0" y="5070348"/>
            <a:ext cx="9144000" cy="73152"/>
          </a:xfrm>
          <a:prstGeom prst="rect">
            <a:avLst/>
          </a:prstGeom>
          <a:solidFill>
            <a:srgbClr val="2979FF"/>
          </a:solidFill>
          <a:ln w="12700">
            <a:solidFill>
              <a:srgbClr val="2979FF"/>
            </a:solidFill>
            <a:prstDash val="solid"/>
          </a:ln>
        </p:spPr>
      </p:sp>
      <p:sp>
        <p:nvSpPr>
          <p:cNvPr id="4" name="Shape 2"/>
          <p:cNvSpPr/>
          <p:nvPr/>
        </p:nvSpPr>
        <p:spPr>
          <a:xfrm>
            <a:off x="914400" y="914400"/>
            <a:ext cx="7315200" cy="3108960"/>
          </a:xfrm>
          <a:prstGeom prst="rect">
            <a:avLst/>
          </a:prstGeom>
          <a:solidFill>
            <a:srgbClr val="1A3A6E"/>
          </a:solidFill>
          <a:ln w="19050">
            <a:solidFill>
              <a:srgbClr val="2979FF"/>
            </a:solidFill>
            <a:prstDash val="solid"/>
          </a:ln>
          <a:effectLst>
            <a:outerShdw blurRad="152400" dist="50800" dir="8100000" algn="bl" rotWithShape="0">
              <a:srgbClr val="000000">
                <a:alpha val="40000"/>
              </a:srgbClr>
            </a:outerShdw>
          </a:effectLst>
        </p:spPr>
      </p:sp>
      <p:sp>
        <p:nvSpPr>
          <p:cNvPr id="5" name="Text 3"/>
          <p:cNvSpPr/>
          <p:nvPr/>
        </p:nvSpPr>
        <p:spPr>
          <a:xfrm>
            <a:off x="1097280" y="1188720"/>
            <a:ext cx="6949440" cy="1005840"/>
          </a:xfrm>
          <a:prstGeom prst="rect">
            <a:avLst/>
          </a:prstGeom>
          <a:noFill/>
          <a:ln/>
        </p:spPr>
        <p:txBody>
          <a:bodyPr wrap="square" rtlCol="0" anchor="ctr"/>
          <a:lstStyle/>
          <a:p>
            <a:pPr marL="0" indent="0" algn="ctr">
              <a:buNone/>
            </a:pPr>
            <a:r>
              <a:rPr lang="en-US" sz="5200" b="1" kern="0" spc="600" dirty="0">
                <a:solidFill>
                  <a:srgbClr val="FFFFFF"/>
                </a:solidFill>
                <a:latin typeface="Calibri" pitchFamily="34" charset="0"/>
                <a:ea typeface="Calibri" pitchFamily="34" charset="-122"/>
                <a:cs typeface="Calibri" pitchFamily="34" charset="-120"/>
              </a:rPr>
              <a:t>THANK YOU</a:t>
            </a:r>
            <a:endParaRPr lang="en-US" sz="5200" dirty="0"/>
          </a:p>
        </p:txBody>
      </p:sp>
      <p:sp>
        <p:nvSpPr>
          <p:cNvPr id="6" name="Shape 4"/>
          <p:cNvSpPr/>
          <p:nvPr/>
        </p:nvSpPr>
        <p:spPr>
          <a:xfrm>
            <a:off x="2286000" y="2240280"/>
            <a:ext cx="4572000" cy="54864"/>
          </a:xfrm>
          <a:prstGeom prst="rect">
            <a:avLst/>
          </a:prstGeom>
          <a:solidFill>
            <a:srgbClr val="2979FF"/>
          </a:solidFill>
          <a:ln w="12700">
            <a:solidFill>
              <a:srgbClr val="2979FF"/>
            </a:solidFill>
            <a:prstDash val="solid"/>
          </a:ln>
        </p:spPr>
      </p:sp>
      <p:sp>
        <p:nvSpPr>
          <p:cNvPr id="7" name="Text 5"/>
          <p:cNvSpPr/>
          <p:nvPr/>
        </p:nvSpPr>
        <p:spPr>
          <a:xfrm>
            <a:off x="1097280" y="2377440"/>
            <a:ext cx="6949440" cy="365760"/>
          </a:xfrm>
          <a:prstGeom prst="rect">
            <a:avLst/>
          </a:prstGeom>
          <a:noFill/>
          <a:ln/>
        </p:spPr>
        <p:txBody>
          <a:bodyPr wrap="square" rtlCol="0" anchor="ctr"/>
          <a:lstStyle/>
          <a:p>
            <a:pPr marL="0" indent="0" algn="ctr">
              <a:buNone/>
            </a:pPr>
            <a:r>
              <a:rPr lang="en-US" sz="1400" i="1" dirty="0">
                <a:solidFill>
                  <a:srgbClr val="90CAF9"/>
                </a:solidFill>
                <a:latin typeface="Calibri" pitchFamily="34" charset="0"/>
                <a:ea typeface="Calibri" pitchFamily="34" charset="-122"/>
                <a:cs typeface="Calibri" pitchFamily="34" charset="-120"/>
              </a:rPr>
              <a:t>Reverse Learning Pedagogy | AI in Healthcare</a:t>
            </a:r>
            <a:endParaRPr lang="en-US" sz="1400" dirty="0"/>
          </a:p>
        </p:txBody>
      </p:sp>
      <p:sp>
        <p:nvSpPr>
          <p:cNvPr id="8" name="Text 6"/>
          <p:cNvSpPr/>
          <p:nvPr/>
        </p:nvSpPr>
        <p:spPr>
          <a:xfrm>
            <a:off x="1097280" y="2834640"/>
            <a:ext cx="6949440" cy="320040"/>
          </a:xfrm>
          <a:prstGeom prst="rect">
            <a:avLst/>
          </a:prstGeom>
          <a:noFill/>
          <a:ln/>
        </p:spPr>
        <p:txBody>
          <a:bodyPr wrap="square" rtlCol="0" anchor="ctr"/>
          <a:lstStyle/>
          <a:p>
            <a:pPr marL="0" indent="0" algn="ctr">
              <a:buNone/>
            </a:pPr>
            <a:r>
              <a:rPr lang="en-US" sz="1100" dirty="0">
                <a:solidFill>
                  <a:srgbClr val="8EAFD4"/>
                </a:solidFill>
                <a:latin typeface="Calibri" pitchFamily="34" charset="0"/>
                <a:ea typeface="Calibri" pitchFamily="34" charset="-122"/>
                <a:cs typeface="Calibri" pitchFamily="34" charset="-120"/>
              </a:rPr>
              <a:t>Sharda School of Business Studies | Sharda University | Session 2025-26</a:t>
            </a:r>
            <a:endParaRPr lang="en-US" sz="1100" dirty="0"/>
          </a:p>
        </p:txBody>
      </p:sp>
      <p:sp>
        <p:nvSpPr>
          <p:cNvPr id="9" name="Text 7"/>
          <p:cNvSpPr/>
          <p:nvPr/>
        </p:nvSpPr>
        <p:spPr>
          <a:xfrm>
            <a:off x="1097280" y="3337560"/>
            <a:ext cx="6949440" cy="365760"/>
          </a:xfrm>
          <a:prstGeom prst="rect">
            <a:avLst/>
          </a:prstGeom>
          <a:noFill/>
          <a:ln/>
        </p:spPr>
        <p:txBody>
          <a:bodyPr wrap="square" rtlCol="0" anchor="ctr"/>
          <a:lstStyle/>
          <a:p>
            <a:pPr marL="0" indent="0" algn="ctr">
              <a:buNone/>
            </a:pPr>
            <a:r>
              <a:rPr lang="en-US" sz="1300" i="1" dirty="0">
                <a:solidFill>
                  <a:srgbClr val="E8EEF6"/>
                </a:solidFill>
                <a:latin typeface="Calibri" pitchFamily="34" charset="0"/>
                <a:ea typeface="Calibri" pitchFamily="34" charset="-122"/>
                <a:cs typeface="Calibri" pitchFamily="34" charset="-120"/>
              </a:rPr>
              <a:t>We welcome your questions!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TotalTime>
  <Words>1163</Words>
  <Application>Microsoft Office PowerPoint</Application>
  <PresentationFormat>On-screen Show (16:9)</PresentationFormat>
  <Paragraphs>196</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RLP Report - AI in Healthcare</dc:title>
  <dc:subject>PptxGenJS Presentation</dc:subject>
  <dc:creator>PptxGenJS</dc:creator>
  <cp:lastModifiedBy>Niraj Kumar</cp:lastModifiedBy>
  <cp:revision>8</cp:revision>
  <dcterms:created xsi:type="dcterms:W3CDTF">2026-03-01T19:26:02Z</dcterms:created>
  <dcterms:modified xsi:type="dcterms:W3CDTF">2026-03-02T18:59:18Z</dcterms:modified>
</cp:coreProperties>
</file>