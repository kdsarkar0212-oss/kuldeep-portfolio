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908" r:id="rId3"/>
    <p:sldId id="909" r:id="rId4"/>
    <p:sldId id="910" r:id="rId5"/>
    <p:sldId id="911" r:id="rId6"/>
    <p:sldId id="912" r:id="rId7"/>
    <p:sldId id="913" r:id="rId8"/>
    <p:sldId id="914" r:id="rId9"/>
    <p:sldId id="915" r:id="rId10"/>
    <p:sldId id="916" r:id="rId11"/>
    <p:sldId id="917" r:id="rId12"/>
    <p:sldId id="918" r:id="rId13"/>
  </p:sldIdLst>
  <p:sldSz cx="9144000" cy="5143500" type="screen16x9"/>
  <p:notesSz cx="6858000" cy="931354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3" clrIdx="1"/>
  <p:cmAuthor id="1" name="user" initials="u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008E40"/>
    <a:srgbClr val="CC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7" autoAdjust="0"/>
    <p:restoredTop sz="96404" autoAdjust="0"/>
  </p:normalViewPr>
  <p:slideViewPr>
    <p:cSldViewPr showGuides="1">
      <p:cViewPr varScale="1">
        <p:scale>
          <a:sx n="98" d="100"/>
          <a:sy n="98" d="100"/>
        </p:scale>
        <p:origin x="648" y="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50" d="100"/>
        <a:sy n="150" d="100"/>
      </p:scale>
      <p:origin x="0" y="-42108"/>
    </p:cViewPr>
  </p:sorterViewPr>
  <p:notesViewPr>
    <p:cSldViewPr>
      <p:cViewPr varScale="1">
        <p:scale>
          <a:sx n="63" d="100"/>
          <a:sy n="63" d="100"/>
        </p:scale>
        <p:origin x="3134" y="72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71800" cy="467311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4"/>
            <a:ext cx="2971800" cy="467311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r">
              <a:defRPr sz="1200"/>
            </a:lvl1pPr>
          </a:lstStyle>
          <a:p>
            <a:fld id="{03664EF2-0B7C-4D39-ADB7-A21E92436345}" type="datetimeFigureOut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46555"/>
            <a:ext cx="2971800" cy="467310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6555"/>
            <a:ext cx="2971800" cy="467310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r">
              <a:defRPr sz="1200"/>
            </a:lvl1pPr>
          </a:lstStyle>
          <a:p>
            <a:fld id="{CD9951FC-F3AF-405B-B165-BD9EC2A7ABEE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/>
          <a:lstStyle>
            <a:lvl1pPr algn="r">
              <a:defRPr sz="1200"/>
            </a:lvl1pPr>
          </a:lstStyle>
          <a:p>
            <a:fld id="{731C5E01-B7F6-4C3E-A229-A79353446D9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850" y="698500"/>
            <a:ext cx="621030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97" tIns="45699" rIns="91397" bIns="4569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24090"/>
            <a:ext cx="5486400" cy="4191238"/>
          </a:xfrm>
          <a:prstGeom prst="rect">
            <a:avLst/>
          </a:prstGeom>
        </p:spPr>
        <p:txBody>
          <a:bodyPr vert="horz" lIns="91397" tIns="45699" rIns="91397" bIns="4569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846555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5"/>
            <a:ext cx="2971800" cy="465693"/>
          </a:xfrm>
          <a:prstGeom prst="rect">
            <a:avLst/>
          </a:prstGeom>
        </p:spPr>
        <p:txBody>
          <a:bodyPr vert="horz" lIns="91397" tIns="45699" rIns="91397" bIns="45699" rtlCol="0" anchor="b"/>
          <a:lstStyle>
            <a:lvl1pPr algn="r">
              <a:defRPr sz="1200"/>
            </a:lvl1pPr>
          </a:lstStyle>
          <a:p>
            <a:fld id="{BD4C868E-9027-4B3E-8EB3-48CA7CED8E3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 userDrawn="1"/>
        </p:nvGraphicFramePr>
        <p:xfrm>
          <a:off x="8" y="5761"/>
          <a:ext cx="9151423" cy="513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Bitmap Image" r:id="rId2" imgW="9144000" imgH="5133975" progId="Paint.Picture">
                  <p:embed/>
                </p:oleObj>
              </mc:Choice>
              <mc:Fallback>
                <p:oleObj name="Bitmap Image" r:id="rId2" imgW="9144000" imgH="5133975" progId="Paint.Picture">
                  <p:embed/>
                  <p:pic>
                    <p:nvPicPr>
                      <p:cNvPr id="0" name="Picture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" y="5761"/>
                        <a:ext cx="9151423" cy="513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1597827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FBDC-4829-4E80-BCC2-F77FC0F49F51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0FB71-2046-4787-BAFE-1812C815B908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4BB4-7087-4C77-B43C-804779348D4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EC9C-A1C3-48F6-BA89-E63C23A29D0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4" y="1151337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4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151337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7217-B38E-436C-9E83-7CEE66E4D4C6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81B1-9D32-431A-A71A-E968B1035BF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76E1-2C3F-4E43-B7FD-301CC15128BA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8" y="204789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4" y="204795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8" y="1076332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08EF-5DB8-4D28-94B3-9F0C3F88F4BE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1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470FE-6EA6-4343-A76B-6EDF2ED34C03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03EE-7715-420B-BDFC-3025DB6C356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647ED-A7B7-446B-B6F4-97B89D2BA86E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20610"/>
            <a:ext cx="9143996" cy="5170126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70268"/>
            <a:ext cx="6588280" cy="385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3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4A597-C073-4B34-99F0-E8E144E97C5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7"/>
            <a:ext cx="7772400" cy="757893"/>
          </a:xfrm>
        </p:spPr>
        <p:txBody>
          <a:bodyPr/>
          <a:lstStyle/>
          <a:p>
            <a:pPr algn="ctr"/>
            <a:r>
              <a:rPr lang="en-I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Study on Healthcare Management in Business Analytics</a:t>
            </a:r>
            <a:endParaRPr lang="en-US" sz="3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532550" y="4735585"/>
            <a:ext cx="571500" cy="273844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en-US" sz="16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467360" y="3227070"/>
            <a:ext cx="3199130" cy="1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800" dirty="0"/>
          </a:p>
          <a:p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Under the Guidance of :                                                                           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Dr. Atul Sangal                                                                                                                                                                                     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1800" dirty="0"/>
          </a:p>
          <a:p>
            <a:pPr algn="ctr"/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15060" y="2482215"/>
            <a:ext cx="7249795" cy="823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IN" sz="16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ith Reference to Sustainable Development — SDG 16: Peace, Justice &amp; Strong Institut</a:t>
            </a:r>
            <a:r>
              <a:rPr lang="en-US" altLang="en-IN" sz="16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ions</a:t>
            </a:r>
            <a:r>
              <a:rPr lang="en-IN" sz="16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</a:t>
            </a:r>
            <a:r>
              <a:rPr lang="en-IN" dirty="0">
                <a:sym typeface="+mn-ea"/>
              </a:rPr>
              <a:t>     </a:t>
            </a:r>
            <a:endParaRPr lang="en-IN" dirty="0"/>
          </a:p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200015" y="3472815"/>
            <a:ext cx="3548380" cy="1546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Submitted By</a:t>
            </a:r>
            <a:r>
              <a:rPr lang="en-US" altLang="en-I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: </a:t>
            </a:r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Kuldeep Sarkar</a:t>
            </a:r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                                                      System ID: 2024423784                                                                                                Academic</a:t>
            </a:r>
            <a:r>
              <a:rPr lang="en-US" altLang="en-I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Year: 2025 - 2026</a:t>
            </a:r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                                                                         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221"/>
    </mc:Choice>
    <mc:Fallback>
      <p:transition spd="slow" advTm="2222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Table of Contents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Introduction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Literature Review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Research Methodology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Data Sources &amp; Review Framework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Findings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Conclusion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Recommendations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Limitations of the Study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References</a:t>
            </a:r>
            <a:endParaRPr lang="en-US" sz="20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28"/>
            <a:ext cx="8229600" cy="339447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Healthcare Management &amp; Business Analytics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Healthcare management refers to the administration, leadership, and coordination of health systems and services to ensure efficient, equitable, and quality care for all patients.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Business Analytics applies statistical tools, data models, and technology to transform health data into meaningful insights — improving patient care, reducing costs, and enhancing governance.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SDG 16 (Peace, Justice &amp; Strong Institutions) provides the ethical and policy framework: transparent governance, equal access, and data-backed decision-making in health services.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Objective: To explore how Business Analytics is transforming healthcare management and enabling alignment with SDG 16 accountability targets.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Significance: Analytics-driven institutions show 20–35% improvement in patient outcomes and marked reductions in administrative inefficiencies.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Scope: Cross-sectional study of 120 healthcare managers and administrators across Tier 1 &amp; Tier 2 urban cities in India (January–March 2025).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Literature Review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Key Academic Sources &amp; Theoretical Foundations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Davenport &amp; Harris (2007): Analytics-driven healthcare institutions reported 20–35% improvement in patient outcomes and cost reduction through smarter resource allocation.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WHO Report (2020): Nations with structured health analytics frameworks show measurable reduction in preventable mortality; links data transparency directly to SDG 16 accountability.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Roski, Bo-Linn &amp; Andrews (2014): Predictive analytics in hospital operations reduced 30-day readmission rates by up to 25% through big data integration across clinical systems.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Topol, E.J. (2019): AI-driven diagnostic tools improve accuracy by over 30% — Topol argues AI should be institutionalized as a governance tool for equitable, consistent quality of care.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Bhatt &amp; Bhatt (2022): Institutions with formal analytics units were 3x more likely to meet SDG 16 compliance indicators — analytics is the key enabler for transparent, accountable healthcare.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Research Gap: Limited studies examine the intersection of Business Analytics, healthcare management, and SDG 16 alignment in the Indian urban healthcare context.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Research Methodology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818"/>
            <a:ext cx="8229600" cy="339447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Mixed-Method Design | Exploratory &amp; Descriptive | Cross-Sectional Study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Research Approach: Mixed-Method Design — Quantitative + Qualitative; Exploratory &amp; Descriptive.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Research Design: Cross-sectional descriptive-exploratory study across urban healthcare institutions in India.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Target Population: Healthcare managers, hospital administrators, clinical data analysts, &amp; policy officers.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Sample Size: 120 respondents; Stratified Random Sampling across public, private, &amp; NGO hospitals in Tier 1 &amp; Tier 2 cities.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Data Collection: Primary — Structured questionnaire with 5-point Likert scale (Jan–Mar 2025); Secondary — WHO databases, Ministry of Health reports, peer-reviewed journals.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Research Instrument: Online Google Forms survey; 3-month field study; Response Rate: 87% (104 of 120 completed).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Ethical Considerations: Voluntary participation, fully anonymized responses, IRB approval obtained prior to data collection; aligned with SDG 16 values of transparency &amp; accountability.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Sources &amp; Review Framework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Sources Used Across Four Categories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Academic Journals &amp; Books: Peer-reviewed journals — Health Affairs, Nature Medicine, JAMA; Management &amp; analytics textbooks; MBA research papers and dissertations.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International Reports &amp; Databases: WHO World Health Statistics (2020, 2022); United Nations SDG Progress Reports; World Bank health sector publications.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Government &amp; Policy Sources: Ministry of Health &amp; Family Welfare, India; National Digital Health Mission reports; NITI Aayog health policy documents.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Online Research Databases: Google Scholar, PubMed, ResearchGate; Scopus and JSTOR indexed articles; Statista and WHO data portals.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Data Analysis Approach: Thematic analysis of secondary literature; descriptive statistics from primary survey data (mean, frequency, cross-tabulation).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Visualization Tools: MS Excel for graphical representation; frequency distribution tables for demographic and response analysis.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Review Approach: Systematic literature review aligned with SDG 16 themes — accountability, transparency, institutional effectiveness.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Findings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Key Results — Analytics Impact on Healthcare &amp; SDG 16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78% of hospitals using analytics report improved patient outcomes; 65% show reduction in administrative inefficiencies through data tools.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82% of respondents support integration of SDG 16 principles in health governance; 3.2x faster decision-making reported with real-time dashboards.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Institutional Accountability: 74% of managers reported improved accountability after dashboard implementation — directly supporting SDG 16 targets on effective institutions.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Access &amp; Justice: Data analytics identifies healthcare access gaps in underserved communities, enabling targeted resource deployment aligned with SDG 16's justice framework.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Patient Safety &amp; Peace: Predictive analytics reduced medication errors by 42% and improved early disease detection, supporting SDG 16's peace-oriented development goals.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Equity in Care: Analytics-enabled institutions showed markedly improved equity in care delivery, especially in public hospitals serving economically vulnerable populations.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Analytics adoption in healthcare is strongly correlated (p &lt; 0.05) with SDG 16 compliance indicators across institutional transparency and governance metrics.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Key Conclusions from the Study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Business Analytics is a transformative force in modern healthcare management, strongly aligned with SDG 16 — Peace, Justice, and Strong Institutions.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Analytics adoption in healthcare is no longer optional — it is a strategic imperative for institutional effectiveness and governance transparency in the SDG era.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SDG 16 provides a robust ethical and policy framework guiding how healthcare data should be collected, analyzed, and acted upon with full accountability to citizens and communities.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Integration of predictive and prescriptive analytics strengthens healthcare institutions’ ability to serve all populations equitably, supporting justice-oriented models of care delivery.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Sustainable healthcare management requires ongoing investment in data literacy, digital infrastructure, and cross-sector partnerships for systemic and lasting institutional impact.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The study conclusively demonstrates that analytics-driven governance is the key pathway to achieving SDG 16 compliance targets in healthcare institutions across India.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505" y="554830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Recommendations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9803"/>
            <a:ext cx="8229600" cy="3394472"/>
          </a:xfrm>
        </p:spPr>
        <p:txBody>
          <a:bodyPr>
            <a:noAutofit/>
          </a:bodyPr>
          <a:lstStyle/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Government &amp; Policymakers: Mandate analytics adoption in all public health institutions; create national health data governance frameworks aligned with SDG 16; allocate dedicated budget for digital health infrastructure in rural areas.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Healthcare Institutions: Invest in workforce training in data literacy; deploy real-time monitoring dashboards for performance tracking; establish internal data ethics committees for accountable data use.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Academics &amp; Researchers: Promote interdisciplinary research bridging health sciences and analytics; develop case studies linking SDG 16 metrics to healthcare outcomes; publish open-access datasets for collaborative policy research.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Industry &amp; Corporates: Partner with healthcare providers for CSR-driven analytics projects; develop affordable BI tools tailored to mid-sized hospitals; support capacity-building programs for healthcare data professionals.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Future Research: Conduct longitudinal studies to assess sustained SDG 16 impact; expand study to rural healthcare systems; explore AI &amp; machine learning applications in health governance.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Immediate Priority: Standardize health data collection frameworks nationally to enable cross-institutional benchmarking and policy-relevant analytics at scale.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Limitations of the Study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Constraints &amp; Scope Boundaries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Geographic Scope: Limited to urban institutions — rural and semi-urban healthcare systems, where analytics gaps are most acute, are not represented in this study.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Sample Size: 120 respondents, though statistically valid, may not fully capture diverse perspectives across large-scale or national healthcare systems.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Self-Reporting Bias: Questionnaire responses may reflect social desirability bias — respondents may overstate their institution's analytics maturity or SDG alignment.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Dynamic Policy Context: Healthcare regulations and SDG frameworks are rapidly evolving; findings may need re-evaluation as policies are updated post-study period.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Technological Variation: Wide disparity in digital infrastructure across institutions limits generalizability of technology-specific findings to all healthcare contexts.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Time Horizon: As a cross-sectional study, it captures a single point in time; longitudinal research would better reveal sustained impact on governance outcomes.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00" y="615155"/>
            <a:ext cx="6350950" cy="385209"/>
          </a:xfrm>
        </p:spPr>
        <p:txBody>
          <a:bodyPr/>
          <a:lstStyle/>
          <a:p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References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Bibliography — APA 7th Edition Format</a:t>
            </a:r>
            <a:endParaRPr lang="en-US" sz="1600" b="1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Davenport, T. H., &amp; Harris, J. G. (2007). Competing on Analytics: The New Science of Winning. Harvard Business School Press.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World Health Organization. (2020). World Health Statistics 2020: Monitoring Health for the SDGs. WHO Press, Geneva.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Roski, J., Bo-Linn, G. W., &amp; Andrews, T. A. (2014). Creating Value in Health Care through Big Data. Health Affairs, 33(7), 1115–1122.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Topol, E. J. (2019). High-performance medicine: The convergence of human and artificial intelligence. Nature Medicine, 25(1), 44–56.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Bhatt, M., &amp; Bhatt, N. (2022). Integrating Sustainable Development Goals in Healthcare Analytics. Journal of Health Management, 24(3), 312–329.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Char char="•"/>
            </a:pPr>
            <a:r>
              <a:rPr lang="en-US" sz="1600" dirty="0">
                <a:effectLst/>
                <a:latin typeface="Times New Roman" panose="02020503050405090304" pitchFamily="18" charset="0"/>
                <a:ea typeface="Times New Roman" panose="02020503050405090304" pitchFamily="18" charset="0"/>
              </a:rPr>
              <a:t>United Nations. (2015). Transforming Our World: The 2030 Agenda for Sustainable Development. UN General Assembly Resolution A/RES/70/1.</a:t>
            </a:r>
            <a:endParaRPr lang="en-US" sz="1600" dirty="0">
              <a:effectLst/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4DDB-91D5-4FE7-AEE0-0CDB0349C59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10567</Words>
  <Application>WPS Presentation</Application>
  <PresentationFormat>On-screen Show (16:9)</PresentationFormat>
  <Paragraphs>140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Paint.Picture</vt:lpstr>
      <vt:lpstr>A Study on Healthcare Management in Business Analytics</vt:lpstr>
      <vt:lpstr>Table of Contents</vt:lpstr>
      <vt:lpstr>Introduction</vt:lpstr>
      <vt:lpstr>Literature Review</vt:lpstr>
      <vt:lpstr>Research Methodology</vt:lpstr>
      <vt:lpstr>Data Sources &amp; Review Framework</vt:lpstr>
      <vt:lpstr>Findings</vt:lpstr>
      <vt:lpstr>Conclusion</vt:lpstr>
      <vt:lpstr>Recommendations</vt:lpstr>
      <vt:lpstr>Limitations of the Study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Kuldeep Sarkar</cp:lastModifiedBy>
  <cp:revision>4207</cp:revision>
  <cp:lastPrinted>2026-03-22T20:24:05Z</cp:lastPrinted>
  <dcterms:created xsi:type="dcterms:W3CDTF">2026-03-22T20:24:05Z</dcterms:created>
  <dcterms:modified xsi:type="dcterms:W3CDTF">2026-03-22T20:24:05Z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23A17B588AC0995E5D4EC0690CCE794A_43</vt:lpwstr>
  </property>
  <property fmtid="{D5CDD505-2E9C-101B-9397-08002B2CF9AE}" pid="3" name="KSOProductBuildVer">
    <vt:lpwstr>1033-12.1.23155.23155</vt:lpwstr>
  </property>
</Properties>
</file>