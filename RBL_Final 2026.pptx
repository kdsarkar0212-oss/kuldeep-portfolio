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9"/>
  </p:handoutMasterIdLst>
  <p:sldIdLst>
    <p:sldId id="921" r:id="rId3"/>
    <p:sldId id="915" r:id="rId5"/>
    <p:sldId id="920" r:id="rId6"/>
    <p:sldId id="909" r:id="rId7"/>
    <p:sldId id="923" r:id="rId8"/>
    <p:sldId id="924" r:id="rId9"/>
    <p:sldId id="916" r:id="rId10"/>
    <p:sldId id="910" r:id="rId11"/>
    <p:sldId id="925" r:id="rId12"/>
    <p:sldId id="926" r:id="rId13"/>
    <p:sldId id="913" r:id="rId14"/>
    <p:sldId id="917" r:id="rId15"/>
    <p:sldId id="918" r:id="rId16"/>
    <p:sldId id="928" r:id="rId17"/>
    <p:sldId id="914" r:id="rId18"/>
  </p:sldIdLst>
  <p:sldSz cx="9144000" cy="5143500" type="screen16x9"/>
  <p:notesSz cx="6858000" cy="931354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Windows User" initials="WU" lastIdx="13" clrIdx="1"/>
  <p:cmAuthor id="1" name="user" initials="u" lastIdx="19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0000"/>
    <a:srgbClr val="008E40"/>
    <a:srgbClr val="CC33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087" autoAdjust="0"/>
    <p:restoredTop sz="96404" autoAdjust="0"/>
  </p:normalViewPr>
  <p:slideViewPr>
    <p:cSldViewPr showGuides="1">
      <p:cViewPr varScale="1">
        <p:scale>
          <a:sx n="84" d="100"/>
          <a:sy n="84" d="100"/>
        </p:scale>
        <p:origin x="1068" y="5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150" d="100"/>
        <a:sy n="150" d="100"/>
      </p:scale>
      <p:origin x="0" y="-42108"/>
    </p:cViewPr>
  </p:sorterViewPr>
  <p:notesViewPr>
    <p:cSldViewPr>
      <p:cViewPr varScale="1">
        <p:scale>
          <a:sx n="63" d="100"/>
          <a:sy n="63" d="100"/>
        </p:scale>
        <p:origin x="3134" y="72"/>
      </p:cViewPr>
      <p:guideLst/>
    </p:cSldViewPr>
  </p:notesViewPr>
  <p:gridSpacing cx="72010" cy="7201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3" Type="http://schemas.openxmlformats.org/officeDocument/2006/relationships/commentAuthors" Target="commentAuthors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handoutMaster" Target="handoutMasters/handoutMaster1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3" y="4"/>
            <a:ext cx="2971800" cy="467311"/>
          </a:xfrm>
          <a:prstGeom prst="rect">
            <a:avLst/>
          </a:prstGeom>
        </p:spPr>
        <p:txBody>
          <a:bodyPr vert="horz" lIns="91397" tIns="45699" rIns="91397" bIns="45699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4"/>
            <a:ext cx="2971800" cy="467311"/>
          </a:xfrm>
          <a:prstGeom prst="rect">
            <a:avLst/>
          </a:prstGeom>
        </p:spPr>
        <p:txBody>
          <a:bodyPr vert="horz" lIns="91397" tIns="45699" rIns="91397" bIns="45699" rtlCol="0"/>
          <a:lstStyle>
            <a:lvl1pPr algn="r">
              <a:defRPr sz="1200"/>
            </a:lvl1pPr>
          </a:lstStyle>
          <a:p>
            <a:fld id="{03664EF2-0B7C-4D39-ADB7-A21E92436345}" type="datetimeFigureOut">
              <a:rPr lang="en-IN" smtClean="0"/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3" y="8846555"/>
            <a:ext cx="2971800" cy="467310"/>
          </a:xfrm>
          <a:prstGeom prst="rect">
            <a:avLst/>
          </a:prstGeom>
        </p:spPr>
        <p:txBody>
          <a:bodyPr vert="horz" lIns="91397" tIns="45699" rIns="91397" bIns="45699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846555"/>
            <a:ext cx="2971800" cy="467310"/>
          </a:xfrm>
          <a:prstGeom prst="rect">
            <a:avLst/>
          </a:prstGeom>
        </p:spPr>
        <p:txBody>
          <a:bodyPr vert="horz" lIns="91397" tIns="45699" rIns="91397" bIns="45699" rtlCol="0" anchor="b"/>
          <a:lstStyle>
            <a:lvl1pPr algn="r">
              <a:defRPr sz="1200"/>
            </a:lvl1pPr>
          </a:lstStyle>
          <a:p>
            <a:fld id="{CD9951FC-F3AF-405B-B165-BD9EC2A7ABEE}" type="slidenum">
              <a:rPr lang="en-IN" smtClean="0"/>
            </a:fld>
            <a:endParaRPr lang="en-I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3" y="1"/>
            <a:ext cx="2971800" cy="465693"/>
          </a:xfrm>
          <a:prstGeom prst="rect">
            <a:avLst/>
          </a:prstGeom>
        </p:spPr>
        <p:txBody>
          <a:bodyPr vert="horz" lIns="91397" tIns="45699" rIns="91397" bIns="45699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1"/>
            <a:ext cx="2971800" cy="465693"/>
          </a:xfrm>
          <a:prstGeom prst="rect">
            <a:avLst/>
          </a:prstGeom>
        </p:spPr>
        <p:txBody>
          <a:bodyPr vert="horz" lIns="91397" tIns="45699" rIns="91397" bIns="45699" rtlCol="0"/>
          <a:lstStyle>
            <a:lvl1pPr algn="r">
              <a:defRPr sz="1200"/>
            </a:lvl1pPr>
          </a:lstStyle>
          <a:p>
            <a:fld id="{731C5E01-B7F6-4C3E-A229-A79353446D9B}" type="datetimeFigureOut">
              <a:rPr lang="en-US" smtClean="0"/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23850" y="698500"/>
            <a:ext cx="6210300" cy="34925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397" tIns="45699" rIns="91397" bIns="45699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1" y="4424090"/>
            <a:ext cx="5486400" cy="4191238"/>
          </a:xfrm>
          <a:prstGeom prst="rect">
            <a:avLst/>
          </a:prstGeom>
        </p:spPr>
        <p:txBody>
          <a:bodyPr vert="horz" lIns="91397" tIns="45699" rIns="91397" bIns="45699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3" y="8846555"/>
            <a:ext cx="2971800" cy="465693"/>
          </a:xfrm>
          <a:prstGeom prst="rect">
            <a:avLst/>
          </a:prstGeom>
        </p:spPr>
        <p:txBody>
          <a:bodyPr vert="horz" lIns="91397" tIns="45699" rIns="91397" bIns="45699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846555"/>
            <a:ext cx="2971800" cy="465693"/>
          </a:xfrm>
          <a:prstGeom prst="rect">
            <a:avLst/>
          </a:prstGeom>
        </p:spPr>
        <p:txBody>
          <a:bodyPr vert="horz" lIns="91397" tIns="45699" rIns="91397" bIns="45699" rtlCol="0" anchor="b"/>
          <a:lstStyle>
            <a:lvl1pPr algn="r">
              <a:defRPr sz="1200"/>
            </a:lvl1pPr>
          </a:lstStyle>
          <a:p>
            <a:fld id="{BD4C868E-9027-4B3E-8EB3-48CA7CED8E38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image" Target="../media/image1.wmf"/><Relationship Id="rId2" Type="http://schemas.openxmlformats.org/officeDocument/2006/relationships/oleObject" Target="../embeddings/oleObject1.bin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/>
          <p:cNvGraphicFramePr>
            <a:graphicFrameLocks noChangeAspect="1"/>
          </p:cNvGraphicFramePr>
          <p:nvPr userDrawn="1"/>
        </p:nvGraphicFramePr>
        <p:xfrm>
          <a:off x="8" y="5761"/>
          <a:ext cx="9151423" cy="51377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Bitmap Image" r:id="rId2" imgW="9144000" imgH="5133975" progId="Paint.Picture">
                  <p:embed/>
                </p:oleObj>
              </mc:Choice>
              <mc:Fallback>
                <p:oleObj name="Bitmap Image" r:id="rId2" imgW="9144000" imgH="5133975" progId="Paint.Picture">
                  <p:embed/>
                  <p:pic>
                    <p:nvPicPr>
                      <p:cNvPr id="0" name="Picture 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" y="5761"/>
                        <a:ext cx="9151423" cy="51377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685800" y="1597827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3FBDC-4829-4E80-BCC2-F77FC0F49F51}" type="datetime1">
              <a:rPr lang="en-IN" smtClean="0"/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74DDB-91D5-4FE7-AEE0-0CDB0349C59B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0FB71-2046-4787-BAFE-1812C815B908}" type="datetime1">
              <a:rPr lang="en-IN" smtClean="0"/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74DDB-91D5-4FE7-AEE0-0CDB0349C59B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6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D4BB4-7087-4C77-B43C-804779348D4C}" type="datetime1">
              <a:rPr lang="en-IN" smtClean="0"/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74DDB-91D5-4FE7-AEE0-0CDB0349C59B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DEC9C-A1C3-48F6-BA89-E63C23A29D0C}" type="datetime1">
              <a:rPr lang="en-IN" smtClean="0"/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74DDB-91D5-4FE7-AEE0-0CDB0349C59B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4" y="1151337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4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34" y="1151337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34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E7217-B38E-436C-9E83-7CEE66E4D4C6}" type="datetime1">
              <a:rPr lang="en-IN" smtClean="0"/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74DDB-91D5-4FE7-AEE0-0CDB0349C59B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A81B1-9D32-431A-A71A-E968B1035BF9}" type="datetime1">
              <a:rPr lang="en-IN" smtClean="0"/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74DDB-91D5-4FE7-AEE0-0CDB0349C59B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676E1-2C3F-4E43-B7FD-301CC15128BA}" type="datetime1">
              <a:rPr lang="en-IN" smtClean="0"/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74DDB-91D5-4FE7-AEE0-0CDB0349C59B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8" y="204789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4" y="204795"/>
            <a:ext cx="5111751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8" y="1076332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708EF-5DB8-4D28-94B3-9F0C3F88F4BE}" type="datetime1">
              <a:rPr lang="en-IN" smtClean="0"/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74DDB-91D5-4FE7-AEE0-0CDB0349C59B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1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470FE-6EA6-4343-A76B-6EDF2ED34C03}" type="datetime1">
              <a:rPr lang="en-IN" smtClean="0"/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74DDB-91D5-4FE7-AEE0-0CDB0349C59B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D03EE-7715-420B-BDFC-3025DB6C3564}" type="datetime1">
              <a:rPr lang="en-IN" smtClean="0"/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74DDB-91D5-4FE7-AEE0-0CDB0349C59B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4783"/>
            <a:ext cx="2057400" cy="32908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4783"/>
            <a:ext cx="6019800" cy="32908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647ED-A7B7-446B-B6F4-97B89D2BA86E}" type="datetime1">
              <a:rPr lang="en-IN" smtClean="0"/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74DDB-91D5-4FE7-AEE0-0CDB0349C59B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2.jpe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" y="-20610"/>
            <a:ext cx="9143996" cy="5170126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170268"/>
            <a:ext cx="6588280" cy="3852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3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5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34A597-C073-4B34-99F0-E8E144E97C5C}" type="datetime1">
              <a:rPr lang="en-IN" smtClean="0"/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5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674DDB-91D5-4FE7-AEE0-0CDB0349C59B}" type="slidenum">
              <a:rPr lang="en-IN" smtClean="0"/>
            </a:fld>
            <a:endParaRPr lang="en-I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91640"/>
          </a:xfrm>
          <a:prstGeom prst="rect">
            <a:avLst/>
          </a:prstGeom>
          <a:solidFill>
            <a:srgbClr val="F5C518"/>
          </a:solidFill>
        </p:spPr>
      </p:sp>
      <p:sp>
        <p:nvSpPr>
          <p:cNvPr id="4" name="Shape 2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F5C518"/>
          </a:solidFill>
        </p:spPr>
      </p:sp>
      <p:sp>
        <p:nvSpPr>
          <p:cNvPr id="5" name="Shape 3"/>
          <p:cNvSpPr/>
          <p:nvPr/>
        </p:nvSpPr>
        <p:spPr>
          <a:xfrm>
            <a:off x="3200400" y="109728"/>
            <a:ext cx="2743200" cy="1097280"/>
          </a:xfrm>
          <a:prstGeom prst="rect">
            <a:avLst/>
          </a:prstGeom>
          <a:solidFill>
            <a:srgbClr val="F5C518"/>
          </a:solidFill>
        </p:spPr>
      </p:sp>
      <p:sp>
        <p:nvSpPr>
          <p:cNvPr id="6" name="Text 4"/>
          <p:cNvSpPr/>
          <p:nvPr/>
        </p:nvSpPr>
        <p:spPr>
          <a:xfrm>
            <a:off x="3200400" y="109728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C3B78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SHARDA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200400" y="530352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3B78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UNIVERSITY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0" y="822960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C3B78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Beyond Boundaries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121535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chemeClr val="tx1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Predicting Health Fraud</a:t>
            </a:r>
            <a:endParaRPr lang="en-US" sz="2800" dirty="0">
              <a:solidFill>
                <a:schemeClr val="tx1"/>
              </a:solidFill>
              <a:latin typeface="Calibri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57200" y="2724912"/>
            <a:ext cx="82296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tx1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Using Machine Learning and Data Analytics</a:t>
            </a:r>
            <a:endParaRPr lang="en-US" sz="1800" dirty="0">
              <a:solidFill>
                <a:schemeClr val="tx1"/>
              </a:solidFill>
              <a:latin typeface="Calibri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02920" y="3127248"/>
            <a:ext cx="36576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Under the Guidance of :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3364992"/>
            <a:ext cx="36576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Dr. Atul Sangal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0" y="3127248"/>
            <a:ext cx="34747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1A1A1A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Submitted By: KULDEEP SARKAR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0" y="3401314"/>
            <a:ext cx="34747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1A1A1A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System ID: 2024423784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0" y="3694303"/>
            <a:ext cx="34747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1A1A1A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MBA — Business Analytics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778240" y="4937760"/>
            <a:ext cx="2743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pic>
        <p:nvPicPr>
          <p:cNvPr id="19" name="Picture 18" descr="Screenshot 2026-03-22 at 10.35.13 PM"/>
          <p:cNvPicPr>
            <a:picLocks noChangeAspect="1"/>
          </p:cNvPicPr>
          <p:nvPr/>
        </p:nvPicPr>
        <p:blipFill>
          <a:blip r:embed="rId1"/>
          <a:srcRect l="2000" r="4076"/>
          <a:stretch>
            <a:fillRect/>
          </a:stretch>
        </p:blipFill>
        <p:spPr>
          <a:xfrm>
            <a:off x="0" y="-26670"/>
            <a:ext cx="9144635" cy="1765935"/>
          </a:xfrm>
          <a:prstGeom prst="rect">
            <a:avLst/>
          </a:prstGeom>
        </p:spPr>
      </p:pic>
      <p:sp>
        <p:nvSpPr>
          <p:cNvPr id="20" name="Text Box 19"/>
          <p:cNvSpPr txBox="1"/>
          <p:nvPr/>
        </p:nvSpPr>
        <p:spPr>
          <a:xfrm>
            <a:off x="1647825" y="1753870"/>
            <a:ext cx="581596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2800">
                <a:latin typeface="Times New Roman" panose="02020503050405090304" pitchFamily="18" charset="0"/>
                <a:cs typeface="Times New Roman" panose="02020503050405090304" pitchFamily="18" charset="0"/>
              </a:rPr>
              <a:t>RESEARCH BASED LEARNING </a:t>
            </a:r>
            <a:endParaRPr lang="en-US" sz="280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80" y="486011"/>
            <a:ext cx="6588280" cy="385209"/>
          </a:xfrm>
        </p:spPr>
        <p:txBody>
          <a:bodyPr/>
          <a:lstStyle/>
          <a:p>
            <a:r>
              <a:rPr lang="en-I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Outline of the presentation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0"/>
            <a:ext cx="8229600" cy="3879215"/>
          </a:xfrm>
        </p:spPr>
        <p:txBody>
          <a:bodyPr>
            <a:normAutofit fontScale="45000" lnSpcReduction="20000"/>
          </a:bodyPr>
          <a:lstStyle/>
          <a:p>
            <a:pPr marL="0" indent="0">
              <a:buNone/>
            </a:pPr>
            <a:r>
              <a:rPr lang="en-IN" dirty="0"/>
              <a:t>1. Abstract 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2. Introduction </a:t>
            </a:r>
            <a:endParaRPr lang="en-IN" dirty="0"/>
          </a:p>
          <a:p>
            <a:pPr marL="514350" indent="-514350">
              <a:buFont typeface="+mj-lt"/>
              <a:buAutoNum type="alphaLcParenR"/>
            </a:pPr>
            <a:r>
              <a:rPr lang="en-IN" dirty="0"/>
              <a:t>Background, </a:t>
            </a:r>
            <a:endParaRPr lang="en-IN" dirty="0"/>
          </a:p>
          <a:p>
            <a:pPr marL="514350" indent="-514350">
              <a:buFont typeface="+mj-lt"/>
              <a:buAutoNum type="alphaLcParenR"/>
            </a:pPr>
            <a:r>
              <a:rPr lang="en-IN" dirty="0"/>
              <a:t>Scale of the Problem</a:t>
            </a:r>
            <a:endParaRPr lang="en-IN" dirty="0"/>
          </a:p>
          <a:p>
            <a:pPr marL="514350" indent="-514350">
              <a:buFont typeface="+mj-lt"/>
              <a:buAutoNum type="alphaLcParenR"/>
            </a:pPr>
            <a:r>
              <a:rPr lang="en-IN" dirty="0"/>
              <a:t>ML as Solution</a:t>
            </a:r>
            <a:endParaRPr lang="en-IN" dirty="0"/>
          </a:p>
          <a:p>
            <a:pPr marL="0" indent="0">
              <a:buNone/>
            </a:pPr>
            <a:r>
              <a:rPr lang="en-GB" dirty="0"/>
              <a:t>3. Literature Review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4. Research Variables &amp; Hypothesis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5. Research Methodology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6. Data Sources &amp; Analysis Framework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7. Results &amp; Findings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8. Conclusion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9. Implications 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10. Limitations &amp; Future Research 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11. References</a:t>
            </a:r>
            <a:endParaRPr lang="en-GB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74DDB-91D5-4FE7-AEE0-0CDB0349C59B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00" y="615155"/>
            <a:ext cx="6350950" cy="385209"/>
          </a:xfrm>
        </p:spPr>
        <p:txBody>
          <a:bodyPr/>
          <a:lstStyle/>
          <a:p>
            <a:r>
              <a:rPr lang="en-IN" dirty="0"/>
              <a:t>Abstract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59183"/>
            <a:ext cx="8229600" cy="3394472"/>
          </a:xfrm>
        </p:spPr>
        <p:txBody>
          <a:bodyPr>
            <a:normAutofit/>
          </a:bodyPr>
          <a:lstStyle/>
          <a:p>
            <a:r>
              <a:rPr lang="en-IN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Healthcare is an essential part of people’s lives and must be affordable. The healthcare industry is an intricate system with numerous moving components — expanding at an expeditious pace. At the same time, fraud in this industry has turned into a critical problem, particularly the misuse of medical insurance systems.</a:t>
            </a:r>
            <a:endParaRPr lang="en-IN" sz="16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IN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Manual detection of healthcare fraud is strenuous, time-consuming, and expensive. Machine learning (ML) and data mining techniques have emerged as powerful tools for automatically detecting healthcare fraud. This study reviews the landscape of healthcare fraud, explores various ML-based detection approaches, and evaluates their effectiveness.</a:t>
            </a:r>
            <a:endParaRPr lang="en-IN" sz="16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IN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From this review, it is concluded that advanced ML techniques — applied to increasingly rich sources of healthcare data — represent a promising path toward making healthcare more affordable, fraud detection more effective, and overall healthcare systems more trustworthy.</a:t>
            </a:r>
            <a:endParaRPr lang="en-IN" sz="16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74DDB-91D5-4FE7-AEE0-0CDB0349C59B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00" y="615155"/>
            <a:ext cx="6350950" cy="385209"/>
          </a:xfrm>
        </p:spPr>
        <p:txBody>
          <a:bodyPr/>
          <a:lstStyle/>
          <a:p>
            <a:r>
              <a:rPr lang="en-IN" dirty="0"/>
              <a:t>Introduction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None/>
            </a:pPr>
            <a:r>
              <a:rPr lang="en-IN" sz="1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What is Healthcare Fraud?</a:t>
            </a:r>
            <a:endParaRPr lang="en-IN" sz="18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IN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Any deliberate act of deception or misrepresentation by an individual or organization to gain unauthorized financial benefits from healthcare or insurance systems — involving dishonest claims, false billing, unnecessary procedures, and misuse of patient data.</a:t>
            </a:r>
            <a:endParaRPr lang="en-IN" sz="16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514350" indent="-514350">
              <a:buNone/>
            </a:pPr>
            <a:r>
              <a:rPr lang="en-IN" sz="1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Scale of the Problem</a:t>
            </a:r>
            <a:endParaRPr lang="en-IN" sz="18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514350" indent="-514350">
              <a:buFont typeface="+mj-lt"/>
              <a:buChar char="•"/>
            </a:pPr>
            <a:r>
              <a:rPr lang="en-IN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$60–$250 Billion lost annually to healthcare fraud in the U.S. alone</a:t>
            </a:r>
            <a:endParaRPr lang="en-IN" sz="16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514350" indent="-514350">
              <a:buFont typeface="+mj-lt"/>
              <a:buChar char="•"/>
            </a:pPr>
            <a:r>
              <a:rPr lang="en-IN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Over 300 defendants charged in a single enforcement action involving $14.6 billion in fraudulent claims</a:t>
            </a:r>
            <a:endParaRPr lang="en-IN" sz="16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514350" indent="-514350">
              <a:buNone/>
            </a:pPr>
            <a:r>
              <a:rPr lang="en-IN" sz="1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ML as the Solution</a:t>
            </a:r>
            <a:endParaRPr lang="en-IN" sz="18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514350" indent="-514350">
              <a:buFont typeface="+mj-lt"/>
              <a:buChar char="•"/>
            </a:pPr>
            <a:r>
              <a:rPr lang="en-IN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Analyses millions of claims instantly | Detects hidden patterns automatically | Adapts to new fraud tactics over time</a:t>
            </a:r>
            <a:endParaRPr lang="en-IN" sz="16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endParaRPr lang="en-IN" sz="20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74DDB-91D5-4FE7-AEE0-0CDB0349C59B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pPr marL="0" indent="0">
              <a:buNone/>
            </a:pPr>
            <a:endParaRPr lang="en-IN" sz="1800" b="1" dirty="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marL="0" indent="0">
              <a:buNone/>
            </a:pPr>
            <a:r>
              <a:rPr lang="en-IN" sz="18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Research Gap</a:t>
            </a:r>
            <a:endParaRPr lang="en-IN" sz="18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514350" indent="-514350">
              <a:buChar char="•"/>
            </a:pPr>
            <a:r>
              <a:rPr lang="en-IN" sz="1800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Limited comparison of multiple ML algorithms in a single study</a:t>
            </a:r>
            <a:endParaRPr lang="en-IN" sz="1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514350" indent="-514350">
              <a:buChar char="•"/>
            </a:pPr>
            <a:r>
              <a:rPr lang="en-IN" sz="1800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Lack of explainability (SHAP/LIME) integration in existing fraud models</a:t>
            </a:r>
            <a:endParaRPr lang="en-IN" sz="1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514350" indent="-514350">
              <a:buChar char="•"/>
            </a:pPr>
            <a:r>
              <a:rPr lang="en-IN" sz="1800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Focus limited to developed regions; developing countries under-researched</a:t>
            </a:r>
            <a:endParaRPr lang="en-IN" sz="1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endParaRPr lang="en-IN" sz="1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B674DDB-91D5-4FE7-AEE0-0CDB0349C59B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pPr algn="just">
              <a:lnSpc>
                <a:spcPct val="150000"/>
              </a:lnSpc>
            </a:pPr>
            <a:r>
              <a:rPr lang="en-US" altLang="en-US" sz="1600" b="1"/>
              <a:t>To analyze the nature and types of healthcare fraud:</a:t>
            </a:r>
            <a:r>
              <a:rPr lang="en-US" altLang="en-US" sz="1600"/>
              <a:t> Identify common fraud practices such as false claims, upcoding, unbundling, and misuse of insurance systems.</a:t>
            </a:r>
            <a:endParaRPr lang="en-US" altLang="en-US" sz="1600"/>
          </a:p>
          <a:p>
            <a:pPr algn="just">
              <a:lnSpc>
                <a:spcPct val="150000"/>
              </a:lnSpc>
            </a:pPr>
            <a:r>
              <a:rPr lang="en-US" altLang="en-US" sz="1600" b="1"/>
              <a:t>To evaluate the effectiveness of Machine Learning techniques in fraud detection: </a:t>
            </a:r>
            <a:r>
              <a:rPr lang="en-US" altLang="en-US" sz="1600"/>
              <a:t>Examine how ML models (Logistic Regression, Decision Trees, Random Forest, SVM, etc.) perform compared to traditional rule-based methods.</a:t>
            </a:r>
            <a:endParaRPr lang="en-US" altLang="en-US" sz="1600"/>
          </a:p>
          <a:p>
            <a:pPr algn="just">
              <a:lnSpc>
                <a:spcPct val="150000"/>
              </a:lnSpc>
            </a:pPr>
            <a:r>
              <a:rPr lang="en-US" altLang="en-US" sz="1600" b="1"/>
              <a:t>To study the impact of multi-source healthcare data on fraud detection:</a:t>
            </a:r>
            <a:r>
              <a:rPr lang="en-US" altLang="en-US" sz="1600"/>
              <a:t> Investigate how combining datasets (claims, prescriptions, patient records) improves prediction performance.</a:t>
            </a:r>
            <a:endParaRPr lang="en-US" altLang="en-US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B674DDB-91D5-4FE7-AEE0-0CDB0349C59B}" type="slidenum">
              <a:rPr lang="en-IN" smtClean="0"/>
            </a:fld>
            <a:endParaRPr lang="en-IN" dirty="0"/>
          </a:p>
        </p:txBody>
      </p:sp>
      <p:sp>
        <p:nvSpPr>
          <p:cNvPr id="5" name="Text Box 4"/>
          <p:cNvSpPr txBox="1"/>
          <p:nvPr/>
        </p:nvSpPr>
        <p:spPr>
          <a:xfrm>
            <a:off x="580390" y="595630"/>
            <a:ext cx="521589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 b="1">
                <a:latin typeface="Times New Roman" panose="02020503050405090304" pitchFamily="18" charset="0"/>
                <a:cs typeface="Times New Roman" panose="02020503050405090304" pitchFamily="18" charset="0"/>
              </a:rPr>
              <a:t>Research Objectives</a:t>
            </a:r>
            <a:endParaRPr lang="en-US" sz="2000" b="1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390" y="548875"/>
            <a:ext cx="6588280" cy="385209"/>
          </a:xfrm>
        </p:spPr>
        <p:txBody>
          <a:bodyPr/>
          <a:lstStyle/>
          <a:p>
            <a:r>
              <a:rPr lang="en-IN" dirty="0"/>
              <a:t>Literature Review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28065"/>
            <a:ext cx="8229600" cy="335407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5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A review of published studies reveals consistent evidence that Machine Learning significantly outperforms traditional methods in detecting healthcare fraud.</a:t>
            </a:r>
            <a:endParaRPr lang="en-IN" sz="15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0" indent="0">
              <a:buNone/>
            </a:pPr>
            <a:endParaRPr lang="en-IN" sz="1500" dirty="0"/>
          </a:p>
          <a:p>
            <a:pPr marL="514350" indent="-514350">
              <a:buChar char="•"/>
            </a:pPr>
            <a:r>
              <a:rPr lang="en-IN" sz="15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Smith &amp; Johnson (2010): </a:t>
            </a:r>
            <a:r>
              <a:rPr lang="en-IN" sz="15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LR, DT, SVM successfully identify fraud patterns in healthcare claims</a:t>
            </a:r>
            <a:endParaRPr lang="en-IN" sz="15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514350" indent="-514350">
              <a:buChar char="•"/>
            </a:pPr>
            <a:r>
              <a:rPr lang="en-IN" sz="15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Jones &amp; Brown (2015): </a:t>
            </a:r>
            <a:r>
              <a:rPr lang="en-IN" sz="15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Anomaly detection improves discovery of unknown fraud in dynamic environments</a:t>
            </a:r>
            <a:endParaRPr lang="en-IN" sz="15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514350" indent="-514350">
              <a:buChar char="•"/>
            </a:pPr>
            <a:r>
              <a:rPr lang="en-IN" sz="15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Zhang, Li &amp; Wang (2018): </a:t>
            </a:r>
            <a:r>
              <a:rPr lang="en-IN" sz="15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CNNs outperform traditional methods in finding complex fraudulent billing patterns</a:t>
            </a:r>
            <a:endParaRPr lang="en-IN" sz="15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514350" indent="-514350">
              <a:buChar char="•"/>
            </a:pPr>
            <a:r>
              <a:rPr lang="en-IN" sz="15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Chen, Wang &amp; Liu (2020): </a:t>
            </a:r>
            <a:r>
              <a:rPr lang="en-IN" sz="15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Domain expertise + targeted feature selection leads to higher model accuracy</a:t>
            </a:r>
            <a:endParaRPr lang="en-IN" sz="15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514350" indent="-514350">
              <a:buChar char="•"/>
            </a:pPr>
            <a:r>
              <a:rPr lang="en-IN" sz="15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Arnab Das (2024): </a:t>
            </a:r>
            <a:r>
              <a:rPr lang="en-IN" sz="15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Deep learning, SVM, RF show highest predictive power for fraud detection</a:t>
            </a:r>
            <a:endParaRPr lang="en-IN" sz="15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514350" indent="-514350">
              <a:buChar char="•"/>
            </a:pPr>
            <a:r>
              <a:rPr lang="en-IN" sz="15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Tanjung &amp; Charir (2025): </a:t>
            </a:r>
            <a:r>
              <a:rPr lang="en-IN" sz="15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ML and blockchain methods are most promising for preventing insurance fraud</a:t>
            </a:r>
            <a:endParaRPr lang="en-IN" sz="15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514350" indent="-514350">
              <a:buChar char="•"/>
            </a:pPr>
            <a:r>
              <a:rPr lang="en-IN" sz="15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Massi et al. (2020): </a:t>
            </a:r>
            <a:r>
              <a:rPr lang="en-IN" sz="15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Grouping and outlier validation algorithms identify hospital fraud in heart failure cases</a:t>
            </a:r>
            <a:r>
              <a:rPr lang="en-US" altLang="en-IN" sz="15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endParaRPr lang="en-US" altLang="en-IN" sz="15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74DDB-91D5-4FE7-AEE0-0CDB0349C59B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00" y="1027512"/>
            <a:ext cx="7128990" cy="104037"/>
          </a:xfrm>
        </p:spPr>
        <p:txBody>
          <a:bodyPr/>
          <a:lstStyle/>
          <a:p>
            <a:r>
              <a:rPr lang="en-GB" dirty="0"/>
              <a:t>Research Variables &amp; Hypothesis</a:t>
            </a:r>
            <a:br>
              <a:rPr lang="en-GB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63609"/>
            <a:ext cx="8229600" cy="3031015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IN" sz="17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Key Research Hypotheses</a:t>
            </a:r>
            <a:endParaRPr lang="en-IN" sz="17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514350" indent="-514350">
              <a:lnSpc>
                <a:spcPct val="150000"/>
              </a:lnSpc>
              <a:buChar char="•"/>
            </a:pPr>
            <a:r>
              <a:rPr lang="en-IN" sz="15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H1: </a:t>
            </a:r>
            <a:r>
              <a:rPr lang="en-IN" sz="15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ML algorithms provide significantly higher fraud detection accuracy than traditional rule-based systems</a:t>
            </a:r>
            <a:endParaRPr lang="en-IN" sz="15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514350" indent="-514350">
              <a:lnSpc>
                <a:spcPct val="150000"/>
              </a:lnSpc>
              <a:buChar char="•"/>
            </a:pPr>
            <a:r>
              <a:rPr lang="en-IN" sz="15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H2: </a:t>
            </a:r>
            <a:r>
              <a:rPr lang="en-IN" sz="15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Ensemble methods (Random Forest, Gradient Boosting) outperform single classifiers in accuracy</a:t>
            </a:r>
            <a:endParaRPr lang="en-IN" sz="15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514350" indent="-514350">
              <a:lnSpc>
                <a:spcPct val="150000"/>
              </a:lnSpc>
              <a:buChar char="•"/>
            </a:pPr>
            <a:r>
              <a:rPr lang="en-IN" sz="15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H3: </a:t>
            </a:r>
            <a:r>
              <a:rPr lang="en-IN" sz="15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Semi-supervised learning improves performance when labeled fraud examples are scarce</a:t>
            </a:r>
            <a:endParaRPr lang="en-IN" sz="15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514350" indent="-514350">
              <a:lnSpc>
                <a:spcPct val="150000"/>
              </a:lnSpc>
              <a:buChar char="•"/>
            </a:pPr>
            <a:r>
              <a:rPr lang="en-IN" sz="15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H4: </a:t>
            </a:r>
            <a:r>
              <a:rPr lang="en-IN" sz="15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Multi-source data (claims + prescriptions + physician profiles) improves predictive power</a:t>
            </a:r>
            <a:endParaRPr lang="en-IN" sz="15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74DDB-91D5-4FE7-AEE0-0CDB0349C59B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390" y="536020"/>
            <a:ext cx="6444260" cy="385209"/>
          </a:xfrm>
        </p:spPr>
        <p:txBody>
          <a:bodyPr/>
          <a:lstStyle/>
          <a:p>
            <a:r>
              <a:rPr lang="en-GB" dirty="0"/>
              <a:t>Research Methodology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605" y="921385"/>
            <a:ext cx="8229600" cy="4222115"/>
          </a:xfrm>
        </p:spPr>
        <p:txBody>
          <a:bodyPr>
            <a:noAutofit/>
          </a:bodyPr>
          <a:lstStyle/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IN" sz="1600" b="1" i="0" u="none" strike="noStrike" kern="1200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Research Approach</a:t>
            </a:r>
            <a:endParaRPr lang="en-IN" sz="1600" b="1" i="0" u="none" strike="noStrike" dirty="0">
              <a:effectLst/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57200" indent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IN" sz="1600" b="0" i="0" u="none" strike="noStrike" kern="1200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Secondary / Review-based Research</a:t>
            </a:r>
            <a:endParaRPr lang="en-IN" sz="1600" b="0" i="0" u="none" strike="noStrike" kern="1200" dirty="0">
              <a:solidFill>
                <a:srgbClr val="000000"/>
              </a:solidFill>
              <a:effectLst/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IN" sz="1600" b="1" i="0" u="none" strike="noStrike" kern="1200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Research Design</a:t>
            </a:r>
            <a:endParaRPr lang="en-IN" sz="1600" b="1" i="0" u="none" strike="noStrike" kern="1200" dirty="0">
              <a:solidFill>
                <a:srgbClr val="000000"/>
              </a:solidFill>
              <a:effectLst/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57200" indent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IN" sz="1600" b="0" i="0" u="none" strike="noStrike" kern="1200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Descriptive &amp; Analytical; Systematic Literature Review</a:t>
            </a:r>
            <a:endParaRPr lang="en-IN" sz="1600" b="0" i="0" u="none" strike="noStrike" kern="1200" dirty="0">
              <a:solidFill>
                <a:srgbClr val="000000"/>
              </a:solidFill>
              <a:effectLst/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IN" sz="1600" b="1" i="0" u="none" strike="noStrike" kern="1200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Research Instrument</a:t>
            </a:r>
            <a:endParaRPr lang="en-IN" sz="1600" b="1" i="0" u="none" strike="noStrike" kern="1200" dirty="0">
              <a:solidFill>
                <a:srgbClr val="000000"/>
              </a:solidFill>
              <a:effectLst/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57200" indent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IN" sz="1600" b="0" i="0" u="none" strike="noStrike" kern="1200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17-Question Awareness Survey on Healthcare Fraud &amp; ML Detection</a:t>
            </a:r>
            <a:endParaRPr lang="en-IN" sz="1600" b="0" i="0" u="none" strike="noStrike" kern="1200" dirty="0">
              <a:solidFill>
                <a:srgbClr val="000000"/>
              </a:solidFill>
              <a:effectLst/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0" fontAlgn="t">
              <a:spcBef>
                <a:spcPts val="0"/>
              </a:spcBef>
            </a:pPr>
            <a:r>
              <a:rPr lang="en-IN" sz="1600" b="1" i="0" u="none" strike="noStrike" kern="1200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Sampling Technique</a:t>
            </a:r>
            <a:endParaRPr lang="en-IN" sz="1600" b="1" i="0" u="none" strike="noStrike" dirty="0">
              <a:effectLst/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57200" indent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IN" sz="1600" b="0" i="0" u="none" strike="noStrike" kern="1200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Purposive / Judgement Sampling</a:t>
            </a:r>
            <a:endParaRPr lang="en-IN" sz="1600" b="0" i="0" u="none" strike="noStrike" kern="1200" dirty="0">
              <a:solidFill>
                <a:srgbClr val="000000"/>
              </a:solidFill>
              <a:effectLst/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IN" sz="16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Sample size</a:t>
            </a:r>
            <a:endParaRPr lang="en-IN" sz="1600" b="1" i="0" u="none" strike="noStrike" dirty="0">
              <a:effectLst/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57200" indent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IN" sz="1600" b="0" i="0" u="none" strike="noStrike" kern="1200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Secondary datasets: Medicare &amp; Medicaid claims; Survey: General public &amp; healthcare professionals</a:t>
            </a:r>
            <a:endParaRPr lang="en-IN" sz="1600" b="0" i="0" u="none" strike="noStrike" kern="1200" dirty="0">
              <a:solidFill>
                <a:srgbClr val="000000"/>
              </a:solidFill>
              <a:effectLst/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IN" sz="1600" b="1" i="0" u="none" strike="noStrike" kern="1200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Research Data collection Method</a:t>
            </a:r>
            <a:endParaRPr lang="en-IN" sz="1600" b="1" i="0" u="none" strike="noStrike" dirty="0">
              <a:effectLst/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57200" indent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IN" sz="1600" b="0" i="0" u="none" strike="noStrike" kern="1200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Secondary Data: Academic journals (JAMA, Health Affairs), WHO/UN/World Bank reports, Google Scholar, PubMed, Scopus</a:t>
            </a:r>
            <a:endParaRPr lang="en-IN" sz="1600" b="0" i="0" u="none" strike="noStrike" kern="1200" dirty="0">
              <a:solidFill>
                <a:srgbClr val="000000"/>
              </a:solidFill>
              <a:effectLst/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0" marR="0" indent="0" algn="l" rtl="0" eaLnBrk="1" fontAlgn="auto" latinLnBrk="0" hangingPunct="1">
              <a:spcBef>
                <a:spcPts val="0"/>
              </a:spcBef>
              <a:spcAft>
                <a:spcPts val="0"/>
              </a:spcAft>
            </a:pPr>
            <a:r>
              <a:rPr lang="en-IN" sz="1600" b="0" i="0" u="none" strike="noStrike" kern="1200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    </a:t>
            </a:r>
            <a:r>
              <a:rPr lang="en-IN" sz="1600" b="1" i="0" u="none" strike="noStrike" kern="1200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Data Analysis tools &amp; Techniques</a:t>
            </a:r>
            <a:endParaRPr lang="en-IN" sz="1600" b="0" i="0" u="none" strike="noStrike" dirty="0">
              <a:effectLst/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57200" indent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IN" sz="1600" b="0" i="0" u="none" strike="noStrike" kern="1200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Thematic Analysis | Comparative Study of ML Models (LR, DT, RF, SVM, XGBoost, CNN, DNN) | SMOTE for class imbalance | Evaluation: Accuracy, Precision, Recall, F1, AUC-ROC</a:t>
            </a:r>
            <a:endParaRPr lang="en-IN" sz="1600" b="0" i="0" u="none" strike="noStrike" kern="1200" dirty="0">
              <a:solidFill>
                <a:srgbClr val="000000"/>
              </a:solidFill>
              <a:effectLst/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endParaRPr lang="en-IN" sz="1600" b="0" i="0" u="none" strike="noStrike" kern="1200" dirty="0">
              <a:solidFill>
                <a:srgbClr val="000000"/>
              </a:solidFill>
              <a:effectLst/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74DDB-91D5-4FE7-AEE0-0CDB0349C59B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80" y="561508"/>
            <a:ext cx="6588280" cy="385209"/>
          </a:xfrm>
        </p:spPr>
        <p:txBody>
          <a:bodyPr/>
          <a:lstStyle/>
          <a:p>
            <a:r>
              <a:rPr lang="en-GB" dirty="0"/>
              <a:t>Results &amp; Findings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Key Findings from ML-Based Healthcare Fraud Detection Research</a:t>
            </a:r>
            <a:endParaRPr lang="en-IN" sz="18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57200" indent="-457200">
              <a:buChar char="•"/>
            </a:pPr>
            <a:r>
              <a:rPr lang="en-IN" sz="1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ML Outperforms Traditional Methods: </a:t>
            </a:r>
            <a:r>
              <a:rPr lang="en-IN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Ensemble methods (XGBoost, Stacking) consistently deliver highest accuracy and lowest false-positive rates across fraud detection tasks</a:t>
            </a:r>
            <a:endParaRPr lang="en-IN" sz="16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57200" indent="-457200">
              <a:buChar char="•"/>
            </a:pPr>
            <a:r>
              <a:rPr lang="en-IN" sz="1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Ensemble Methods Most Effective: </a:t>
            </a:r>
            <a:r>
              <a:rPr lang="en-IN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Combining Random Forest, Gradient Boosting, and Stacking reduces bias and variance, yielding more robust and generalizable fraud detection</a:t>
            </a:r>
            <a:endParaRPr lang="en-IN" sz="16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57200" indent="-457200">
              <a:buChar char="•"/>
            </a:pPr>
            <a:r>
              <a:rPr lang="en-IN" sz="1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Data Quality is Critical: </a:t>
            </a:r>
            <a:r>
              <a:rPr lang="en-IN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Quality, completeness, and structure of healthcare datasets directly determines model performance; clean multi-source data leads to better outcomes</a:t>
            </a:r>
            <a:endParaRPr lang="en-IN" sz="16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57200" indent="-457200">
              <a:buChar char="•"/>
            </a:pPr>
            <a:r>
              <a:rPr lang="en-IN" sz="1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Class Imbalance Remains a Challenge: </a:t>
            </a:r>
            <a:r>
              <a:rPr lang="en-IN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Fraud cases are rare relative to legitimate claims; SMOTE and resampling techniques improve recall but cannot fully replicate real-world fraud complexity</a:t>
            </a:r>
            <a:endParaRPr lang="en-IN" sz="16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57200" indent="-457200">
              <a:buChar char="•"/>
            </a:pPr>
            <a:r>
              <a:rPr lang="en-IN" sz="1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Explainability Is Needed for Trust: </a:t>
            </a:r>
            <a:r>
              <a:rPr lang="en-IN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SHAP and LIME techniques make ML fraud models interpretable, supporting regulatory compliance and adoption in real healthcare workflows</a:t>
            </a:r>
            <a:endParaRPr lang="en-IN" sz="16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57200" indent="-457200">
              <a:buChar char="•"/>
            </a:pPr>
            <a:r>
              <a:rPr lang="en-IN" sz="1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Real-Time Detection Is the Future: </a:t>
            </a:r>
            <a:r>
              <a:rPr lang="en-IN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Static batch-trained models become outdated as fraud tactics evolve; real-time pipelines with continuous model retraining are essential</a:t>
            </a:r>
            <a:endParaRPr lang="en-IN" sz="16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endParaRPr lang="en-IN" sz="20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74DDB-91D5-4FE7-AEE0-0CDB0349C59B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516491"/>
            <a:ext cx="6588280" cy="385209"/>
          </a:xfrm>
        </p:spPr>
        <p:txBody>
          <a:bodyPr/>
          <a:lstStyle/>
          <a:p>
            <a:r>
              <a:rPr lang="en-IN" dirty="0"/>
              <a:t> Conclusion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IN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Machine learning has the power to transform healthcare fraud detection — making systems faster, more accurate, scalable, and reliable. Combining ML with real-time analytics and adaptive learning can significantly reduce fraud, save billions in healthcare costs, and enhance trust across the entire healthcare system.</a:t>
            </a:r>
            <a:endParaRPr lang="en-IN" sz="16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0" indent="0">
              <a:buNone/>
            </a:pPr>
            <a:r>
              <a:rPr lang="en-IN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Continued innovation, improved data governance, and collaboration between healthcare, government, and technology sectors are essential for building a fraud-resistant healthcare future.</a:t>
            </a:r>
            <a:endParaRPr lang="en-IN" sz="16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0" indent="0">
              <a:buNone/>
            </a:pPr>
            <a:r>
              <a:rPr lang="en-IN" sz="16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Future Research Directions:</a:t>
            </a:r>
            <a:endParaRPr lang="en-IN" sz="16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514350" indent="-514350">
              <a:buChar char="•"/>
            </a:pPr>
            <a:r>
              <a:rPr lang="en-IN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Use entire healthcare datasets with cloud-based ML for improved model robustness</a:t>
            </a:r>
            <a:endParaRPr lang="en-IN" sz="16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514350" indent="-514350">
              <a:buChar char="•"/>
            </a:pPr>
            <a:r>
              <a:rPr lang="en-IN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Adopt federated learning and differential privacy for cross-institutional data sharing</a:t>
            </a:r>
            <a:endParaRPr lang="en-IN" sz="16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514350" indent="-514350">
              <a:buChar char="•"/>
            </a:pPr>
            <a:r>
              <a:rPr lang="en-IN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Implement SHAP, LIME, and counterfactual explanations to build trust with auditors and regulators</a:t>
            </a:r>
            <a:endParaRPr lang="en-IN" sz="16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514350" indent="-514350">
              <a:buChar char="•"/>
            </a:pPr>
            <a:r>
              <a:rPr lang="en-IN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Develop real-time online learning systems with incremental model updating for anomaly detection</a:t>
            </a:r>
            <a:endParaRPr lang="en-IN" sz="16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endParaRPr lang="en-IN" sz="16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74DDB-91D5-4FE7-AEE0-0CDB0349C59B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80" y="599915"/>
            <a:ext cx="6588280" cy="385209"/>
          </a:xfrm>
        </p:spPr>
        <p:txBody>
          <a:bodyPr/>
          <a:lstStyle/>
          <a:p>
            <a:r>
              <a:rPr lang="en-IN" dirty="0"/>
              <a:t>Research Implications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Char char="•"/>
            </a:pPr>
            <a:r>
              <a:rPr lang="en-IN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ML — especially ensemble methods — can significantly reduce fraud-related financial losses for insurers and hospitals</a:t>
            </a:r>
            <a:r>
              <a:rPr lang="en-US" altLang="en-IN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endParaRPr lang="en-IN" sz="16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514350" indent="-514350">
              <a:buChar char="•"/>
            </a:pPr>
            <a:r>
              <a:rPr lang="en-IN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High-precision models allow insurers to focus auditing efforts on genuinely suspicious cases</a:t>
            </a:r>
            <a:r>
              <a:rPr lang="en-US" altLang="en-IN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endParaRPr lang="en-IN" sz="16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514350" indent="-514350">
              <a:buChar char="•"/>
            </a:pPr>
            <a:r>
              <a:rPr lang="en-IN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Real-time fraud detection intercepts fraudulent claims before payments are processed</a:t>
            </a:r>
            <a:r>
              <a:rPr lang="en-US" altLang="en-IN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endParaRPr lang="en-IN" sz="16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514350" indent="-514350">
              <a:buChar char="•"/>
            </a:pPr>
            <a:r>
              <a:rPr lang="en-IN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Findings support the need for standardised, clean, interoperable healthcare datasets</a:t>
            </a:r>
            <a:r>
              <a:rPr lang="en-US" altLang="en-IN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endParaRPr lang="en-US" altLang="en-IN" sz="16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514350" indent="-514350">
              <a:buChar char="•"/>
            </a:pPr>
            <a:r>
              <a:rPr lang="en-IN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Explainable AI strengthens trust and enables regulatory compliance in automated decisions</a:t>
            </a:r>
            <a:r>
              <a:rPr lang="en-US" altLang="en-IN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endParaRPr lang="en-US" altLang="en-IN" sz="16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74DDB-91D5-4FE7-AEE0-0CDB0349C59B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60" y="615155"/>
            <a:ext cx="6588280" cy="385209"/>
          </a:xfrm>
        </p:spPr>
        <p:txBody>
          <a:bodyPr/>
          <a:lstStyle/>
          <a:p>
            <a:r>
              <a:rPr lang="en-GB" dirty="0"/>
              <a:t>Limitations &amp; Future Research directions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17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Limitations</a:t>
            </a:r>
            <a:endParaRPr lang="en-IN" sz="17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514350" indent="-514350">
              <a:buChar char="•"/>
            </a:pPr>
            <a:r>
              <a:rPr lang="en-IN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Limited GPU and computational resources — sampled datasets used instead of full-scale data</a:t>
            </a:r>
            <a:endParaRPr lang="en-IN" sz="16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514350" indent="-514350">
              <a:buChar char="•"/>
            </a:pPr>
            <a:r>
              <a:rPr lang="en-IN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Dataset limited to specific regions, reducing generalizability across countries</a:t>
            </a:r>
            <a:endParaRPr lang="en-IN" sz="16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514350" indent="-514350">
              <a:buChar char="•"/>
            </a:pPr>
            <a:r>
              <a:rPr lang="en-IN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Class imbalance: SMOTE cannot fully replicate real-world fraud patterns</a:t>
            </a:r>
            <a:endParaRPr lang="en-IN" sz="16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514350" indent="-514350">
              <a:buChar char="•"/>
            </a:pPr>
            <a:r>
              <a:rPr lang="en-IN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Unstructured data (doctor notes, medical images) not included in the analysis</a:t>
            </a:r>
            <a:endParaRPr lang="en-IN" sz="16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0" indent="0">
              <a:buNone/>
            </a:pPr>
            <a:r>
              <a:rPr lang="en-IN" sz="17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Future Research Directions</a:t>
            </a:r>
            <a:endParaRPr lang="en-IN" sz="17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514350" indent="-514350">
              <a:buChar char="•"/>
            </a:pPr>
            <a:r>
              <a:rPr lang="en-IN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Use full-scale datasets with cloud-based ML for improved robustness</a:t>
            </a:r>
            <a:endParaRPr lang="en-IN" sz="16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514350" indent="-514350">
              <a:buChar char="•"/>
            </a:pPr>
            <a:r>
              <a:rPr lang="en-IN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Explore GNNs, deep learning + rule-based hybrids, and semi-supervised models for complex fraud patterns</a:t>
            </a:r>
            <a:endParaRPr lang="en-IN" sz="16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514350" indent="-514350">
              <a:buChar char="•"/>
            </a:pPr>
            <a:r>
              <a:rPr lang="en-IN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Analyse fraud datasets from multiple countries to improve global applicability</a:t>
            </a:r>
            <a:endParaRPr lang="en-IN" sz="16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74DDB-91D5-4FE7-AEE0-0CDB0349C59B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20040" y="795528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C3B78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8595360" y="4956048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1450" indent="-171450" algn="just">
              <a:buFont typeface="Arial" panose="020B0604020202090204" pitchFamily="34" charset="0"/>
              <a:buChar char="•"/>
            </a:pPr>
            <a:r>
              <a:rPr lang="en-US" sz="1200" dirty="0">
                <a:solidFill>
                  <a:srgbClr val="555555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00" dirty="0">
              <a:solidFill>
                <a:srgbClr val="555555"/>
              </a:solidFill>
              <a:latin typeface="Calibri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7" name="Text 4"/>
          <p:cNvSpPr/>
          <p:nvPr/>
        </p:nvSpPr>
        <p:spPr>
          <a:xfrm>
            <a:off x="685800" y="1252728"/>
            <a:ext cx="813816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1450" indent="-171450" algn="just">
              <a:buFont typeface="Arial" panose="020B0604020202090204" pitchFamily="34" charset="0"/>
              <a:buChar char="•"/>
            </a:pPr>
            <a:r>
              <a:rPr lang="en-US" sz="1200" dirty="0">
                <a:solidFill>
                  <a:srgbClr val="1A1A1A"/>
                </a:solidFill>
                <a:latin typeface="Times New Roman" panose="02020503050405090304" pitchFamily="18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Abdallah, A., Maarof, M. A., &amp; Zainal, A. (2016). Fraud detection system: A survey. Journal of Network and Computer Applications, 68, 90–113.</a:t>
            </a:r>
            <a:endParaRPr lang="en-US" sz="1200" dirty="0">
              <a:solidFill>
                <a:srgbClr val="1A1A1A"/>
              </a:solidFill>
              <a:latin typeface="Times New Roman" panose="02020503050405090304" pitchFamily="18" charset="0"/>
              <a:ea typeface="Times New Roman" panose="02020503050405090304" pitchFamily="34" charset="-122"/>
              <a:cs typeface="Times New Roman" panose="02020503050405090304" pitchFamily="34" charset="-12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685800" y="1609344"/>
            <a:ext cx="813816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1450" indent="-171450" algn="just">
              <a:buFont typeface="Arial" panose="020B0604020202090204" pitchFamily="34" charset="0"/>
              <a:buChar char="•"/>
            </a:pPr>
            <a:r>
              <a:rPr lang="en-US" sz="1200" dirty="0">
                <a:solidFill>
                  <a:srgbClr val="555555"/>
                </a:solidFill>
                <a:latin typeface="Times New Roman" panose="02020503050405090304" pitchFamily="18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Behdad, M., et al. (2012). Nature-inspired techniques in the context of fraud detection. IEEE Transactions on Systems, Man, and Cybernetics, 42(6), 1273–1290.</a:t>
            </a:r>
            <a:endParaRPr lang="en-US" sz="1200" dirty="0">
              <a:solidFill>
                <a:srgbClr val="555555"/>
              </a:solidFill>
              <a:latin typeface="Times New Roman" panose="02020503050405090304" pitchFamily="18" charset="0"/>
              <a:ea typeface="Times New Roman" panose="02020503050405090304" pitchFamily="34" charset="-122"/>
              <a:cs typeface="Times New Roman" panose="02020503050405090304" pitchFamily="34" charset="-12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685800" y="1965960"/>
            <a:ext cx="813816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1450" indent="-171450" algn="just">
              <a:buFont typeface="Arial" panose="020B0604020202090204" pitchFamily="34" charset="0"/>
              <a:buChar char="•"/>
            </a:pPr>
            <a:r>
              <a:rPr lang="en-US" sz="1200" dirty="0">
                <a:solidFill>
                  <a:srgbClr val="1A1A1A"/>
                </a:solidFill>
                <a:latin typeface="Times New Roman" panose="02020503050405090304" pitchFamily="18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Konasani, V., Biswas, M., &amp; Koleth, P. K. (2012). Healthcare fraud management using big data analytics. Trendwise Analytics, Bangalore.</a:t>
            </a:r>
            <a:endParaRPr lang="en-US" sz="1200" dirty="0">
              <a:solidFill>
                <a:srgbClr val="1A1A1A"/>
              </a:solidFill>
              <a:latin typeface="Times New Roman" panose="02020503050405090304" pitchFamily="18" charset="0"/>
              <a:ea typeface="Times New Roman" panose="02020503050405090304" pitchFamily="34" charset="-122"/>
              <a:cs typeface="Times New Roman" panose="02020503050405090304" pitchFamily="34" charset="-12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685800" y="2322576"/>
            <a:ext cx="813816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1450" indent="-171450" algn="just">
              <a:buFont typeface="Arial" panose="020B0604020202090204" pitchFamily="34" charset="0"/>
              <a:buChar char="•"/>
            </a:pPr>
            <a:r>
              <a:rPr lang="en-US" sz="1200" dirty="0">
                <a:solidFill>
                  <a:srgbClr val="555555"/>
                </a:solidFill>
                <a:latin typeface="Times New Roman" panose="02020503050405090304" pitchFamily="18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Liu, Q., &amp; Vasarhelyi, M. (2013). Healthcare fraud detection: A clustering model incorporating Geo-location information. 29WCARS, Brisbane.</a:t>
            </a:r>
            <a:endParaRPr lang="en-US" sz="1200" dirty="0">
              <a:solidFill>
                <a:srgbClr val="555555"/>
              </a:solidFill>
              <a:latin typeface="Times New Roman" panose="02020503050405090304" pitchFamily="18" charset="0"/>
              <a:ea typeface="Times New Roman" panose="02020503050405090304" pitchFamily="34" charset="-122"/>
              <a:cs typeface="Times New Roman" panose="02020503050405090304" pitchFamily="34" charset="-12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320040" y="2660904"/>
            <a:ext cx="29260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1450" indent="-171450" algn="just">
              <a:buFont typeface="Arial" panose="020B0604020202090204" pitchFamily="34" charset="0"/>
              <a:buChar char="•"/>
            </a:pPr>
            <a:r>
              <a:rPr lang="en-US" sz="1200" b="1" dirty="0">
                <a:solidFill>
                  <a:srgbClr val="FFFFFF"/>
                </a:solidFill>
                <a:latin typeface="Times New Roman" panose="02020503050405090304" pitchFamily="18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5</a:t>
            </a:r>
            <a:endParaRPr lang="en-US" sz="1200" b="1" dirty="0">
              <a:solidFill>
                <a:srgbClr val="FFFFFF"/>
              </a:solidFill>
              <a:latin typeface="Times New Roman" panose="02020503050405090304" pitchFamily="18" charset="0"/>
              <a:ea typeface="Times New Roman" panose="02020503050405090304" pitchFamily="34" charset="-122"/>
              <a:cs typeface="Times New Roman" panose="02020503050405090304" pitchFamily="34" charset="-12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685800" y="2679192"/>
            <a:ext cx="813816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1450" indent="-171450" algn="just">
              <a:buFont typeface="Arial" panose="020B0604020202090204" pitchFamily="34" charset="0"/>
              <a:buChar char="•"/>
            </a:pPr>
            <a:r>
              <a:rPr lang="en-US" sz="1200" dirty="0">
                <a:solidFill>
                  <a:srgbClr val="1A1A1A"/>
                </a:solidFill>
                <a:latin typeface="Times New Roman" panose="02020503050405090304" pitchFamily="18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Thornton, D., et al. (2013). Predicting healthcare fraud in Medicaid. Procedia Technology, 9, 1252–1264.</a:t>
            </a:r>
            <a:endParaRPr lang="en-US" sz="1200" dirty="0">
              <a:solidFill>
                <a:srgbClr val="1A1A1A"/>
              </a:solidFill>
              <a:latin typeface="Times New Roman" panose="02020503050405090304" pitchFamily="18" charset="0"/>
              <a:ea typeface="Times New Roman" panose="02020503050405090304" pitchFamily="34" charset="-122"/>
              <a:cs typeface="Times New Roman" panose="02020503050405090304" pitchFamily="34" charset="-12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685800" y="3035808"/>
            <a:ext cx="813816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1450" indent="-171450" algn="just">
              <a:buFont typeface="Arial" panose="020B0604020202090204" pitchFamily="34" charset="0"/>
              <a:buChar char="•"/>
            </a:pPr>
            <a:r>
              <a:rPr lang="en-US" sz="1200" dirty="0">
                <a:solidFill>
                  <a:srgbClr val="555555"/>
                </a:solidFill>
                <a:latin typeface="Times New Roman" panose="02020503050405090304" pitchFamily="18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Joudaki, H., et al. (2015). Using data mining to detect health care fraud and abuse: A review. Global Journal of Health Science, 7(1), 194.</a:t>
            </a:r>
            <a:endParaRPr lang="en-US" sz="1200" dirty="0">
              <a:solidFill>
                <a:srgbClr val="555555"/>
              </a:solidFill>
              <a:latin typeface="Times New Roman" panose="02020503050405090304" pitchFamily="18" charset="0"/>
              <a:ea typeface="Times New Roman" panose="02020503050405090304" pitchFamily="34" charset="-122"/>
              <a:cs typeface="Times New Roman" panose="02020503050405090304" pitchFamily="34" charset="-12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685800" y="3392424"/>
            <a:ext cx="813816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1450" indent="-171450" algn="just">
              <a:buFont typeface="Arial" panose="020B0604020202090204" pitchFamily="34" charset="0"/>
              <a:buChar char="•"/>
            </a:pPr>
            <a:r>
              <a:rPr lang="en-US" sz="1200" dirty="0">
                <a:solidFill>
                  <a:srgbClr val="1A1A1A"/>
                </a:solidFill>
                <a:latin typeface="Times New Roman" panose="02020503050405090304" pitchFamily="18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Bauder, R. A., &amp; Khoshgoftaar, T. M. (2016). A probabilistic programming approach for outlier detection in healthcare claims. ICMLA 2016, 347–354.</a:t>
            </a:r>
            <a:endParaRPr lang="en-US" sz="1200" dirty="0">
              <a:solidFill>
                <a:srgbClr val="1A1A1A"/>
              </a:solidFill>
              <a:latin typeface="Times New Roman" panose="02020503050405090304" pitchFamily="18" charset="0"/>
              <a:ea typeface="Times New Roman" panose="02020503050405090304" pitchFamily="34" charset="-122"/>
              <a:cs typeface="Times New Roman" panose="02020503050405090304" pitchFamily="34" charset="-12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685800" y="3749040"/>
            <a:ext cx="813816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1450" indent="-171450" algn="just">
              <a:buFont typeface="Arial" panose="020B0604020202090204" pitchFamily="34" charset="0"/>
              <a:buChar char="•"/>
            </a:pPr>
            <a:r>
              <a:rPr lang="en-US" sz="1200" dirty="0">
                <a:solidFill>
                  <a:srgbClr val="555555"/>
                </a:solidFill>
                <a:latin typeface="Times New Roman" panose="02020503050405090304" pitchFamily="18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Branting, L. K., et al. (2016). Graph analytics for healthcare fraud risk estimation. ASONAM 2016, 845–851.</a:t>
            </a:r>
            <a:endParaRPr lang="en-US" sz="1200" dirty="0">
              <a:solidFill>
                <a:srgbClr val="555555"/>
              </a:solidFill>
              <a:latin typeface="Times New Roman" panose="02020503050405090304" pitchFamily="18" charset="0"/>
              <a:ea typeface="Times New Roman" panose="02020503050405090304" pitchFamily="34" charset="-122"/>
              <a:cs typeface="Times New Roman" panose="02020503050405090304" pitchFamily="34" charset="-120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685800" y="4105656"/>
            <a:ext cx="813816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1450" indent="-171450" algn="just">
              <a:buFont typeface="Arial" panose="020B0604020202090204" pitchFamily="34" charset="0"/>
              <a:buChar char="•"/>
            </a:pPr>
            <a:r>
              <a:rPr lang="en-US" sz="1200" dirty="0">
                <a:solidFill>
                  <a:srgbClr val="1A1A1A"/>
                </a:solidFill>
                <a:latin typeface="Times New Roman" panose="02020503050405090304" pitchFamily="18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Srinivasan, U., &amp; Arunasalam, B. (2013). Leveraging big data analytics to reduce healthcare costs. IT Professional, 15(6), 21–28.</a:t>
            </a:r>
            <a:endParaRPr lang="en-US" sz="1200" dirty="0">
              <a:solidFill>
                <a:srgbClr val="1A1A1A"/>
              </a:solidFill>
              <a:latin typeface="Times New Roman" panose="02020503050405090304" pitchFamily="18" charset="0"/>
              <a:ea typeface="Times New Roman" panose="02020503050405090304" pitchFamily="34" charset="-122"/>
              <a:cs typeface="Times New Roman" panose="02020503050405090304" pitchFamily="34" charset="-120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685800" y="4462272"/>
            <a:ext cx="813816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1450" indent="-171450" algn="just">
              <a:buFont typeface="Arial" panose="020B0604020202090204" pitchFamily="34" charset="0"/>
              <a:buChar char="•"/>
            </a:pPr>
            <a:r>
              <a:rPr lang="en-US" sz="1200" dirty="0">
                <a:solidFill>
                  <a:srgbClr val="555555"/>
                </a:solidFill>
                <a:latin typeface="Times New Roman" panose="02020503050405090304" pitchFamily="18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Li, J., et al. (2008). A survey on statistical methods for health care fraud detection. Health Care Management Science, 11(3), 275–287.</a:t>
            </a:r>
            <a:endParaRPr lang="en-US" sz="1200" dirty="0">
              <a:solidFill>
                <a:srgbClr val="555555"/>
              </a:solidFill>
              <a:latin typeface="Times New Roman" panose="02020503050405090304" pitchFamily="18" charset="0"/>
              <a:ea typeface="Times New Roman" panose="02020503050405090304" pitchFamily="34" charset="-122"/>
              <a:cs typeface="Times New Roman" panose="02020503050405090304" pitchFamily="34" charset="-12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buNone/>
            </a:pPr>
            <a:r>
              <a:rPr lang="en-IN" sz="11500" b="1" dirty="0">
                <a:solidFill>
                  <a:schemeClr val="tx2">
                    <a:lumMod val="75000"/>
                  </a:schemeClr>
                </a:solidFill>
              </a:rPr>
              <a:t>Thank You</a:t>
            </a:r>
            <a:endParaRPr lang="en-IN" sz="11500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74DDB-91D5-4FE7-AEE0-0CDB0349C59B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9473</Words>
  <Application>WPS Presentation</Application>
  <PresentationFormat>On-screen Show (16:9)</PresentationFormat>
  <Paragraphs>207</Paragraphs>
  <Slides>15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31" baseType="lpstr">
      <vt:lpstr>Arial</vt:lpstr>
      <vt:lpstr>SimSun</vt:lpstr>
      <vt:lpstr>Wingdings</vt:lpstr>
      <vt:lpstr>Calibri</vt:lpstr>
      <vt:lpstr>Helvetica Neue</vt:lpstr>
      <vt:lpstr>Calibri</vt:lpstr>
      <vt:lpstr>Calibri</vt:lpstr>
      <vt:lpstr>Times New Roman</vt:lpstr>
      <vt:lpstr>Times New Roman</vt:lpstr>
      <vt:lpstr>Times New Roman</vt:lpstr>
      <vt:lpstr>Microsoft YaHei</vt:lpstr>
      <vt:lpstr>汉仪旗黑</vt:lpstr>
      <vt:lpstr>Arial Unicode MS</vt:lpstr>
      <vt:lpstr>汉仪书宋二KW</vt:lpstr>
      <vt:lpstr>Office Theme</vt:lpstr>
      <vt:lpstr>Paint.Picture</vt:lpstr>
      <vt:lpstr>PowerPoint 演示文稿</vt:lpstr>
      <vt:lpstr>Outline of the presentation</vt:lpstr>
      <vt:lpstr>Abstract</vt:lpstr>
      <vt:lpstr>Introduction</vt:lpstr>
      <vt:lpstr>PowerPoint 演示文稿</vt:lpstr>
      <vt:lpstr>PowerPoint 演示文稿</vt:lpstr>
      <vt:lpstr>Literature Review</vt:lpstr>
      <vt:lpstr>Research Variables &amp; Hypothesis </vt:lpstr>
      <vt:lpstr>Research Methodology</vt:lpstr>
      <vt:lpstr>Results &amp; Findings</vt:lpstr>
      <vt:lpstr> Conclusion</vt:lpstr>
      <vt:lpstr>Research Implications</vt:lpstr>
      <vt:lpstr>Limitations &amp; Future Research directions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Kuldeep Sarkar</cp:lastModifiedBy>
  <cp:revision>4203</cp:revision>
  <cp:lastPrinted>2026-03-22T20:23:26Z</cp:lastPrinted>
  <dcterms:created xsi:type="dcterms:W3CDTF">2026-03-22T20:23:26Z</dcterms:created>
  <dcterms:modified xsi:type="dcterms:W3CDTF">2026-03-22T20:23:26Z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D1FF1361BDE006A0D546C0697273E98F_43</vt:lpwstr>
  </property>
  <property fmtid="{D5CDD505-2E9C-101B-9397-08002B2CF9AE}" pid="3" name="KSOProductBuildVer">
    <vt:lpwstr>1033-12.1.23155.23155</vt:lpwstr>
  </property>
</Properties>
</file>